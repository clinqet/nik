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06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330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Uber Eats line: they solved this for restaurants — nobody has solved it for the other 95% of local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three numbers, then the Angi quote — the strongest proof the market is still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BMC Health Services Research; Capital One Shopping / TSB; Clutch; Angi 10-K; FTC April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provider can adopt one pillar or all three — each one feeds the same data and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flow: search 'keratin' → provider profile → book → pay. Under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providers compete on merit — ratings and price — not on who paid most for a stranger's phone number. Premium tiers see leads earlier; nobody is starved.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28% of US small businesses have no website (Clutch). We hand them one, free, with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 is minutes: upload a flyer or menu and the AI builds the business profile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right: rings owner → AI answers → does real work → owner reviews the follow-up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Analytics is both a product feature (Premium tiers) and the moat for the future ad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total spend vs platform revenue are different layers — we cite both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limit is an upgrade moment; every upgrade is self-serve — the ChatGPT-subscription mechanic. Billing approved by Apple &amp; Google WITHOUT the usual store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 model: we know provider categories and behaviour — wholesale advertisers can't get this targeting anywhere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attract-anyone slide: embedded finance built on verified platform data. None of the marketplaces or lead-sellers can copy it without becoming us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triangle: marketplace + free tools + AI receptionist. Each rival holds one corner; the combination is the moat — and the financial layer they just saw is uncopyable without our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this deck exists and runs today. The raise funds distribution, not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technical reviewers, point to the appendix architecture slide and offer the full docs under 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NOW: nothing left to build — reach is the constraint. THEN examples: mortgage, credit card, utilities, transit pass — one app, and the AI itself is monetizable at every step. Precedents: Tencent Q1 2026 (1.43B MAU); Paytm Q4 FY26 (77M MTU, 49M merchants); WhatsApp 2B+ daily actives (Meta).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Tone: we're not asking for a favour — we're offering a seat. Expertise and introductions often matter more than the cheque. The same push that wins services positions Clinket for the one-place-for-everything future — partners now are partners in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technical documentation, data model and security review available under 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Plain-English map of the product's building blocks; the production model is fully partitioned and indexed.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hyperlink" Target="https://assets-ca.dev.clinket.com/voice-recordings/DLGDU/6c9e83de-7fde-11f1-a61b-02420aef8ba1.mp3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ssets-ca.dev.clinket.com/voice-recordings/DLGDU/6c9e83de-7fde-11f1-a61b-02420aef8ba1.mp3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etermined-sharp-hopper/mnt/outputs/wordmar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737360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Everything local.
One </a:t>
            </a:r>
            <a:r>
              <a:rPr lang="en-US" sz="440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platform</a:t>
            </a:r>
            <a:r>
              <a:rPr lang="en-US" sz="4400" b="1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.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475488" y="3310128"/>
            <a:ext cx="731520" cy="45720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457200" y="34564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EF8"/>
                </a:solidFill>
                <a:latin typeface="Lufga Light" pitchFamily="34" charset="0"/>
                <a:ea typeface="Lufga Light" pitchFamily="34" charset="-122"/>
                <a:cs typeface="Lufga Light" pitchFamily="34" charset="-120"/>
              </a:rPr>
              <a:t>The marketplace, the free business toolkit, and the AI receptionist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EF8"/>
                </a:solidFill>
                <a:latin typeface="Lufga Light" pitchFamily="34" charset="0"/>
                <a:ea typeface="Lufga Light" pitchFamily="34" charset="-122"/>
                <a:cs typeface="Lufga Light" pitchFamily="34" charset="-120"/>
              </a:rPr>
              <a:t>for the businesses that keep every neighbourhood running.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E"/>
                </a:solidFill>
                <a:latin typeface="Lufga Light" pitchFamily="34" charset="0"/>
                <a:ea typeface="Lufga Light" pitchFamily="34" charset="-122"/>
                <a:cs typeface="Lufga Light" pitchFamily="34" charset="-120"/>
              </a:rPr>
              <a:t>Partner overview  ·  July 2026  ·  Private &amp; 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huge industry still runs on missed calls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5720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69%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57200" y="21305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of US consumer spending is services — the last big offline category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2679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US BEA / FRED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4612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$509B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246120" y="21305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year spent on US home improvement &amp; repair alone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46120" y="2679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Harvard JCHS, 2025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3504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$37,230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035040" y="21305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median cost of one receptionist — the help small businesses can't afford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35040" y="2679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US BLS, May 2024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108960" y="1600200"/>
            <a:ext cx="0" cy="1463040"/>
          </a:xfrm>
          <a:prstGeom prst="line">
            <a:avLst/>
          </a:prstGeom>
          <a:noFill/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6"/>
          <p:cNvSpPr/>
          <p:nvPr/>
        </p:nvSpPr>
        <p:spPr>
          <a:xfrm>
            <a:off x="5897880" y="1600200"/>
            <a:ext cx="0" cy="1463040"/>
          </a:xfrm>
          <a:prstGeom prst="line">
            <a:avLst/>
          </a:prstGeom>
          <a:noFill/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7"/>
          <p:cNvSpPr/>
          <p:nvPr/>
        </p:nvSpPr>
        <p:spPr>
          <a:xfrm>
            <a:off x="457200" y="324612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F4FFE4"/>
          </a:solidFill>
          <a:ln w="12700">
            <a:solidFill>
              <a:srgbClr val="D4F9A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8"/>
          <p:cNvSpPr/>
          <p:nvPr/>
        </p:nvSpPr>
        <p:spPr>
          <a:xfrm>
            <a:off x="713232" y="3401568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Even the market leader admits it: </a:t>
            </a:r>
            <a:r>
              <a:rPr lang="en-US" sz="13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Angi's own annual report names its biggest competitor as “word of mouth and referrals.”  </a:t>
            </a:r>
            <a:r>
              <a:rPr lang="en-US" sz="13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customers are there. The providers are there. The platform that connects them properly isn't — yet.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What providers are stuck with today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2679192" cy="31546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640080" y="147218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The missed call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892808"/>
            <a:ext cx="2295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One-person businesses can't answer while doing the job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Nearly 1 in 5 medical appointments are no-shows — about $196 lost each time (peer-reviewed)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Hiring front-desk help costs $37K+ a year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402336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Every missed call is lost income.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36976" y="1325880"/>
            <a:ext cx="2679192" cy="31546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3419856" y="147218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The wrong platforms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438144" y="1892808"/>
            <a:ext cx="2295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Facebook Marketplace: 1B+ monthly shoppers but no booking, payments or reminders — and contact details get blocked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UK bank study flagged ~1/3 of Marketplace listings as likely scams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28% of US small businesses have no website at all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19856" y="402336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Demand exists. The workflow doesn't.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16752" y="1325880"/>
            <a:ext cx="2679192" cy="31546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5"/>
          <p:cNvSpPr/>
          <p:nvPr/>
        </p:nvSpPr>
        <p:spPr>
          <a:xfrm>
            <a:off x="6199632" y="147218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The lead-sellers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217920" y="1892808"/>
            <a:ext cx="2295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Angi sells leads — providers pay whether or not they win the job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Fined $7.2M by the FTC for misleading pros about lead quality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Revenue down ~24% and service requests down ~30% in two years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99632" y="402336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old model taxes providers.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Clinket — one platform, three ways to win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2679192" cy="283464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457200" y="1325880"/>
            <a:ext cx="2679192" cy="64008"/>
          </a:xfrm>
          <a:prstGeom prst="rect">
            <a:avLst/>
          </a:prstGeom>
          <a:solidFill>
            <a:srgbClr val="5BE7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62179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4128" y="150876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Marketplace + e-commerce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8368" y="2194560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Search any service like Google — everything on one screen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Chat, call, WhatsApp — privacy stays in the customer's hands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Book &amp; pay online; money held until the job is done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Refunds and support built in, Amazon-style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36976" y="1325880"/>
            <a:ext cx="2679192" cy="283464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2"/>
          <p:cNvSpPr/>
          <p:nvPr/>
        </p:nvSpPr>
        <p:spPr>
          <a:xfrm>
            <a:off x="3236976" y="1325880"/>
            <a:ext cx="2679192" cy="6400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340156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803904" y="150876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Free tools to run the business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438144" y="2194560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Bookings, quotes, invoices with payment links — $0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Their own customer book, built automatically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ready-made website with booking + QR code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on-ramp: every business can start today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16752" y="1325880"/>
            <a:ext cx="2679192" cy="283464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7"/>
          <p:cNvSpPr/>
          <p:nvPr/>
        </p:nvSpPr>
        <p:spPr>
          <a:xfrm>
            <a:off x="6016752" y="1325880"/>
            <a:ext cx="2679192" cy="64008"/>
          </a:xfrm>
          <a:prstGeom prst="rect">
            <a:avLst/>
          </a:prstGeom>
          <a:solidFill>
            <a:srgbClr val="0869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8"/>
          <p:cNvSpPr/>
          <p:nvPr/>
        </p:nvSpPr>
        <p:spPr>
          <a:xfrm>
            <a:off x="618134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583680" y="150876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AI assistant + receptionist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217920" y="2194560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Answers every missed call 24/7, like a trained employee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Books appointments, takes orders, creates quotes — live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Owner watches the transcript, takes over anytime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Every call summarized with the actions it took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4315968"/>
            <a:ext cx="8229600" cy="502920"/>
          </a:xfrm>
          <a:prstGeom prst="roundRect">
            <a:avLst>
              <a:gd name="adj" fmla="val 16364"/>
            </a:avLst>
          </a:prstGeom>
          <a:solidFill>
            <a:srgbClr val="032858"/>
          </a:solidFill>
          <a:ln w="12700">
            <a:solidFill>
              <a:srgbClr val="03285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2"/>
          <p:cNvSpPr/>
          <p:nvPr/>
        </p:nvSpPr>
        <p:spPr>
          <a:xfrm>
            <a:off x="713232" y="4352544"/>
            <a:ext cx="7772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One shared engine underneath:  </a:t>
            </a:r>
            <a:r>
              <a:rPr lang="en-US" sz="1150" dirty="0">
                <a:solidFill>
                  <a:srgbClr val="CADCFC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AI matching · smart search · customer insights · payments · messaging · notifications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PILLAR 1 · LIVE 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marketplace — every service, one front door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As simple as a Google search — providers, honest ratings, photos of past work and clear tax-included pricing on the first screen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Talk your way: chat, call, voice notes, attachments — mirrored to WhatsApp if both sides prefer it, and encrypted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customer decides when to share their phone or email — privacy is a feature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Pay online, with money held until the job is done; free cancellation until then; refunds if it goes wrong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Everything Amazon taught customers to expect — finally for services</a:t>
            </a:r>
            <a:endParaRPr lang="en-US" sz="1200" dirty="0"/>
          </a:p>
        </p:txBody>
      </p:sp>
      <p:pic>
        <p:nvPicPr>
          <p:cNvPr id="15" name="Picture 14" descr="A screenshot of a website&#10;&#10;Description automatically generated">
            <a:extLst>
              <a:ext uri="{FF2B5EF4-FFF2-40B4-BE49-F238E27FC236}">
                <a16:creationId xmlns:a16="http://schemas.microsoft.com/office/drawing/2014/main" id="{DDB2690A-A697-AF60-7363-9B3BCA4422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204" r="7871"/>
          <a:stretch/>
        </p:blipFill>
        <p:spPr>
          <a:xfrm>
            <a:off x="5423564" y="914254"/>
            <a:ext cx="3098644" cy="1787482"/>
          </a:xfrm>
          <a:prstGeom prst="rect">
            <a:avLst/>
          </a:prstGeom>
        </p:spPr>
      </p:pic>
      <p:pic>
        <p:nvPicPr>
          <p:cNvPr id="18" name="screen-capture (2)">
            <a:hlinkClick r:id="" action="ppaction://media"/>
            <a:extLst>
              <a:ext uri="{FF2B5EF4-FFF2-40B4-BE49-F238E27FC236}">
                <a16:creationId xmlns:a16="http://schemas.microsoft.com/office/drawing/2014/main" id="{03844A9C-22E8-0A6D-D1C6-CCEC90CDD5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063821" y="2886742"/>
            <a:ext cx="3458387" cy="1601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124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PILLAR 1 · THE LEAD ENGINE, DONE FAIRLY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How “Get Quotes” works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9" name="Image 1" descr="/sessions/determined-sharp-hopper/mnt/Nik/investor-pitch/diagrams/clinket-03-how-get-quotes-and-leads-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188720"/>
            <a:ext cx="74066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PILLAR 2 · LIVE 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free toolkit — a $0 back office for every business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Bookings and calendar, quotations, invoices with pay-online links — everything a small business never had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customer book that builds itself — their customers, on or off Clinket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ready-made personal website with online booking and a QR code — live on day one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Offers and campaigns to their own customer base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Free of charge. It's the on-ramp: businesses that run their day on Clinket grow into the marketplace, analytics and AI.</a:t>
            </a:r>
            <a:endParaRPr lang="en-US" sz="1200" dirty="0"/>
          </a:p>
        </p:txBody>
      </p:sp>
      <p:pic>
        <p:nvPicPr>
          <p:cNvPr id="17" name="Picture 16" descr="A screenshot of a website&#10;&#10;Description automatically generated">
            <a:extLst>
              <a:ext uri="{FF2B5EF4-FFF2-40B4-BE49-F238E27FC236}">
                <a16:creationId xmlns:a16="http://schemas.microsoft.com/office/drawing/2014/main" id="{3D7C76F7-EABF-B457-AA26-03EFE4678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683" y="2878237"/>
            <a:ext cx="3492630" cy="168249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Picture 11" descr="A screenshot of a web page&#10;&#10;Description automatically generated">
            <a:extLst>
              <a:ext uri="{FF2B5EF4-FFF2-40B4-BE49-F238E27FC236}">
                <a16:creationId xmlns:a16="http://schemas.microsoft.com/office/drawing/2014/main" id="{70873F31-ACE0-FC45-58E0-2AF2013D9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415" y="1109934"/>
            <a:ext cx="3518898" cy="1695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PILLAR 3 · LIVE TODAY, THE GAME CHANGER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AI receptionist — never miss a call again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dedicated business line: rings the owner first, AI takes over on missed calls, after hours, or always — the owner chooses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Knows the whole business and follows plain-language instructions — “no pepperoni today”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Actually, does the work: books and reschedules (one-time code protected), takes orders, creates quotes, sends WhatsApp/text/email confirmations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Owner watches the live transcript and can take over mid-call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After every call: a two-line summary and exactly what the AI did — booking created, customer added, quote sent.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1163498"/>
            <a:ext cx="3840480" cy="2483018"/>
          </a:xfrm>
          <a:prstGeom prst="roundRect">
            <a:avLst>
              <a:gd name="adj" fmla="val 5143"/>
            </a:avLst>
          </a:prstGeom>
          <a:solidFill>
            <a:srgbClr val="F4FFE4"/>
          </a:solidFill>
          <a:ln w="15875">
            <a:solidFill>
              <a:srgbClr val="D4F9A0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010912" y="1481328"/>
            <a:ext cx="351129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3687664"/>
            <a:ext cx="3840480" cy="587397"/>
          </a:xfrm>
          <a:prstGeom prst="roundRect">
            <a:avLst>
              <a:gd name="adj" fmla="val 7200"/>
            </a:avLst>
          </a:prstGeom>
          <a:solidFill>
            <a:srgbClr val="F4FFE4"/>
          </a:solidFill>
          <a:ln w="15875">
            <a:solidFill>
              <a:srgbClr val="D4F9A0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5010912" y="3781072"/>
            <a:ext cx="3511296" cy="36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1000" dirty="0">
                <a:hlinkClick r:id="rId4"/>
              </a:rPr>
              <a:t>https://assets-ca.dev.clinket.com/voice-recordings/DLGDU/6c9e83de-7fde-11f1-a61b-02420aef8ba1.mp3</a:t>
            </a:r>
            <a:r>
              <a:rPr lang="en-CA" sz="1000" b="1" dirty="0"/>
              <a:t> 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46320" y="4334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Fits any business: pizza line · dental desk · one-person mechanic · equipment dealership (live demo built)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50B790-D06E-B438-0140-C2913DAE0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59" y="978408"/>
            <a:ext cx="4036802" cy="26546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PILLAR 3 · UNDER THE HOOD, IN PLAIN ENGLISH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How the AI receptionist handles a call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9" name="Image 1" descr="/sessions/determined-sharp-hopper/mnt/Nik/investor-pitch/diagrams/clinket-04-how-the-ai-receptionist-answers-ca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207008"/>
            <a:ext cx="6766560" cy="34255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COMPOUNDING ADVANTAGE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data engine — insight that compounds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069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640080" y="14630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Customers feel it as magic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18013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homepage that learns what they like within minutes — recommendations like YouTube, but for services. Works with full privacy protection, approved by Apple and Google, built with legal guidance.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1325880"/>
            <a:ext cx="4069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4800600" y="14630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Providers feel it as answers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800600" y="18013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Who viewed my profile? What is my area searching for? Is my price high or low for my neighbourhood? Deep insight sold with Premium tiers — insight they could never buy alone.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33756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D9E2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713232" y="34747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50+ signals per interaction</a:t>
            </a:r>
            <a:r>
              <a:rPr lang="en-US" sz="12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 — what people search, click, book and pay across every category and neighbourhood. This is the asset that powers personalization today and precision B2B advertising tomorrow — and it compounds with every user.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 MARKET · EVERY NUMBER SOURCED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market that's huge, shifting online, and unowned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$509B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57200" y="20848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US home improvement &amp; repair spend alone (2025 proj.) — before beauty, cleaning, food, wellness…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2633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Harvard JCHS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4612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17–24%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246120" y="20848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yearly growth of online on-demand home-services platforms through 2030–32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46120" y="2633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Grand View Research; VMR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3504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69D4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39%/yr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035040" y="20848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AI voice agents: $2.5B (2025) → $35.2B (2033); North America leads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35040" y="2633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Grand View Research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108960" y="1554480"/>
            <a:ext cx="0" cy="1554480"/>
          </a:xfrm>
          <a:prstGeom prst="line">
            <a:avLst/>
          </a:prstGeom>
          <a:noFill/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6"/>
          <p:cNvSpPr/>
          <p:nvPr/>
        </p:nvSpPr>
        <p:spPr>
          <a:xfrm>
            <a:off x="5897880" y="1554480"/>
            <a:ext cx="0" cy="1554480"/>
          </a:xfrm>
          <a:prstGeom prst="line">
            <a:avLst/>
          </a:prstGeom>
          <a:noFill/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7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6429"/>
            </a:avLst>
          </a:prstGeom>
          <a:solidFill>
            <a:srgbClr val="F4FFE4"/>
          </a:solidFill>
          <a:ln w="12700">
            <a:solidFill>
              <a:srgbClr val="D4F9A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8"/>
          <p:cNvSpPr/>
          <p:nvPr/>
        </p:nvSpPr>
        <p:spPr>
          <a:xfrm>
            <a:off x="713232" y="3429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34.8M small businesses in the US + 1.1M employer businesses in Canada</a:t>
            </a:r>
            <a:r>
              <a:rPr lang="en-US" sz="12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 (SBA 2024; ISED 2025) — and every household around them. Clinket is live in Canada/US and India, and a new country can be live in hours. Full sources: Appendix + the Partner overview document.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How we make money — live in the product today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9842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603504" y="14538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Free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" y="1801368"/>
            <a:ext cx="1691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Full toolkit + listing. Acts on 5 leads/mo — sees every lead, so upgrading tempts, never forces.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2537460" y="1325880"/>
            <a:ext cx="19842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2683764" y="14538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Basic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683764" y="1801368"/>
            <a:ext cx="1691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More leads (25/mo), earlier lead delivery, more WhatsApp.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4617720" y="1325880"/>
            <a:ext cx="19842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4764024" y="14538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Premium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64024" y="1801368"/>
            <a:ext cx="1691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100 leads/mo with an earlier look, deep analytics + a featured banner on the customer app — a digital billboard shown to nearby customers.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6697980" y="1325880"/>
            <a:ext cx="1984248" cy="1874520"/>
          </a:xfrm>
          <a:prstGeom prst="roundRect">
            <a:avLst>
              <a:gd name="adj" fmla="val 4390"/>
            </a:avLst>
          </a:prstGeom>
          <a:solidFill>
            <a:srgbClr val="032858"/>
          </a:solidFill>
          <a:ln w="12700">
            <a:solidFill>
              <a:srgbClr val="03285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6844284" y="14538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EF29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Premium Max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44284" y="1801368"/>
            <a:ext cx="1691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E6EEF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Unlimited leads, first look at every one, full analytics, top banner placement — the best billboard spot in their area.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457200" y="3401568"/>
            <a:ext cx="40690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640080" y="35204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+ AI receptionist plans
</a:t>
            </a: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Standard &amp; Advanced levels + AI minutes that work like a phone plan: allowance, top-ups, auto-recharge.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617720" y="3401568"/>
            <a:ext cx="40690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1"/>
          <p:cNvSpPr/>
          <p:nvPr/>
        </p:nvSpPr>
        <p:spPr>
          <a:xfrm>
            <a:off x="4800600" y="35204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+ Promotions &amp; loyalty engine
</a:t>
            </a: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Free trials, personalized promo codes and targeted offers, in-app and by email — how users try it, love it, and convert to paid.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BUSINESS MODEL · FUTURE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What the same data unlocks next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457200" y="1325880"/>
            <a:ext cx="2679192" cy="64008"/>
          </a:xfrm>
          <a:prstGeom prst="rect">
            <a:avLst/>
          </a:prstGeom>
          <a:solidFill>
            <a:srgbClr val="03285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640080" y="14904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Precision B2B advertising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10312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salon-supply wholesaler reaches exactly the salons in Hamilton — and our analytics knows which pages and placements each provider engages with most, so every ad lands where it's seen. Win-win-win.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36976" y="132588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3236976" y="1325880"/>
            <a:ext cx="2679192" cy="64008"/>
          </a:xfrm>
          <a:prstGeom prst="rect">
            <a:avLst/>
          </a:prstGeom>
          <a:solidFill>
            <a:srgbClr val="03285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2"/>
          <p:cNvSpPr/>
          <p:nvPr/>
        </p:nvSpPr>
        <p:spPr>
          <a:xfrm>
            <a:off x="3419856" y="14904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Clinket-branded services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19856" y="210312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Kirkland / Amazon Basics play: where demand data proves a market, launch or lease out own-brand services and earn the operator margin.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16752" y="132588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5"/>
          <p:cNvSpPr/>
          <p:nvPr/>
        </p:nvSpPr>
        <p:spPr>
          <a:xfrm>
            <a:off x="6016752" y="1325880"/>
            <a:ext cx="2679192" cy="64008"/>
          </a:xfrm>
          <a:prstGeom prst="rect">
            <a:avLst/>
          </a:prstGeom>
          <a:solidFill>
            <a:srgbClr val="03285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6199632" y="14904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Selective transaction fees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99632" y="210312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small fee only on categories we choose — e.g. buy-and-sell or delivery — deliberately never a tax on every service booking.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032858"/>
          </a:solidFill>
          <a:ln w="12700">
            <a:solidFill>
              <a:srgbClr val="03285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713232" y="3886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Any of these can outgrow subscriptions — </a:t>
            </a:r>
            <a:r>
              <a:rPr lang="en-US" sz="1250" dirty="0">
                <a:solidFill>
                  <a:srgbClr val="CADCFC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and at scale could make the core platform free, widening the moat further.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BUSINESS MODEL · WHERE NOBODY CAN FOLLOW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financial layer — a different league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267919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457200" y="1325880"/>
            <a:ext cx="2679192" cy="6400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640080" y="149047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Pay over time, for customers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213055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 finished basement or new driveway runs $1,000–$5,000+ — and the deal often dies on the price. Furniture stores fixed this long ago: pay-over-time at checkout (often 0%), with a financing partner and its lenders carrying the funding and credit risk (think Wisetack, Financeit, Affirm). We bring it into services — and can share the financing revenue.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236976" y="1325880"/>
            <a:ext cx="267919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3236976" y="1325880"/>
            <a:ext cx="2679192" cy="64008"/>
          </a:xfrm>
          <a:prstGeom prst="rect">
            <a:avLst/>
          </a:prstGeom>
          <a:solidFill>
            <a:srgbClr val="5BE7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2"/>
          <p:cNvSpPr/>
          <p:nvPr/>
        </p:nvSpPr>
        <p:spPr>
          <a:xfrm>
            <a:off x="3419856" y="149047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Insurance at the point of service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19856" y="213055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Just renovated? Bought equipment? We offer the right coverage at exactly that moment — underwritten entirely by insurance partners. Zero risk on our books; commission on every policy.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016752" y="1325880"/>
            <a:ext cx="2679192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5"/>
          <p:cNvSpPr/>
          <p:nvPr/>
        </p:nvSpPr>
        <p:spPr>
          <a:xfrm>
            <a:off x="6016752" y="1325880"/>
            <a:ext cx="2679192" cy="64008"/>
          </a:xfrm>
          <a:prstGeom prst="rect">
            <a:avLst/>
          </a:prstGeom>
          <a:solidFill>
            <a:srgbClr val="0869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6199632" y="1490472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We help providers get financing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199632" y="2130552"/>
            <a:ext cx="2313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We see what no bank sees: verified earnings, month after month. Shared with the provider's consent, lending partners offer credit at far lower risk. We connect and earn a commission — partners lend. Square &amp; Shopify proved it for shops; nobody has for services.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2000"/>
            </a:avLst>
          </a:prstGeom>
          <a:solidFill>
            <a:srgbClr val="F4FFE4"/>
          </a:solidFill>
          <a:ln w="12700">
            <a:solidFill>
              <a:srgbClr val="D4F9A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713232" y="40965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We take none of the lending risk — partners underwrite and fund; we can share the revenue. </a:t>
            </a:r>
            <a:r>
              <a:rPr lang="en-US" sz="110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And it only works with our bookings, payments and history already in place: competitors would have to rebuild Clinket first.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COMPETITION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Nobody holds more than one corner of the triangle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59722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57200" y="1207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Angi / HomeAdvisor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423160" y="120700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Sells leads; pros pay win or lose. Revenue $1.36B → $1.03B in 2 yrs; requests −30%; $7.2M FTC fine over lead quality.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6720840" y="120700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2E7D0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We align with providers instead of taxing them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457200" y="1755648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457200" y="17876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Thumbtack / TaskRabbit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423160" y="178765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Growing ($400M, +27%) — proof the shift is real. Still lead-selling; no toolkit, no AI receptionist, no service checkout.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6720840" y="178765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2E7D0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We monetize success, not attempts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457200" y="233629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4"/>
          <p:cNvSpPr/>
          <p:nvPr/>
        </p:nvSpPr>
        <p:spPr>
          <a:xfrm>
            <a:off x="457200" y="236829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Facebook Marketplace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423160" y="2368296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Where providers actually are (1B+ monthly shoppers). No booking, payments, reminders; scam-prone; contact info blocked.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6720840" y="236829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2E7D0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We give that demand a real workflow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457200" y="2916936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8"/>
          <p:cNvSpPr/>
          <p:nvPr/>
        </p:nvSpPr>
        <p:spPr>
          <a:xfrm>
            <a:off x="457200" y="294894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Uber Eats / DoorDash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423160" y="294894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Solved this exact problem — for restaurants only.</a:t>
            </a:r>
            <a:endParaRPr lang="en-US" sz="940" dirty="0"/>
          </a:p>
        </p:txBody>
      </p:sp>
      <p:sp>
        <p:nvSpPr>
          <p:cNvPr id="23" name="Text 20"/>
          <p:cNvSpPr/>
          <p:nvPr/>
        </p:nvSpPr>
        <p:spPr>
          <a:xfrm>
            <a:off x="6720840" y="29489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2E7D0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We run the proven playbook for the other 95%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457200" y="3497580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2"/>
          <p:cNvSpPr/>
          <p:nvPr/>
        </p:nvSpPr>
        <p:spPr>
          <a:xfrm>
            <a:off x="457200" y="352958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Vertical booking software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423160" y="3529584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Single-industry tools with monthly fees; no marketplace bringing demand.</a:t>
            </a:r>
            <a:endParaRPr lang="en-US" sz="940" dirty="0"/>
          </a:p>
        </p:txBody>
      </p:sp>
      <p:sp>
        <p:nvSpPr>
          <p:cNvPr id="27" name="Text 24"/>
          <p:cNvSpPr/>
          <p:nvPr/>
        </p:nvSpPr>
        <p:spPr>
          <a:xfrm>
            <a:off x="6720840" y="352958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2E7D0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Our toolkit is free — and works for every industry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457200" y="3952570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032858"/>
          </a:solidFill>
          <a:ln w="12700">
            <a:solidFill>
              <a:srgbClr val="03285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6"/>
          <p:cNvSpPr/>
          <p:nvPr/>
        </p:nvSpPr>
        <p:spPr>
          <a:xfrm>
            <a:off x="713232" y="395257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And the future moat: </a:t>
            </a:r>
            <a:r>
              <a:rPr lang="en-US" sz="1050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the financial layer only works on top of our bookings, payments and verified history — a rival would have to rebuild Clinket before they could even start.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7200" y="455607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Sources: Angi FY2025 10-K (SEC) · FTC Apr 2023 · Fast Company Apr 2025 · Capital One Shopping / TSB 2024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TRACTION &amp; PROOF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Not a deck. A finished, approved product.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4 apps live: customer + provider, web + mobile — approved by Apple and Google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Admin console with full oversight — we know before users do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Complete billing &amp; subscriptions — approved without the usual 15–30% app-store cut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AI receptionist live on real phone numbers in North America and India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Multi-region: Canada/US + India running; a new country live in hours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1325880"/>
            <a:ext cx="38404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11" name="Text 8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Try it yourself (dev environment)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8105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Customer app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869D4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dev.clinket.com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22585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Provider app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55080" y="22585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CA" sz="1000" dirty="0">
                <a:solidFill>
                  <a:srgbClr val="0869D4"/>
                </a:solidFill>
                <a:latin typeface="Lufga" pitchFamily="34" charset="0"/>
                <a:ea typeface="Lufga" pitchFamily="34" charset="-122"/>
              </a:rPr>
              <a:t>partner.dev.clinket.com</a:t>
            </a:r>
            <a:endParaRPr lang="en-US" sz="1000" dirty="0">
              <a:solidFill>
                <a:srgbClr val="0869D4"/>
              </a:solidFill>
              <a:latin typeface="Lufga" pitchFamily="34" charset="0"/>
              <a:ea typeface="Lufga" pitchFamily="3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0" y="27066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Admin console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55080" y="27066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869D4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admin.clinket.com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0" y="3154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Mobile apps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55080" y="31546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869D4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Invite-only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0" y="36027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Demo audio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55080" y="35021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CA" sz="1000" dirty="0">
                <a:solidFill>
                  <a:srgbClr val="0869D4"/>
                </a:solidFill>
                <a:latin typeface="Lufga" pitchFamily="34" charset="0"/>
                <a:ea typeface="Lufga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https://assets-ca.dev.clinket.com/voice-recordings/DLGDU/6c9e83de-7fde-11f1-a61b-02420aef8ba1.mp3</a:t>
            </a:r>
            <a:endParaRPr lang="en-US" sz="1000" dirty="0">
              <a:solidFill>
                <a:srgbClr val="0869D4"/>
              </a:solidFill>
              <a:latin typeface="Lufga" pitchFamily="34" charset="0"/>
              <a:ea typeface="Lufga" pitchFamily="34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4632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Demo credentials shared privately on request.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TECHNOLOGY (PLAIN ENGLISH)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Built to scale — without the usual bills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0690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640080" y="14447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0 → millions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185623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Every layer scales itself. No growth cliff, no re-platforming, no 2 a.m. heroics.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1325880"/>
            <a:ext cx="40690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4800600" y="14447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New country in hours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00600" y="185623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One automated run deploys the whole platform to a new region — data kept in-country, local payments, local rules.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944368"/>
            <a:ext cx="40690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640080" y="30632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Hundreds, not millions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" y="34747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Monthly infrastructure cost stays tiny as we grow — margins improve with scale.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17720" y="2944368"/>
            <a:ext cx="4069080" cy="1481328"/>
          </a:xfrm>
          <a:prstGeom prst="roundRect">
            <a:avLst>
              <a:gd name="adj" fmla="val 5556"/>
            </a:avLst>
          </a:prstGeom>
          <a:solidFill>
            <a:srgbClr val="F4FFE4"/>
          </a:solidFill>
          <a:ln w="12700">
            <a:solidFill>
              <a:srgbClr val="D4F9A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4800600" y="30632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Nothing to steal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800600" y="34747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No usernames or passwords exist inside the platform — every internal connection uses managed identity. One guarded front door.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45171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Designed and built end to end by the founder — one person, on Azure, with experience from 20M-customer systems to regulated medical data.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Where we're heading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2679192" cy="29260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457200" y="1463040"/>
            <a:ext cx="2679192" cy="6400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640080" y="160934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NOW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192024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Win the neighbourhood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0080" y="2606040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Everything is live and earning — all three pillars incl. the AI receptionist, with trials and promos converting users to paid. The push: all-in marketing &amp; sales, city → province → country.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36976" y="1463040"/>
            <a:ext cx="2679192" cy="29260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2"/>
          <p:cNvSpPr/>
          <p:nvPr/>
        </p:nvSpPr>
        <p:spPr>
          <a:xfrm>
            <a:off x="3236976" y="1463040"/>
            <a:ext cx="2679192" cy="64008"/>
          </a:xfrm>
          <a:prstGeom prst="rect">
            <a:avLst/>
          </a:prstGeom>
          <a:solidFill>
            <a:srgbClr val="5BE7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3419856" y="160934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NEXT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19856" y="192024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Switch on the bigger engines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3419856" y="2606040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Precision B2B advertising on our analytics; Clinket-branded services where data proves demand; the financial layer — job financing, insurance, data-backed provider loans.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16752" y="1463040"/>
            <a:ext cx="2679192" cy="292608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7"/>
          <p:cNvSpPr/>
          <p:nvPr/>
        </p:nvSpPr>
        <p:spPr>
          <a:xfrm>
            <a:off x="6016752" y="1463040"/>
            <a:ext cx="2679192" cy="64008"/>
          </a:xfrm>
          <a:prstGeom prst="rect">
            <a:avLst/>
          </a:prstGeom>
          <a:solidFill>
            <a:srgbClr val="0869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8"/>
          <p:cNvSpPr/>
          <p:nvPr/>
        </p:nvSpPr>
        <p:spPr>
          <a:xfrm>
            <a:off x="6199632" y="160934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THEN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99632" y="192024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32858"/>
                </a:solidFill>
                <a:latin typeface="Lufga SemiBold" pitchFamily="34" charset="0"/>
                <a:ea typeface="Lufga SemiBold" pitchFamily="34" charset="-122"/>
                <a:cs typeface="Lufga SemiBold" pitchFamily="34" charset="-120"/>
              </a:rPr>
              <a:t>One place for everything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199632" y="2606040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Book the plumber — and pay the mortgage, the utility bill, the transit pass. The WeChat (1.43B) / Paytm playbook, with AI at the centre — North America's seat is empty.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etermined-sharp-hopper/mnt/outputs/wordmar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"/>
            <a:ext cx="141732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What we're looking for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75488" y="1828800"/>
            <a:ext cx="640080" cy="45720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457200" y="2029968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Expertise, networks — and fuel. </a:t>
            </a:r>
            <a:r>
              <a:rPr lang="en-US" sz="1300" dirty="0">
                <a:solidFill>
                  <a:srgbClr val="E6EEF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This is not a build-the-product raise: the product is built, approved and paid for.</a:t>
            </a:r>
            <a:endParaRPr lang="en-US" sz="13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6EEF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We're looking for partners who know how to make a platform pop — city, province, country.</a:t>
            </a:r>
            <a:endParaRPr lang="en-US" sz="1300" dirty="0"/>
          </a:p>
          <a:p>
            <a:pPr>
              <a:lnSpc>
                <a:spcPct val="122000"/>
              </a:lnSpc>
            </a:pPr>
            <a:r>
              <a:rPr lang="en-CA" sz="1300" b="1" dirty="0">
                <a:solidFill>
                  <a:srgbClr val="97EF29"/>
                </a:solidFill>
                <a:latin typeface="Lufga" pitchFamily="34" charset="0"/>
                <a:ea typeface="Lufga" pitchFamily="34" charset="-122"/>
              </a:rPr>
              <a:t>Capital as the accelerant. </a:t>
            </a:r>
            <a:r>
              <a:rPr lang="en-CA" sz="1300" dirty="0">
                <a:solidFill>
                  <a:srgbClr val="E6EEF8"/>
                </a:solidFill>
                <a:latin typeface="Lufga" pitchFamily="34" charset="0"/>
                <a:ea typeface="Lufga" pitchFamily="34" charset="-122"/>
              </a:rPr>
              <a:t>Any investment goes purely into marketing and sales — nothing else. The engineering is done and the platform runs itself.</a:t>
            </a:r>
          </a:p>
          <a:p>
            <a:pPr marL="0" indent="0">
              <a:lnSpc>
                <a:spcPct val="122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FOR TECHNICAL REVIEWERS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Appendix — platform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9" name="Image 1" descr="/sessions/determined-sharp-hopper/mnt/Nik/investor-pitch/diagrams/clinket-06-how-the-platform-scales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1170432"/>
            <a:ext cx="5212080" cy="34530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FOR TECHNICAL REVIEWERS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Appendix — how everything connects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9" name="Image 1" descr="/sessions/determined-sharp-hopper/mnt/Nik/investor-pitch/diagrams/clinket-07-how-everything-connects-data-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207008"/>
            <a:ext cx="6400800" cy="34004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EVERY NUMBER IN THIS DECK IS VERIFIABLE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32858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Appendix — sources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66344" y="1024128"/>
            <a:ext cx="502920" cy="41148"/>
          </a:xfrm>
          <a:prstGeom prst="rect">
            <a:avLst/>
          </a:prstGeom>
          <a:solidFill>
            <a:srgbClr val="97EF2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sessions/determined-sharp-hopper/mnt/Nik/brand-kit/logos/png-icon/logo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326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7960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960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F5F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57200" y="1207008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1. Harvard JCHS — US remodeling ~$509B (2025 proj.) · jchs.harvard.edu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2. US BEA via FRED — services ≈69% of consumer spending · fred.stlouisfed.org/series/PCES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3. CHBA — CA$213.7B; 57% of residential-construction jobs from renovation &amp; repair · chba.ca/economic-impacts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4. Grand View Research — online home services 16.7% CAGR; Verified Market Research — 23.7% CAGR · grandviewresearch.com · verifiedmarketresearch.com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5. Angi Inc. FY2025 Form 10-K (SEC) — revenue &amp; request declines; 500+ categories; lead model · sec.gov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6. FTC (Apr 2023) — HomeAdvisor order, up to $7.2M · ftc.gov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7. Fast Company (Apr 2025) — Thumbtack $400M, +27% · fastcompany.com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8. Capital One Shopping — Facebook Marketplace 1B+ monthly shoppers · capitaloneshopping.com/research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9. TSB Bank (2024) — ~34% of Marketplace ads show scam patterns · tsb.co.uk</a:t>
            </a:r>
            <a:endParaRPr lang="en-US" sz="860" dirty="0"/>
          </a:p>
        </p:txBody>
      </p:sp>
      <p:sp>
        <p:nvSpPr>
          <p:cNvPr id="10" name="Text 7"/>
          <p:cNvSpPr/>
          <p:nvPr/>
        </p:nvSpPr>
        <p:spPr>
          <a:xfrm>
            <a:off x="4709160" y="1207008"/>
            <a:ext cx="3977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10. Grand View Research (2026) — AI voice agents $2.5B → $35.2B, 39% CAGR · grandviewresearch.com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11. MarketsandMarkets — conversational AI $17.05B (2025) → $49.8B (2031), 19.6% CAGR · marketsandmarkets.com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12. SBA (2024) — 34.75M US small businesses · advocacy.sba.gov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13. ISED (2025) — 1.1M Canadian employer businesses, 98.2% small · ised-isde.canada.ca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14. US BLS (May 2024) — receptionists median $37,230/yr · bls.gov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15. Kheirkhah et al., BMC Health Services Research — 18.8% no-shows, ~$196 each · bmchealthservres.biomedcentral.com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16. Clutch (2021) — 28% of US small businesses have no website · clutch.co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17. Tencent Q1 2026 — WeChat 1,432M MAU · tencent.com  ·  18. Paytm Q4 FY26 — 77M MTU, 49M merchants · paytm.com</a:t>
            </a:r>
            <a:endParaRPr lang="en-US" sz="86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60" dirty="0">
                <a:solidFill>
                  <a:srgbClr val="171717"/>
                </a:solidFill>
                <a:latin typeface="Lufga" pitchFamily="34" charset="0"/>
                <a:ea typeface="Lufga" pitchFamily="34" charset="-122"/>
                <a:cs typeface="Lufga" pitchFamily="34" charset="-120"/>
              </a:rPr>
              <a:t>19. Meta (Jan 2026) — WhatsApp 2B+ daily actives · Meta Q4 2025 earnings call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502922" y="4169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2858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Clickable links for every source: Appendix A of the </a:t>
            </a:r>
            <a:r>
              <a:rPr lang="en-US" sz="1000" dirty="0" err="1">
                <a:solidFill>
                  <a:srgbClr val="032858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Clinket</a:t>
            </a:r>
            <a:r>
              <a:rPr lang="en-US" sz="1000" dirty="0">
                <a:solidFill>
                  <a:srgbClr val="032858"/>
                </a:solidFill>
                <a:latin typeface="Lufga Medium" pitchFamily="34" charset="0"/>
                <a:ea typeface="Lufga Medium" pitchFamily="34" charset="-122"/>
                <a:cs typeface="Lufga Medium" pitchFamily="34" charset="-120"/>
              </a:rPr>
              <a:t> Partner Overview (Word document).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3352</Words>
  <Application>Microsoft Office PowerPoint</Application>
  <PresentationFormat>On-screen Show (16:9)</PresentationFormat>
  <Paragraphs>302</Paragraphs>
  <Slides>22</Slides>
  <Notes>22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Lufga</vt:lpstr>
      <vt:lpstr>Lufga Light</vt:lpstr>
      <vt:lpstr>Lufga Medium</vt:lpstr>
      <vt:lpstr>Lufga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Clinket — Investor Deck</dc:title>
  <dc:subject>PptxGenJS Presentation</dc:subject>
  <dc:creator>Clinket</dc:creator>
  <cp:lastModifiedBy>Adhaduk, Nik</cp:lastModifiedBy>
  <cp:revision>6</cp:revision>
  <dcterms:created xsi:type="dcterms:W3CDTF">2026-07-19T20:36:28Z</dcterms:created>
  <dcterms:modified xsi:type="dcterms:W3CDTF">2026-07-23T01:34:02Z</dcterms:modified>
</cp:coreProperties>
</file>