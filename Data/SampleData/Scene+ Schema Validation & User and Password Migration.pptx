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4" r:id="rId4"/>
  </p:sldMasterIdLst>
  <p:notesMasterIdLst>
    <p:notesMasterId r:id="rId15"/>
  </p:notesMasterIdLst>
  <p:handoutMasterIdLst>
    <p:handoutMasterId r:id="rId16"/>
  </p:handoutMasterIdLst>
  <p:sldIdLst>
    <p:sldId id="1573" r:id="rId5"/>
    <p:sldId id="1576" r:id="rId6"/>
    <p:sldId id="2147327913" r:id="rId7"/>
    <p:sldId id="1579" r:id="rId8"/>
    <p:sldId id="2147327914" r:id="rId9"/>
    <p:sldId id="2147327915" r:id="rId10"/>
    <p:sldId id="2147327916" r:id="rId11"/>
    <p:sldId id="2147327893" r:id="rId12"/>
    <p:sldId id="2147327912" r:id="rId13"/>
    <p:sldId id="2147327901" r:id="rId14"/>
  </p:sldIdLst>
  <p:sldSz cx="24384000" cy="13716000"/>
  <p:notesSz cx="7315200" cy="12344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8F8B6"/>
    <a:srgbClr val="0E1D42"/>
    <a:srgbClr val="FFE699"/>
    <a:srgbClr val="E8EAEE"/>
    <a:srgbClr val="0E5447"/>
    <a:srgbClr val="F0D15E"/>
    <a:srgbClr val="66686A"/>
    <a:srgbClr val="EB8C57"/>
    <a:srgbClr val="F6F3ED"/>
    <a:srgbClr val="8BB1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Source Sans Pro Semibold"/>
          <a:ea typeface="Source Sans Pro Semibold"/>
          <a:cs typeface="Source Sans Pro Semibold"/>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Ref idx="minor">
          <a:srgbClr val="000000"/>
        </a:fontRef>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n" i="off">
        <a:font>
          <a:latin typeface="Source Sans Pro Semibold"/>
          <a:ea typeface="Source Sans Pro Semibold"/>
          <a:cs typeface="Source Sans Pro Semibold"/>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Source Sans Pro Light"/>
          <a:ea typeface="Source Sans Pro Light"/>
          <a:cs typeface="Source Sans Pro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n" i="off">
        <a:font>
          <a:latin typeface="Source Sans Pro Semibold"/>
          <a:ea typeface="Source Sans Pro Semibold"/>
          <a:cs typeface="Source Sans Pro Semi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n" i="off">
        <a:font>
          <a:latin typeface="Source Sans Pro Semibold"/>
          <a:ea typeface="Source Sans Pro Semibold"/>
          <a:cs typeface="Source Sans Pro Semi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n" i="off">
        <a:font>
          <a:latin typeface="Source Sans Pro Semibold"/>
          <a:ea typeface="Source Sans Pro Semibold"/>
          <a:cs typeface="Source Sans Pro Semi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79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B64B693-AA63-5D87-7449-628C55EC3691}"/>
              </a:ext>
            </a:extLst>
          </p:cNvPr>
          <p:cNvSpPr>
            <a:spLocks noGrp="1"/>
          </p:cNvSpPr>
          <p:nvPr>
            <p:ph type="hdr" sz="quarter"/>
          </p:nvPr>
        </p:nvSpPr>
        <p:spPr>
          <a:xfrm>
            <a:off x="0" y="1"/>
            <a:ext cx="3169920" cy="619363"/>
          </a:xfrm>
          <a:prstGeom prst="rect">
            <a:avLst/>
          </a:prstGeom>
        </p:spPr>
        <p:txBody>
          <a:bodyPr vert="horz" lIns="96661" tIns="48331" rIns="96661" bIns="48331" rtlCol="0"/>
          <a:lstStyle>
            <a:lvl1pPr algn="l">
              <a:defRPr sz="1300"/>
            </a:lvl1pPr>
          </a:lstStyle>
          <a:p>
            <a:endParaRPr lang="en-US"/>
          </a:p>
        </p:txBody>
      </p:sp>
      <p:sp>
        <p:nvSpPr>
          <p:cNvPr id="4" name="Footer Placeholder 3">
            <a:extLst>
              <a:ext uri="{FF2B5EF4-FFF2-40B4-BE49-F238E27FC236}">
                <a16:creationId xmlns:a16="http://schemas.microsoft.com/office/drawing/2014/main" id="{EE698B1F-F180-9BF2-961E-9C2DAD66CF87}"/>
              </a:ext>
            </a:extLst>
          </p:cNvPr>
          <p:cNvSpPr>
            <a:spLocks noGrp="1"/>
          </p:cNvSpPr>
          <p:nvPr>
            <p:ph type="ftr" sz="quarter" idx="2"/>
          </p:nvPr>
        </p:nvSpPr>
        <p:spPr>
          <a:xfrm>
            <a:off x="0" y="11725038"/>
            <a:ext cx="3169920" cy="619362"/>
          </a:xfrm>
          <a:prstGeom prst="rect">
            <a:avLst/>
          </a:prstGeom>
        </p:spPr>
        <p:txBody>
          <a:bodyPr vert="horz" lIns="96661" tIns="48331" rIns="96661" bIns="48331" rtlCol="0" anchor="b"/>
          <a:lstStyle>
            <a:lvl1pPr algn="l">
              <a:defRPr sz="1300"/>
            </a:lvl1pPr>
          </a:lstStyle>
          <a:p>
            <a:r>
              <a:rPr lang="en-US"/>
              <a:t>KeyData Associates Inc.</a:t>
            </a:r>
          </a:p>
        </p:txBody>
      </p:sp>
      <p:sp>
        <p:nvSpPr>
          <p:cNvPr id="5" name="Slide Number Placeholder 4">
            <a:extLst>
              <a:ext uri="{FF2B5EF4-FFF2-40B4-BE49-F238E27FC236}">
                <a16:creationId xmlns:a16="http://schemas.microsoft.com/office/drawing/2014/main" id="{060D65B4-000A-8795-0E68-647D34CE047F}"/>
              </a:ext>
            </a:extLst>
          </p:cNvPr>
          <p:cNvSpPr>
            <a:spLocks noGrp="1"/>
          </p:cNvSpPr>
          <p:nvPr>
            <p:ph type="sldNum" sz="quarter" idx="3"/>
          </p:nvPr>
        </p:nvSpPr>
        <p:spPr>
          <a:xfrm>
            <a:off x="4143587" y="11725038"/>
            <a:ext cx="3169920" cy="619362"/>
          </a:xfrm>
          <a:prstGeom prst="rect">
            <a:avLst/>
          </a:prstGeom>
        </p:spPr>
        <p:txBody>
          <a:bodyPr vert="horz" lIns="96661" tIns="48331" rIns="96661" bIns="48331" rtlCol="0" anchor="b"/>
          <a:lstStyle>
            <a:lvl1pPr algn="r">
              <a:defRPr sz="1300"/>
            </a:lvl1pPr>
          </a:lstStyle>
          <a:p>
            <a:fld id="{1E8F1CC6-0847-214B-AD1D-AC88DFB2E7AA}" type="slidenum">
              <a:rPr lang="en-US" smtClean="0"/>
              <a:t>‹#›</a:t>
            </a:fld>
            <a:endParaRPr lang="en-US"/>
          </a:p>
        </p:txBody>
      </p:sp>
    </p:spTree>
    <p:extLst>
      <p:ext uri="{BB962C8B-B14F-4D97-AF65-F5344CB8AC3E}">
        <p14:creationId xmlns:p14="http://schemas.microsoft.com/office/powerpoint/2010/main" val="116070947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95" name="Shape 595"/>
          <p:cNvSpPr>
            <a:spLocks noGrp="1" noRot="1" noChangeAspect="1"/>
          </p:cNvSpPr>
          <p:nvPr>
            <p:ph type="sldImg"/>
          </p:nvPr>
        </p:nvSpPr>
        <p:spPr>
          <a:xfrm>
            <a:off x="-457200" y="927100"/>
            <a:ext cx="8229600" cy="4629150"/>
          </a:xfrm>
          <a:prstGeom prst="rect">
            <a:avLst/>
          </a:prstGeom>
        </p:spPr>
        <p:txBody>
          <a:bodyPr lIns="96661" tIns="48331" rIns="96661" bIns="48331"/>
          <a:lstStyle/>
          <a:p>
            <a:endParaRPr/>
          </a:p>
        </p:txBody>
      </p:sp>
      <p:sp>
        <p:nvSpPr>
          <p:cNvPr id="596" name="Shape 596"/>
          <p:cNvSpPr>
            <a:spLocks noGrp="1"/>
          </p:cNvSpPr>
          <p:nvPr>
            <p:ph type="body" sz="quarter" idx="1"/>
          </p:nvPr>
        </p:nvSpPr>
        <p:spPr>
          <a:xfrm>
            <a:off x="975360" y="5863590"/>
            <a:ext cx="5364480" cy="5554980"/>
          </a:xfrm>
          <a:prstGeom prst="rect">
            <a:avLst/>
          </a:prstGeom>
        </p:spPr>
        <p:txBody>
          <a:bodyPr lIns="96661" tIns="48331" rIns="96661" bIns="48331"/>
          <a:lstStyle/>
          <a:p>
            <a:endParaRPr/>
          </a:p>
        </p:txBody>
      </p:sp>
    </p:spTree>
    <p:extLst>
      <p:ext uri="{BB962C8B-B14F-4D97-AF65-F5344CB8AC3E}">
        <p14:creationId xmlns:p14="http://schemas.microsoft.com/office/powerpoint/2010/main" val="424238335"/>
      </p:ext>
    </p:extLst>
  </p:cSld>
  <p:clrMap bg1="lt1" tx1="dk1" bg2="lt2" tx2="dk2" accent1="accent1" accent2="accent2" accent3="accent3" accent4="accent4" accent5="accent5" accent6="accent6" hlink="hlink" folHlink="folHlink"/>
  <p:hf hdr="0" dt="0"/>
  <p:notesStyle>
    <a:lvl1pPr defTabSz="457200" latinLnBrk="0">
      <a:lnSpc>
        <a:spcPct val="117999"/>
      </a:lnSpc>
      <a:defRPr sz="2200">
        <a:latin typeface="+mn-lt"/>
        <a:ea typeface="+mn-ea"/>
        <a:cs typeface="+mn-cs"/>
        <a:sym typeface="Source Sans Pro"/>
      </a:defRPr>
    </a:lvl1pPr>
    <a:lvl2pPr indent="228600" defTabSz="457200" latinLnBrk="0">
      <a:lnSpc>
        <a:spcPct val="117999"/>
      </a:lnSpc>
      <a:defRPr sz="2200">
        <a:latin typeface="+mn-lt"/>
        <a:ea typeface="+mn-ea"/>
        <a:cs typeface="+mn-cs"/>
        <a:sym typeface="Source Sans Pro"/>
      </a:defRPr>
    </a:lvl2pPr>
    <a:lvl3pPr indent="457200" defTabSz="457200" latinLnBrk="0">
      <a:lnSpc>
        <a:spcPct val="117999"/>
      </a:lnSpc>
      <a:defRPr sz="2200">
        <a:latin typeface="+mn-lt"/>
        <a:ea typeface="+mn-ea"/>
        <a:cs typeface="+mn-cs"/>
        <a:sym typeface="Source Sans Pro"/>
      </a:defRPr>
    </a:lvl3pPr>
    <a:lvl4pPr indent="685800" defTabSz="457200" latinLnBrk="0">
      <a:lnSpc>
        <a:spcPct val="117999"/>
      </a:lnSpc>
      <a:defRPr sz="2200">
        <a:latin typeface="+mn-lt"/>
        <a:ea typeface="+mn-ea"/>
        <a:cs typeface="+mn-cs"/>
        <a:sym typeface="Source Sans Pro"/>
      </a:defRPr>
    </a:lvl4pPr>
    <a:lvl5pPr indent="914400" defTabSz="457200" latinLnBrk="0">
      <a:lnSpc>
        <a:spcPct val="117999"/>
      </a:lnSpc>
      <a:defRPr sz="2200">
        <a:latin typeface="+mn-lt"/>
        <a:ea typeface="+mn-ea"/>
        <a:cs typeface="+mn-cs"/>
        <a:sym typeface="Source Sans Pro"/>
      </a:defRPr>
    </a:lvl5pPr>
    <a:lvl6pPr indent="1143000" defTabSz="457200" latinLnBrk="0">
      <a:lnSpc>
        <a:spcPct val="117999"/>
      </a:lnSpc>
      <a:defRPr sz="2200">
        <a:latin typeface="+mn-lt"/>
        <a:ea typeface="+mn-ea"/>
        <a:cs typeface="+mn-cs"/>
        <a:sym typeface="Source Sans Pro"/>
      </a:defRPr>
    </a:lvl6pPr>
    <a:lvl7pPr indent="1371600" defTabSz="457200" latinLnBrk="0">
      <a:lnSpc>
        <a:spcPct val="117999"/>
      </a:lnSpc>
      <a:defRPr sz="2200">
        <a:latin typeface="+mn-lt"/>
        <a:ea typeface="+mn-ea"/>
        <a:cs typeface="+mn-cs"/>
        <a:sym typeface="Source Sans Pro"/>
      </a:defRPr>
    </a:lvl7pPr>
    <a:lvl8pPr indent="1600200" defTabSz="457200" latinLnBrk="0">
      <a:lnSpc>
        <a:spcPct val="117999"/>
      </a:lnSpc>
      <a:defRPr sz="2200">
        <a:latin typeface="+mn-lt"/>
        <a:ea typeface="+mn-ea"/>
        <a:cs typeface="+mn-cs"/>
        <a:sym typeface="Source Sans Pro"/>
      </a:defRPr>
    </a:lvl8pPr>
    <a:lvl9pPr indent="1828800" defTabSz="457200" latinLnBrk="0">
      <a:lnSpc>
        <a:spcPct val="117999"/>
      </a:lnSpc>
      <a:defRPr sz="2200">
        <a:latin typeface="+mn-lt"/>
        <a:ea typeface="+mn-ea"/>
        <a:cs typeface="+mn-cs"/>
        <a:sym typeface="Source Sans Pro"/>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285588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Last Slide">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A814BEB8-7017-BE25-41C6-7CD33122BF55}"/>
              </a:ext>
            </a:extLst>
          </p:cNvPr>
          <p:cNvSpPr>
            <a:spLocks noGrp="1"/>
          </p:cNvSpPr>
          <p:nvPr>
            <p:ph type="sldNum" sz="quarter" idx="12"/>
          </p:nvPr>
        </p:nvSpPr>
        <p:spPr>
          <a:xfrm>
            <a:off x="17221200" y="12712701"/>
            <a:ext cx="5486400" cy="730250"/>
          </a:xfrm>
        </p:spPr>
        <p:txBody>
          <a:bodyPr/>
          <a:lstStyle/>
          <a:p>
            <a:fld id="{86CB4B4D-7CA3-9044-876B-883B54F8677D}" type="slidenum">
              <a:rPr lang="en-CA" smtClean="0"/>
              <a:t>‹#›</a:t>
            </a:fld>
            <a:endParaRPr lang="en-CA"/>
          </a:p>
        </p:txBody>
      </p:sp>
      <p:pic>
        <p:nvPicPr>
          <p:cNvPr id="3" name="Graphic 2">
            <a:extLst>
              <a:ext uri="{FF2B5EF4-FFF2-40B4-BE49-F238E27FC236}">
                <a16:creationId xmlns:a16="http://schemas.microsoft.com/office/drawing/2014/main" id="{0DBBA7A8-5CC6-A1AF-B3D3-6B4522D02AE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6910" y="12665347"/>
            <a:ext cx="1286924" cy="314582"/>
          </a:xfrm>
          <a:prstGeom prst="rect">
            <a:avLst/>
          </a:prstGeom>
        </p:spPr>
      </p:pic>
      <p:sp>
        <p:nvSpPr>
          <p:cNvPr id="5" name="Text Placeholder 22">
            <a:extLst>
              <a:ext uri="{FF2B5EF4-FFF2-40B4-BE49-F238E27FC236}">
                <a16:creationId xmlns:a16="http://schemas.microsoft.com/office/drawing/2014/main" id="{FF968C66-4D0A-D8D8-852B-A04244B3FD00}"/>
              </a:ext>
            </a:extLst>
          </p:cNvPr>
          <p:cNvSpPr>
            <a:spLocks noGrp="1"/>
          </p:cNvSpPr>
          <p:nvPr>
            <p:ph type="body" sz="quarter" idx="16" hasCustomPrompt="1"/>
          </p:nvPr>
        </p:nvSpPr>
        <p:spPr>
          <a:xfrm>
            <a:off x="1096910" y="1530488"/>
            <a:ext cx="14062160" cy="730250"/>
          </a:xfrm>
        </p:spPr>
        <p:txBody>
          <a:bodyPr>
            <a:noAutofit/>
          </a:bodyPr>
          <a:lstStyle>
            <a:lvl1pPr marL="12700" marR="1905" indent="0" algn="l" defTabSz="1828800" rtl="0" eaLnBrk="1" latinLnBrk="0" hangingPunct="1">
              <a:lnSpc>
                <a:spcPts val="4400"/>
              </a:lnSpc>
              <a:spcBef>
                <a:spcPts val="2000"/>
              </a:spcBef>
              <a:buFont typeface="Arial" panose="020B0604020202020204" pitchFamily="34" charset="0"/>
              <a:buNone/>
              <a:tabLst/>
              <a:defRPr lang="en-US" sz="6600" b="0" i="0" kern="1200" spc="-60" dirty="0">
                <a:solidFill>
                  <a:srgbClr val="0E1D42"/>
                </a:solidFill>
                <a:latin typeface="Poppins Medium" pitchFamily="2" charset="77"/>
                <a:ea typeface="+mn-ea"/>
                <a:cs typeface="Poppins Medium" pitchFamily="2" charset="77"/>
              </a:defRPr>
            </a:lvl1pPr>
          </a:lstStyle>
          <a:p>
            <a:pPr lvl="0"/>
            <a:r>
              <a:rPr lang="en-US"/>
              <a:t>Click to edit title here</a:t>
            </a:r>
          </a:p>
        </p:txBody>
      </p:sp>
    </p:spTree>
    <p:extLst>
      <p:ext uri="{BB962C8B-B14F-4D97-AF65-F5344CB8AC3E}">
        <p14:creationId xmlns:p14="http://schemas.microsoft.com/office/powerpoint/2010/main" val="14603819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2489205"/>
            <a:ext cx="19497260" cy="7752082"/>
          </a:xfrm>
          <a:prstGeom prst="rect">
            <a:avLst/>
          </a:prstGeom>
        </p:spPr>
        <p:txBody>
          <a:bodyPr bIns="0" anchor="ctr">
            <a:noAutofit/>
          </a:bodyPr>
          <a:lstStyle>
            <a:lvl1pPr algn="l">
              <a:lnSpc>
                <a:spcPct val="100000"/>
              </a:lnSpc>
              <a:defRPr sz="17280" i="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219203" y="9753600"/>
            <a:ext cx="19497242" cy="975360"/>
          </a:xfrm>
          <a:prstGeom prst="rect">
            <a:avLst/>
          </a:prstGeom>
        </p:spPr>
        <p:txBody>
          <a:bodyPr anchor="b">
            <a:noAutofit/>
          </a:bodyPr>
          <a:lstStyle>
            <a:lvl1pPr marL="0" indent="0" algn="l">
              <a:buNone/>
              <a:defRPr sz="4800" b="0" i="0">
                <a:solidFill>
                  <a:schemeClr val="accent2"/>
                </a:solidFill>
                <a:latin typeface="+mn-lt"/>
              </a:defRPr>
            </a:lvl1pPr>
            <a:lvl2pPr marL="822940" indent="0" algn="ctr">
              <a:buNone/>
              <a:defRPr sz="3600"/>
            </a:lvl2pPr>
            <a:lvl3pPr marL="1645880" indent="0" algn="ctr">
              <a:buNone/>
              <a:defRPr sz="3240"/>
            </a:lvl3pPr>
            <a:lvl4pPr marL="2468820" indent="0" algn="ctr">
              <a:buNone/>
              <a:defRPr sz="2880"/>
            </a:lvl4pPr>
            <a:lvl5pPr marL="3291758" indent="0" algn="ctr">
              <a:buNone/>
              <a:defRPr sz="2880"/>
            </a:lvl5pPr>
            <a:lvl6pPr marL="4114696" indent="0" algn="ctr">
              <a:buNone/>
              <a:defRPr sz="2880"/>
            </a:lvl6pPr>
            <a:lvl7pPr marL="4937636" indent="0" algn="ctr">
              <a:buNone/>
              <a:defRPr sz="2880"/>
            </a:lvl7pPr>
            <a:lvl8pPr marL="5760576" indent="0" algn="ctr">
              <a:buNone/>
              <a:defRPr sz="2880"/>
            </a:lvl8pPr>
            <a:lvl9pPr marL="6583516" indent="0" algn="ctr">
              <a:buNone/>
              <a:defRPr sz="2880"/>
            </a:lvl9pPr>
          </a:lstStyle>
          <a:p>
            <a:r>
              <a:rPr lang="en-US"/>
              <a:t>Click to edit Master subtitle style</a:t>
            </a:r>
          </a:p>
        </p:txBody>
      </p:sp>
      <p:sp>
        <p:nvSpPr>
          <p:cNvPr id="5" name="Date Placeholder 4">
            <a:extLst>
              <a:ext uri="{FF2B5EF4-FFF2-40B4-BE49-F238E27FC236}">
                <a16:creationId xmlns:a16="http://schemas.microsoft.com/office/drawing/2014/main" id="{5A968F03-5FE5-7E40-8FB7-D42BEAAF9682}"/>
              </a:ext>
            </a:extLst>
          </p:cNvPr>
          <p:cNvSpPr>
            <a:spLocks noGrp="1"/>
          </p:cNvSpPr>
          <p:nvPr>
            <p:ph type="dt" sz="half" idx="10"/>
          </p:nvPr>
        </p:nvSpPr>
        <p:spPr>
          <a:xfrm>
            <a:off x="1219200" y="12187182"/>
            <a:ext cx="5486400" cy="732368"/>
          </a:xfrm>
          <a:prstGeom prst="rect">
            <a:avLst/>
          </a:prstGeom>
        </p:spPr>
        <p:txBody>
          <a:bodyPr lIns="0" tIns="0" rIns="0" bIns="0"/>
          <a:lstStyle>
            <a:lvl1pPr>
              <a:defRPr>
                <a:solidFill>
                  <a:schemeClr val="accent1"/>
                </a:solidFill>
                <a:latin typeface="+mj-lt"/>
              </a:defRPr>
            </a:lvl1pPr>
          </a:lstStyle>
          <a:p>
            <a:r>
              <a:rPr lang="en-US"/>
              <a:t>May 2020</a:t>
            </a:r>
          </a:p>
        </p:txBody>
      </p:sp>
      <p:pic>
        <p:nvPicPr>
          <p:cNvPr id="8" name="Graphic 7">
            <a:extLst>
              <a:ext uri="{FF2B5EF4-FFF2-40B4-BE49-F238E27FC236}">
                <a16:creationId xmlns:a16="http://schemas.microsoft.com/office/drawing/2014/main" id="{8416369E-7467-854F-90E8-46A7AD79DA7B}"/>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1941870" y="12094464"/>
            <a:ext cx="1809504" cy="734552"/>
          </a:xfrm>
          <a:prstGeom prst="rect">
            <a:avLst/>
          </a:prstGeom>
        </p:spPr>
      </p:pic>
    </p:spTree>
    <p:extLst>
      <p:ext uri="{BB962C8B-B14F-4D97-AF65-F5344CB8AC3E}">
        <p14:creationId xmlns:p14="http://schemas.microsoft.com/office/powerpoint/2010/main" val="176300914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F6658-B25A-455C-B8F8-61908EE5B0A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232B52-8933-4CEF-BC0E-66977149CF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5D4F5E-AF4E-4F1B-8CEF-689B7D514ADF}"/>
              </a:ext>
            </a:extLst>
          </p:cNvPr>
          <p:cNvSpPr>
            <a:spLocks noGrp="1"/>
          </p:cNvSpPr>
          <p:nvPr>
            <p:ph type="dt" sz="half" idx="10"/>
          </p:nvPr>
        </p:nvSpPr>
        <p:spPr/>
        <p:txBody>
          <a:bodyPr/>
          <a:lstStyle/>
          <a:p>
            <a:fld id="{DDE5748F-D7FC-48D3-BB3F-645AD45ADC35}" type="datetimeFigureOut">
              <a:rPr lang="en-US" smtClean="0"/>
              <a:t>8/7/2024</a:t>
            </a:fld>
            <a:endParaRPr lang="en-US"/>
          </a:p>
        </p:txBody>
      </p:sp>
      <p:sp>
        <p:nvSpPr>
          <p:cNvPr id="5" name="Footer Placeholder 4">
            <a:extLst>
              <a:ext uri="{FF2B5EF4-FFF2-40B4-BE49-F238E27FC236}">
                <a16:creationId xmlns:a16="http://schemas.microsoft.com/office/drawing/2014/main" id="{D73C4E0D-F106-4973-A24C-E201450EF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635EE7-371B-482F-8869-F77DBA35389F}"/>
              </a:ext>
            </a:extLst>
          </p:cNvPr>
          <p:cNvSpPr>
            <a:spLocks noGrp="1"/>
          </p:cNvSpPr>
          <p:nvPr>
            <p:ph type="sldNum" sz="quarter" idx="12"/>
          </p:nvPr>
        </p:nvSpPr>
        <p:spPr/>
        <p:txBody>
          <a:bodyPr/>
          <a:lstStyle/>
          <a:p>
            <a:fld id="{48204BB8-AF2B-4616-88EF-F84E41B764D0}" type="slidenum">
              <a:rPr lang="en-US" smtClean="0"/>
              <a:t>‹#›</a:t>
            </a:fld>
            <a:endParaRPr lang="en-US"/>
          </a:p>
        </p:txBody>
      </p:sp>
    </p:spTree>
    <p:extLst>
      <p:ext uri="{BB962C8B-B14F-4D97-AF65-F5344CB8AC3E}">
        <p14:creationId xmlns:p14="http://schemas.microsoft.com/office/powerpoint/2010/main" val="20050655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23BF35-0F17-3B09-C4D4-C876CD26FE59}"/>
              </a:ext>
            </a:extLst>
          </p:cNvPr>
          <p:cNvSpPr>
            <a:spLocks noGrp="1"/>
          </p:cNvSpPr>
          <p:nvPr>
            <p:ph type="title"/>
          </p:nvPr>
        </p:nvSpPr>
        <p:spPr>
          <a:xfrm>
            <a:off x="1676400" y="730251"/>
            <a:ext cx="21031200" cy="265112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7B9D35-024F-B1AF-4B41-A16BD5438468}"/>
              </a:ext>
            </a:extLst>
          </p:cNvPr>
          <p:cNvSpPr>
            <a:spLocks noGrp="1"/>
          </p:cNvSpPr>
          <p:nvPr>
            <p:ph type="body" idx="1"/>
          </p:nvPr>
        </p:nvSpPr>
        <p:spPr>
          <a:xfrm>
            <a:off x="1676400" y="3651250"/>
            <a:ext cx="21031200"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8E312638-F536-6C3A-9911-5AA3061EE2CA}"/>
              </a:ext>
            </a:extLst>
          </p:cNvPr>
          <p:cNvSpPr>
            <a:spLocks noGrp="1"/>
          </p:cNvSpPr>
          <p:nvPr>
            <p:ph type="sldNum" sz="quarter" idx="4"/>
          </p:nvPr>
        </p:nvSpPr>
        <p:spPr>
          <a:xfrm>
            <a:off x="17221200" y="12712701"/>
            <a:ext cx="5486400" cy="730250"/>
          </a:xfrm>
          <a:prstGeom prst="rect">
            <a:avLst/>
          </a:prstGeom>
        </p:spPr>
        <p:txBody>
          <a:bodyPr vert="horz" lIns="91440" tIns="45720" rIns="91440" bIns="45720" rtlCol="0" anchor="ctr"/>
          <a:lstStyle>
            <a:lvl1pPr algn="r">
              <a:defRPr sz="1800">
                <a:solidFill>
                  <a:schemeClr val="tx1">
                    <a:tint val="75000"/>
                  </a:schemeClr>
                </a:solidFill>
                <a:latin typeface="Poppins" panose="00000500000000000000" pitchFamily="2" charset="0"/>
                <a:cs typeface="Poppins" panose="00000500000000000000" pitchFamily="2" charset="0"/>
              </a:defRPr>
            </a:lvl1pPr>
          </a:lstStyle>
          <a:p>
            <a:fld id="{86CB4B4D-7CA3-9044-876B-883B54F8677D}" type="slidenum">
              <a:rPr lang="en-CA" smtClean="0"/>
              <a:pPr/>
              <a:t>‹#›</a:t>
            </a:fld>
            <a:endParaRPr lang="en-CA"/>
          </a:p>
        </p:txBody>
      </p:sp>
    </p:spTree>
    <p:extLst>
      <p:ext uri="{BB962C8B-B14F-4D97-AF65-F5344CB8AC3E}">
        <p14:creationId xmlns:p14="http://schemas.microsoft.com/office/powerpoint/2010/main" val="338761578"/>
      </p:ext>
    </p:extLst>
  </p:cSld>
  <p:clrMap bg1="lt1" tx1="dk1" bg2="lt2" tx2="dk2" accent1="accent1" accent2="accent2" accent3="accent3" accent4="accent4" accent5="accent5" accent6="accent6" hlink="hlink" folHlink="folHlink"/>
  <p:sldLayoutIdLst>
    <p:sldLayoutId id="2147483671" r:id="rId1"/>
    <p:sldLayoutId id="2147483677" r:id="rId2"/>
    <p:sldLayoutId id="2147483678" r:id="rId3"/>
  </p:sldLayoutIdLst>
  <p:hf hdr="0" dt="0"/>
  <p:txStyles>
    <p:titleStyle>
      <a:lvl1pPr algn="l" defTabSz="1828800" rtl="0" eaLnBrk="1" latinLnBrk="0" hangingPunct="1">
        <a:lnSpc>
          <a:spcPct val="90000"/>
        </a:lnSpc>
        <a:spcBef>
          <a:spcPct val="0"/>
        </a:spcBef>
        <a:buNone/>
        <a:defRPr sz="4400" kern="1200">
          <a:solidFill>
            <a:srgbClr val="0E1D42"/>
          </a:solidFill>
          <a:latin typeface="Poppins" pitchFamily="2" charset="77"/>
          <a:ea typeface="+mj-ea"/>
          <a:cs typeface="Poppins" pitchFamily="2" charset="77"/>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4400" kern="1200">
          <a:solidFill>
            <a:schemeClr val="tx1"/>
          </a:solidFill>
          <a:latin typeface="Poppins" pitchFamily="2" charset="77"/>
          <a:ea typeface="+mn-ea"/>
          <a:cs typeface="Poppins" pitchFamily="2" charset="77"/>
        </a:defRPr>
      </a:lvl1pPr>
      <a:lvl2pPr marL="13716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Poppins" pitchFamily="2" charset="77"/>
          <a:ea typeface="+mn-ea"/>
          <a:cs typeface="Poppins" pitchFamily="2" charset="77"/>
        </a:defRPr>
      </a:lvl2pPr>
      <a:lvl3pPr marL="22860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3pPr>
      <a:lvl4pPr marL="3200400" indent="-457200" algn="l" defTabSz="1828800" rtl="0" eaLnBrk="1" latinLnBrk="0" hangingPunct="1">
        <a:lnSpc>
          <a:spcPct val="90000"/>
        </a:lnSpc>
        <a:spcBef>
          <a:spcPts val="1000"/>
        </a:spcBef>
        <a:buFont typeface="Arial" panose="020B0604020202020204" pitchFamily="34" charset="0"/>
        <a:buChar char="•"/>
        <a:defRPr sz="2400" kern="1200">
          <a:solidFill>
            <a:schemeClr val="tx1"/>
          </a:solidFill>
          <a:latin typeface="Poppins" pitchFamily="2" charset="77"/>
          <a:ea typeface="+mn-ea"/>
          <a:cs typeface="Poppins" pitchFamily="2" charset="77"/>
        </a:defRPr>
      </a:lvl4pPr>
      <a:lvl5pPr marL="4114800" indent="-457200" algn="l" defTabSz="1828800" rtl="0" eaLnBrk="1" latinLnBrk="0" hangingPunct="1">
        <a:lnSpc>
          <a:spcPct val="90000"/>
        </a:lnSpc>
        <a:spcBef>
          <a:spcPts val="1000"/>
        </a:spcBef>
        <a:buFont typeface="Arial" panose="020B0604020202020204" pitchFamily="34" charset="0"/>
        <a:buChar char="•"/>
        <a:defRPr sz="2000" kern="1200">
          <a:solidFill>
            <a:schemeClr val="tx1"/>
          </a:solidFill>
          <a:latin typeface="Poppins" pitchFamily="2" charset="77"/>
          <a:ea typeface="+mn-ea"/>
          <a:cs typeface="Poppins" pitchFamily="2" charset="77"/>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320" userDrawn="1">
          <p15:clr>
            <a:srgbClr val="F26B43"/>
          </p15:clr>
        </p15:guide>
        <p15:guide id="2" pos="76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03CC6-D9E2-4130-BEB1-A50D4625AA21}"/>
              </a:ext>
            </a:extLst>
          </p:cNvPr>
          <p:cNvSpPr>
            <a:spLocks noGrp="1"/>
          </p:cNvSpPr>
          <p:nvPr>
            <p:ph type="ctrTitle"/>
          </p:nvPr>
        </p:nvSpPr>
        <p:spPr>
          <a:xfrm>
            <a:off x="1219200" y="2489205"/>
            <a:ext cx="20836128" cy="7752082"/>
          </a:xfrm>
        </p:spPr>
        <p:txBody>
          <a:bodyPr/>
          <a:lstStyle/>
          <a:p>
            <a:r>
              <a:rPr lang="en-US" sz="6600" dirty="0">
                <a:solidFill>
                  <a:schemeClr val="bg1"/>
                </a:solidFill>
              </a:rPr>
              <a:t>Scene+: Schema validation at API management </a:t>
            </a:r>
            <a:endParaRPr lang="en-CA" sz="6600" dirty="0">
              <a:solidFill>
                <a:schemeClr val="bg1"/>
              </a:solidFill>
            </a:endParaRPr>
          </a:p>
        </p:txBody>
      </p:sp>
      <p:sp>
        <p:nvSpPr>
          <p:cNvPr id="4" name="Date Placeholder 3">
            <a:extLst>
              <a:ext uri="{FF2B5EF4-FFF2-40B4-BE49-F238E27FC236}">
                <a16:creationId xmlns:a16="http://schemas.microsoft.com/office/drawing/2014/main" id="{4F841CB5-89B1-45BB-B72E-A64A6347B6C5}"/>
              </a:ext>
            </a:extLst>
          </p:cNvPr>
          <p:cNvSpPr>
            <a:spLocks noGrp="1"/>
          </p:cNvSpPr>
          <p:nvPr>
            <p:ph type="dt" sz="half" idx="10"/>
          </p:nvPr>
        </p:nvSpPr>
        <p:spPr/>
        <p:txBody>
          <a:bodyPr/>
          <a:lstStyle/>
          <a:p>
            <a:pPr defTabSz="1711756"/>
            <a:r>
              <a:rPr lang="en-US" dirty="0">
                <a:solidFill>
                  <a:srgbClr val="ECE8D4"/>
                </a:solidFill>
                <a:latin typeface="Century Gothic" panose="020B0502020202020204"/>
              </a:rPr>
              <a:t>Aug. 2024</a:t>
            </a:r>
          </a:p>
        </p:txBody>
      </p:sp>
    </p:spTree>
    <p:extLst>
      <p:ext uri="{BB962C8B-B14F-4D97-AF65-F5344CB8AC3E}">
        <p14:creationId xmlns:p14="http://schemas.microsoft.com/office/powerpoint/2010/main" val="2773058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1368900-3D75-8D03-668C-5037DBBAF7FD}"/>
              </a:ext>
            </a:extLst>
          </p:cNvPr>
          <p:cNvSpPr>
            <a:spLocks noGrp="1"/>
          </p:cNvSpPr>
          <p:nvPr>
            <p:ph idx="1"/>
          </p:nvPr>
        </p:nvSpPr>
        <p:spPr>
          <a:xfrm>
            <a:off x="1676400" y="1810512"/>
            <a:ext cx="21031200" cy="10543414"/>
          </a:xfrm>
        </p:spPr>
        <p:txBody>
          <a:bodyPr/>
          <a:lstStyle/>
          <a:p>
            <a:r>
              <a:rPr lang="en-US" b="0" i="0" dirty="0">
                <a:effectLst/>
                <a:latin typeface="__fkGroteskNeue_598ab8"/>
              </a:rPr>
              <a:t>With the new approach, schema and parameter-level validation will be captured at an early stage within the API Management (APIM) layer. </a:t>
            </a:r>
          </a:p>
          <a:p>
            <a:r>
              <a:rPr lang="en-US" b="0" i="0" dirty="0">
                <a:effectLst/>
                <a:latin typeface="__fkGroteskNeue_598ab8"/>
              </a:rPr>
              <a:t>This ensures that any malformed or bad requests are identified and returned to the client before reaching the backend services. </a:t>
            </a:r>
          </a:p>
          <a:p>
            <a:r>
              <a:rPr lang="en-US" dirty="0">
                <a:latin typeface="__fkGroteskNeue_598ab8"/>
              </a:rPr>
              <a:t>This will also</a:t>
            </a:r>
            <a:r>
              <a:rPr lang="en-US" b="0" i="0" dirty="0">
                <a:effectLst/>
                <a:latin typeface="__fkGroteskNeue_598ab8"/>
              </a:rPr>
              <a:t> prevent unnecessary traffic from burdening the backend systems.</a:t>
            </a:r>
          </a:p>
          <a:p>
            <a:r>
              <a:rPr lang="en-US" b="0" i="0" dirty="0">
                <a:effectLst/>
                <a:latin typeface="__fkGroteskNeue_598ab8"/>
              </a:rPr>
              <a:t>The backend services will continue to perform schema and business-level validations to catch any requests that bypass the APIM layer. </a:t>
            </a:r>
          </a:p>
          <a:p>
            <a:r>
              <a:rPr lang="en-US" b="0" i="0" dirty="0">
                <a:effectLst/>
                <a:latin typeface="__fkGroteskNeue_598ab8"/>
              </a:rPr>
              <a:t>We are leveraging the native capabilities of the APIM infrastructure to efficiently perform schema validation.</a:t>
            </a:r>
            <a:endParaRPr lang="en-US" dirty="0"/>
          </a:p>
        </p:txBody>
      </p:sp>
    </p:spTree>
    <p:extLst>
      <p:ext uri="{BB962C8B-B14F-4D97-AF65-F5344CB8AC3E}">
        <p14:creationId xmlns:p14="http://schemas.microsoft.com/office/powerpoint/2010/main" val="40009955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F4DA773-CF09-5A8D-AAF0-3D0DD936DF58}"/>
              </a:ext>
            </a:extLst>
          </p:cNvPr>
          <p:cNvPicPr>
            <a:picLocks noGrp="1" noChangeAspect="1"/>
          </p:cNvPicPr>
          <p:nvPr>
            <p:ph idx="1"/>
          </p:nvPr>
        </p:nvPicPr>
        <p:blipFill>
          <a:blip r:embed="rId2"/>
          <a:stretch>
            <a:fillRect/>
          </a:stretch>
        </p:blipFill>
        <p:spPr>
          <a:xfrm>
            <a:off x="4885682" y="1286932"/>
            <a:ext cx="14612636" cy="11142134"/>
          </a:xfrm>
          <a:prstGeom prst="rect">
            <a:avLst/>
          </a:prstGeom>
        </p:spPr>
      </p:pic>
    </p:spTree>
    <p:extLst>
      <p:ext uri="{BB962C8B-B14F-4D97-AF65-F5344CB8AC3E}">
        <p14:creationId xmlns:p14="http://schemas.microsoft.com/office/powerpoint/2010/main" val="1306751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B9FAEAF7-7FB6-E873-40C4-465F4BE06DC5}"/>
              </a:ext>
            </a:extLst>
          </p:cNvPr>
          <p:cNvPicPr>
            <a:picLocks noGrp="1" noChangeAspect="1"/>
          </p:cNvPicPr>
          <p:nvPr>
            <p:ph idx="1"/>
          </p:nvPr>
        </p:nvPicPr>
        <p:blipFill>
          <a:blip r:embed="rId2"/>
          <a:stretch>
            <a:fillRect/>
          </a:stretch>
        </p:blipFill>
        <p:spPr>
          <a:xfrm>
            <a:off x="1286934" y="2305135"/>
            <a:ext cx="21810132" cy="9105728"/>
          </a:xfrm>
          <a:prstGeom prst="rect">
            <a:avLst/>
          </a:prstGeom>
        </p:spPr>
      </p:pic>
    </p:spTree>
    <p:extLst>
      <p:ext uri="{BB962C8B-B14F-4D97-AF65-F5344CB8AC3E}">
        <p14:creationId xmlns:p14="http://schemas.microsoft.com/office/powerpoint/2010/main" val="115643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ABDB6CEA-ED25-8FA9-53E8-DEFB34564FD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016534" y="1286932"/>
            <a:ext cx="20350932" cy="11142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9911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223B6985-65D9-D529-8C4A-7955952E495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096381" y="1286932"/>
            <a:ext cx="18191238" cy="111421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791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03CC6-D9E2-4130-BEB1-A50D4625AA21}"/>
              </a:ext>
            </a:extLst>
          </p:cNvPr>
          <p:cNvSpPr>
            <a:spLocks noGrp="1"/>
          </p:cNvSpPr>
          <p:nvPr>
            <p:ph type="ctrTitle"/>
          </p:nvPr>
        </p:nvSpPr>
        <p:spPr>
          <a:xfrm>
            <a:off x="1219200" y="2489205"/>
            <a:ext cx="20836128" cy="7752082"/>
          </a:xfrm>
        </p:spPr>
        <p:txBody>
          <a:bodyPr/>
          <a:lstStyle/>
          <a:p>
            <a:r>
              <a:rPr lang="en-US" sz="6600" dirty="0">
                <a:solidFill>
                  <a:schemeClr val="bg1"/>
                </a:solidFill>
              </a:rPr>
              <a:t>Scene+: User migration from B2C to OKTA</a:t>
            </a:r>
            <a:endParaRPr lang="en-CA" sz="6600" dirty="0">
              <a:solidFill>
                <a:schemeClr val="bg1"/>
              </a:solidFill>
            </a:endParaRPr>
          </a:p>
        </p:txBody>
      </p:sp>
      <p:sp>
        <p:nvSpPr>
          <p:cNvPr id="4" name="Date Placeholder 3">
            <a:extLst>
              <a:ext uri="{FF2B5EF4-FFF2-40B4-BE49-F238E27FC236}">
                <a16:creationId xmlns:a16="http://schemas.microsoft.com/office/drawing/2014/main" id="{4F841CB5-89B1-45BB-B72E-A64A6347B6C5}"/>
              </a:ext>
            </a:extLst>
          </p:cNvPr>
          <p:cNvSpPr>
            <a:spLocks noGrp="1"/>
          </p:cNvSpPr>
          <p:nvPr>
            <p:ph type="dt" sz="half" idx="10"/>
          </p:nvPr>
        </p:nvSpPr>
        <p:spPr/>
        <p:txBody>
          <a:bodyPr/>
          <a:lstStyle/>
          <a:p>
            <a:pPr defTabSz="1711756"/>
            <a:r>
              <a:rPr lang="en-US" dirty="0">
                <a:solidFill>
                  <a:srgbClr val="ECE8D4"/>
                </a:solidFill>
                <a:latin typeface="Century Gothic" panose="020B0502020202020204"/>
              </a:rPr>
              <a:t>Aug 2024</a:t>
            </a:r>
          </a:p>
        </p:txBody>
      </p:sp>
    </p:spTree>
    <p:extLst>
      <p:ext uri="{BB962C8B-B14F-4D97-AF65-F5344CB8AC3E}">
        <p14:creationId xmlns:p14="http://schemas.microsoft.com/office/powerpoint/2010/main" val="4194280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B9F07-3301-26A0-8E41-B8A9287F31F1}"/>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8B3D6BD-9A36-9CC5-0C70-902125182D2F}"/>
              </a:ext>
            </a:extLst>
          </p:cNvPr>
          <p:cNvCxnSpPr>
            <a:cxnSpLocks/>
          </p:cNvCxnSpPr>
          <p:nvPr/>
        </p:nvCxnSpPr>
        <p:spPr>
          <a:xfrm>
            <a:off x="0" y="1375492"/>
            <a:ext cx="24384000" cy="0"/>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 Placeholder 2">
            <a:extLst>
              <a:ext uri="{FF2B5EF4-FFF2-40B4-BE49-F238E27FC236}">
                <a16:creationId xmlns:a16="http://schemas.microsoft.com/office/drawing/2014/main" id="{EA13C837-7B91-4D75-D163-0DA9A89E25FF}"/>
              </a:ext>
            </a:extLst>
          </p:cNvPr>
          <p:cNvSpPr txBox="1">
            <a:spLocks/>
          </p:cNvSpPr>
          <p:nvPr/>
        </p:nvSpPr>
        <p:spPr>
          <a:xfrm>
            <a:off x="935934" y="696807"/>
            <a:ext cx="23448065" cy="730250"/>
          </a:xfrm>
          <a:prstGeom prst="rect">
            <a:avLst/>
          </a:prstGeom>
        </p:spPr>
        <p:txBody>
          <a:bodyPr vert="horz" lIns="91440" tIns="45720" rIns="91440" bIns="45720" rtlCol="0">
            <a:noAutofit/>
          </a:bodyPr>
          <a:lstStyle>
            <a:lvl1pPr marL="12700" marR="1905" indent="0" algn="l" defTabSz="1828800" rtl="0" eaLnBrk="1" latinLnBrk="0" hangingPunct="1">
              <a:lnSpc>
                <a:spcPts val="4400"/>
              </a:lnSpc>
              <a:spcBef>
                <a:spcPts val="2000"/>
              </a:spcBef>
              <a:buFont typeface="Arial" panose="020B0604020202020204" pitchFamily="34" charset="0"/>
              <a:buNone/>
              <a:tabLst/>
              <a:defRPr lang="en-US" sz="6600" b="0" i="0" kern="1200" spc="-60" dirty="0">
                <a:solidFill>
                  <a:srgbClr val="0E1D42"/>
                </a:solidFill>
                <a:latin typeface="Poppins Medium" pitchFamily="2" charset="77"/>
                <a:ea typeface="+mn-ea"/>
                <a:cs typeface="Poppins Medium" pitchFamily="2" charset="77"/>
              </a:defRPr>
            </a:lvl1pPr>
            <a:lvl2pPr marL="13716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Poppins" pitchFamily="2" charset="77"/>
                <a:ea typeface="+mn-ea"/>
                <a:cs typeface="Poppins" pitchFamily="2" charset="77"/>
              </a:defRPr>
            </a:lvl2pPr>
            <a:lvl3pPr marL="22860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3pPr>
            <a:lvl4pPr marL="3200400" indent="-457200" algn="l" defTabSz="1828800" rtl="0" eaLnBrk="1" latinLnBrk="0" hangingPunct="1">
              <a:lnSpc>
                <a:spcPct val="90000"/>
              </a:lnSpc>
              <a:spcBef>
                <a:spcPts val="1000"/>
              </a:spcBef>
              <a:buFont typeface="Arial" panose="020B0604020202020204" pitchFamily="34" charset="0"/>
              <a:buChar char="•"/>
              <a:defRPr sz="2400" kern="1200">
                <a:solidFill>
                  <a:schemeClr val="tx1"/>
                </a:solidFill>
                <a:latin typeface="Poppins" pitchFamily="2" charset="77"/>
                <a:ea typeface="+mn-ea"/>
                <a:cs typeface="Poppins" pitchFamily="2" charset="77"/>
              </a:defRPr>
            </a:lvl4pPr>
            <a:lvl5pPr marL="4114800" indent="-457200" algn="l" defTabSz="1828800" rtl="0" eaLnBrk="1" latinLnBrk="0" hangingPunct="1">
              <a:lnSpc>
                <a:spcPct val="90000"/>
              </a:lnSpc>
              <a:spcBef>
                <a:spcPts val="1000"/>
              </a:spcBef>
              <a:buFont typeface="Arial" panose="020B0604020202020204" pitchFamily="34" charset="0"/>
              <a:buChar char="•"/>
              <a:defRPr sz="2000" kern="1200">
                <a:solidFill>
                  <a:schemeClr val="tx1"/>
                </a:solidFill>
                <a:latin typeface="Poppins" pitchFamily="2" charset="77"/>
                <a:ea typeface="+mn-ea"/>
                <a:cs typeface="Poppins" pitchFamily="2" charset="77"/>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sz="4000" dirty="0">
                <a:latin typeface="Poppins Medium" panose="00000600000000000000" pitchFamily="2" charset="0"/>
                <a:cs typeface="Poppins Medium" panose="00000600000000000000" pitchFamily="2" charset="0"/>
              </a:rPr>
              <a:t>Lazy Migration (During first time login)</a:t>
            </a:r>
          </a:p>
        </p:txBody>
      </p:sp>
      <p:sp>
        <p:nvSpPr>
          <p:cNvPr id="61" name="Slide Number Placeholder 1">
            <a:extLst>
              <a:ext uri="{FF2B5EF4-FFF2-40B4-BE49-F238E27FC236}">
                <a16:creationId xmlns:a16="http://schemas.microsoft.com/office/drawing/2014/main" id="{710F652D-DA24-EAD8-DCE6-555DF57A3F80}"/>
              </a:ext>
            </a:extLst>
          </p:cNvPr>
          <p:cNvSpPr>
            <a:spLocks noGrp="1"/>
          </p:cNvSpPr>
          <p:nvPr>
            <p:ph type="sldNum" sz="quarter" idx="12"/>
          </p:nvPr>
        </p:nvSpPr>
        <p:spPr>
          <a:xfrm>
            <a:off x="17240250" y="12258342"/>
            <a:ext cx="5486400" cy="730250"/>
          </a:xfrm>
        </p:spPr>
        <p:txBody>
          <a:bodyPr/>
          <a:lstStyle/>
          <a:p>
            <a:fld id="{86CB4B4D-7CA3-9044-876B-883B54F8677D}" type="slidenum">
              <a:rPr lang="en-CA" smtClean="0"/>
              <a:t>8</a:t>
            </a:fld>
            <a:endParaRPr lang="en-CA"/>
          </a:p>
        </p:txBody>
      </p:sp>
      <p:graphicFrame>
        <p:nvGraphicFramePr>
          <p:cNvPr id="2" name="Table 4">
            <a:extLst>
              <a:ext uri="{FF2B5EF4-FFF2-40B4-BE49-F238E27FC236}">
                <a16:creationId xmlns:a16="http://schemas.microsoft.com/office/drawing/2014/main" id="{63C6FCCB-0481-D311-833B-2A2DCFDF8FBB}"/>
              </a:ext>
            </a:extLst>
          </p:cNvPr>
          <p:cNvGraphicFramePr>
            <a:graphicFrameLocks noGrp="1"/>
          </p:cNvGraphicFramePr>
          <p:nvPr>
            <p:extLst>
              <p:ext uri="{D42A27DB-BD31-4B8C-83A1-F6EECF244321}">
                <p14:modId xmlns:p14="http://schemas.microsoft.com/office/powerpoint/2010/main" val="2125227899"/>
              </p:ext>
            </p:extLst>
          </p:nvPr>
        </p:nvGraphicFramePr>
        <p:xfrm>
          <a:off x="1067088" y="1955625"/>
          <a:ext cx="21659561" cy="9765332"/>
        </p:xfrm>
        <a:graphic>
          <a:graphicData uri="http://schemas.openxmlformats.org/drawingml/2006/table">
            <a:tbl>
              <a:tblPr firstRow="1" bandRow="1">
                <a:tableStyleId>{073A0DAA-6AF3-43AB-8588-CEC1D06C72B9}</a:tableStyleId>
              </a:tblPr>
              <a:tblGrid>
                <a:gridCol w="10420062">
                  <a:extLst>
                    <a:ext uri="{9D8B030D-6E8A-4147-A177-3AD203B41FA5}">
                      <a16:colId xmlns:a16="http://schemas.microsoft.com/office/drawing/2014/main" val="729512388"/>
                    </a:ext>
                  </a:extLst>
                </a:gridCol>
                <a:gridCol w="11239499">
                  <a:extLst>
                    <a:ext uri="{9D8B030D-6E8A-4147-A177-3AD203B41FA5}">
                      <a16:colId xmlns:a16="http://schemas.microsoft.com/office/drawing/2014/main" val="3498298724"/>
                    </a:ext>
                  </a:extLst>
                </a:gridCol>
              </a:tblGrid>
              <a:tr h="978075">
                <a:tc>
                  <a:txBody>
                    <a:bodyPr/>
                    <a:lstStyle/>
                    <a:p>
                      <a:r>
                        <a:rPr lang="en-CA" sz="2800" b="0" dirty="0">
                          <a:latin typeface="Poppins" panose="00000500000000000000" pitchFamily="2" charset="0"/>
                          <a:cs typeface="Poppins" panose="00000500000000000000" pitchFamily="2" charset="0"/>
                        </a:rPr>
                        <a:t>Flow</a:t>
                      </a:r>
                    </a:p>
                  </a:txBody>
                  <a:tcPr marL="182880" marR="182880" marT="91440" marB="91440" anchor="ctr">
                    <a:lnB w="12700" cap="flat" cmpd="sng" algn="ctr">
                      <a:solidFill>
                        <a:schemeClr val="tx1"/>
                      </a:solidFill>
                      <a:prstDash val="solid"/>
                      <a:round/>
                      <a:headEnd type="none" w="med" len="med"/>
                      <a:tailEnd type="none" w="med" len="med"/>
                    </a:lnB>
                    <a:solidFill>
                      <a:srgbClr val="0E1D42"/>
                    </a:solidFill>
                  </a:tcPr>
                </a:tc>
                <a:tc>
                  <a:txBody>
                    <a:bodyPr/>
                    <a:lstStyle/>
                    <a:p>
                      <a:r>
                        <a:rPr lang="en-CA" sz="2800" b="0" dirty="0">
                          <a:latin typeface="Poppins" panose="00000500000000000000" pitchFamily="2" charset="0"/>
                          <a:cs typeface="Poppins" panose="00000500000000000000" pitchFamily="2" charset="0"/>
                        </a:rPr>
                        <a:t>Pros</a:t>
                      </a:r>
                    </a:p>
                  </a:txBody>
                  <a:tcPr marL="182880" marR="182880" marT="91440" marB="91440" anchor="ctr">
                    <a:lnB w="12700" cap="flat" cmpd="sng" algn="ctr">
                      <a:solidFill>
                        <a:schemeClr val="tx1"/>
                      </a:solidFill>
                      <a:prstDash val="solid"/>
                      <a:round/>
                      <a:headEnd type="none" w="med" len="med"/>
                      <a:tailEnd type="none" w="med" len="med"/>
                    </a:lnB>
                    <a:solidFill>
                      <a:srgbClr val="0E1D42"/>
                    </a:solidFill>
                  </a:tcPr>
                </a:tc>
                <a:extLst>
                  <a:ext uri="{0D108BD9-81ED-4DB2-BD59-A6C34878D82A}">
                    <a16:rowId xmlns:a16="http://schemas.microsoft.com/office/drawing/2014/main" val="1681483209"/>
                  </a:ext>
                </a:extLst>
              </a:tr>
              <a:tr h="792480">
                <a:tc rowSpan="3">
                  <a:txBody>
                    <a:bodyPr/>
                    <a:lstStyle/>
                    <a:p>
                      <a:pPr marL="0" indent="0">
                        <a:buFont typeface="+mj-lt"/>
                        <a:buNone/>
                      </a:pPr>
                      <a:endParaRPr lang="en-US" sz="2400" b="0" dirty="0">
                        <a:solidFill>
                          <a:schemeClr val="tx1"/>
                        </a:solidFill>
                        <a:latin typeface="Poppins" panose="00000500000000000000" pitchFamily="2" charset="0"/>
                        <a:cs typeface="Poppins" panose="00000500000000000000" pitchFamily="2" charset="0"/>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US" sz="2400" kern="1200" dirty="0">
                          <a:solidFill>
                            <a:schemeClr val="tx1"/>
                          </a:solidFill>
                          <a:effectLst/>
                          <a:latin typeface="Poppins" panose="00000500000000000000" pitchFamily="2" charset="0"/>
                          <a:ea typeface="+mn-ea"/>
                          <a:cs typeface="Poppins" panose="00000500000000000000" pitchFamily="2" charset="0"/>
                        </a:rPr>
                        <a:t>Migration of users without downtime </a:t>
                      </a:r>
                    </a:p>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US" sz="2400" kern="1200" dirty="0">
                          <a:solidFill>
                            <a:schemeClr val="tx1"/>
                          </a:solidFill>
                          <a:effectLst/>
                          <a:latin typeface="Poppins" panose="00000500000000000000" pitchFamily="2" charset="0"/>
                          <a:ea typeface="+mn-ea"/>
                          <a:cs typeface="Poppins" panose="00000500000000000000" pitchFamily="2" charset="0"/>
                        </a:rPr>
                        <a:t>Allow users to migrate their 2FA setup </a:t>
                      </a:r>
                    </a:p>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US" sz="2400" kern="1200" dirty="0">
                          <a:solidFill>
                            <a:schemeClr val="tx1"/>
                          </a:solidFill>
                          <a:effectLst/>
                          <a:latin typeface="Poppins" panose="00000500000000000000" pitchFamily="2" charset="0"/>
                          <a:ea typeface="+mn-ea"/>
                          <a:cs typeface="Poppins" panose="00000500000000000000" pitchFamily="2" charset="0"/>
                        </a:rPr>
                        <a:t>Migrate users with their current passwords hence seamless migration experience for end users.</a:t>
                      </a: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0907926"/>
                  </a:ext>
                </a:extLst>
              </a:tr>
              <a:tr h="792480">
                <a:tc vMerge="1">
                  <a:txBody>
                    <a:bodyPr/>
                    <a:lstStyle/>
                    <a:p>
                      <a:pPr marL="457200" indent="-457200">
                        <a:buFont typeface="+mj-lt"/>
                        <a:buAutoNum type="arabicPeriod"/>
                      </a:pPr>
                      <a:endParaRPr lang="en-US" sz="2400" b="0" dirty="0">
                        <a:solidFill>
                          <a:schemeClr val="tx1"/>
                        </a:solidFill>
                        <a:latin typeface="Poppins" panose="00000500000000000000" pitchFamily="2" charset="0"/>
                        <a:cs typeface="Poppins" panose="00000500000000000000" pitchFamily="2" charset="0"/>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1828800" rtl="0" eaLnBrk="1" fontAlgn="auto" latinLnBrk="0" hangingPunct="1">
                        <a:lnSpc>
                          <a:spcPct val="107000"/>
                        </a:lnSpc>
                        <a:spcBef>
                          <a:spcPts val="0"/>
                        </a:spcBef>
                        <a:spcAft>
                          <a:spcPts val="600"/>
                        </a:spcAft>
                        <a:buClrTx/>
                        <a:buSzTx/>
                        <a:buFont typeface="Arial" panose="020B0604020202020204" pitchFamily="34" charset="0"/>
                        <a:buNone/>
                        <a:tabLst/>
                        <a:defRPr/>
                      </a:pPr>
                      <a:r>
                        <a:rPr lang="en-CA" sz="2800" b="0" kern="1200" dirty="0">
                          <a:solidFill>
                            <a:schemeClr val="lt1"/>
                          </a:solidFill>
                          <a:latin typeface="Poppins" panose="00000500000000000000" pitchFamily="2" charset="0"/>
                          <a:ea typeface="+mn-ea"/>
                          <a:cs typeface="Poppins" panose="00000500000000000000" pitchFamily="2" charset="0"/>
                        </a:rPr>
                        <a:t>Cons</a:t>
                      </a:r>
                      <a:endParaRPr lang="en-US" sz="2800" b="0" kern="1200" dirty="0">
                        <a:solidFill>
                          <a:schemeClr val="lt1"/>
                        </a:solidFill>
                        <a:latin typeface="Poppins" panose="00000500000000000000" pitchFamily="2" charset="0"/>
                        <a:ea typeface="+mn-ea"/>
                        <a:cs typeface="Poppins" panose="00000500000000000000" pitchFamily="2" charset="0"/>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solidFill>
                  </a:tcPr>
                </a:tc>
                <a:extLst>
                  <a:ext uri="{0D108BD9-81ED-4DB2-BD59-A6C34878D82A}">
                    <a16:rowId xmlns:a16="http://schemas.microsoft.com/office/drawing/2014/main" val="1340300148"/>
                  </a:ext>
                </a:extLst>
              </a:tr>
              <a:tr h="792480">
                <a:tc vMerge="1">
                  <a:txBody>
                    <a:bodyPr/>
                    <a:lstStyle/>
                    <a:p>
                      <a:pPr marL="457200" indent="-457200">
                        <a:buFont typeface="+mj-lt"/>
                        <a:buAutoNum type="arabicPeriod"/>
                      </a:pPr>
                      <a:endParaRPr lang="en-US" sz="2400" b="0" dirty="0">
                        <a:solidFill>
                          <a:schemeClr val="tx1"/>
                        </a:solidFill>
                        <a:latin typeface="Poppins" panose="00000500000000000000" pitchFamily="2" charset="0"/>
                        <a:cs typeface="Poppins" panose="00000500000000000000" pitchFamily="2" charset="0"/>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US" sz="2400" kern="1200">
                          <a:solidFill>
                            <a:schemeClr val="tx1"/>
                          </a:solidFill>
                          <a:effectLst/>
                          <a:latin typeface="Poppins" panose="00000500000000000000" pitchFamily="2" charset="0"/>
                          <a:ea typeface="+mn-ea"/>
                          <a:cs typeface="Poppins" panose="00000500000000000000" pitchFamily="2" charset="0"/>
                        </a:rPr>
                        <a:t>More time consuming overall to complete existing user migration </a:t>
                      </a:r>
                    </a:p>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US" sz="2400" kern="1200">
                          <a:solidFill>
                            <a:schemeClr val="tx1"/>
                          </a:solidFill>
                          <a:effectLst/>
                          <a:latin typeface="Poppins" panose="00000500000000000000" pitchFamily="2" charset="0"/>
                          <a:ea typeface="+mn-ea"/>
                          <a:cs typeface="Poppins" panose="00000500000000000000" pitchFamily="2" charset="0"/>
                        </a:rPr>
                        <a:t>Need to maintain both CIAM systems until all users are migrated to new platform  </a:t>
                      </a:r>
                    </a:p>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US" sz="2400" kern="1200">
                          <a:solidFill>
                            <a:schemeClr val="tx1"/>
                          </a:solidFill>
                          <a:effectLst/>
                          <a:latin typeface="Poppins" panose="00000500000000000000" pitchFamily="2" charset="0"/>
                          <a:ea typeface="+mn-ea"/>
                          <a:cs typeface="Poppins" panose="00000500000000000000" pitchFamily="2" charset="0"/>
                        </a:rPr>
                        <a:t>Revisit integration pattern in all backend systems / middle ware to ensure integration exists with both systems to get a complete view of users in B2C system until all users are migrated to new platform.  </a:t>
                      </a:r>
                    </a:p>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US" sz="2400" kern="1200">
                          <a:solidFill>
                            <a:schemeClr val="tx1"/>
                          </a:solidFill>
                          <a:effectLst/>
                          <a:latin typeface="Poppins" panose="00000500000000000000" pitchFamily="2" charset="0"/>
                          <a:ea typeface="+mn-ea"/>
                          <a:cs typeface="Poppins" panose="00000500000000000000" pitchFamily="2" charset="0"/>
                        </a:rPr>
                        <a:t>More impact on systems and employees. For instance, if a customer service representative needs to reset a password, they will have to determine if the user has been migrated to the new system or not before they can help a customer. </a:t>
                      </a:r>
                    </a:p>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r>
                        <a:rPr lang="en-US" sz="2400" kern="1200">
                          <a:solidFill>
                            <a:schemeClr val="tx1"/>
                          </a:solidFill>
                          <a:effectLst/>
                          <a:latin typeface="Poppins" panose="00000500000000000000" pitchFamily="2" charset="0"/>
                          <a:ea typeface="+mn-ea"/>
                          <a:cs typeface="Poppins" panose="00000500000000000000" pitchFamily="2" charset="0"/>
                        </a:rPr>
                        <a:t>No definite timeline to sunset existing Azure B2C leading to increased operational maintenance costs. </a:t>
                      </a:r>
                    </a:p>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endParaRPr lang="en-US" sz="2400" kern="1200">
                        <a:solidFill>
                          <a:schemeClr val="tx1"/>
                        </a:solidFill>
                        <a:effectLst/>
                        <a:latin typeface="Poppins" panose="00000500000000000000" pitchFamily="2" charset="0"/>
                        <a:ea typeface="+mn-ea"/>
                        <a:cs typeface="Poppins" panose="00000500000000000000" pitchFamily="2" charset="0"/>
                      </a:endParaRPr>
                    </a:p>
                    <a:p>
                      <a:pPr marL="457200" marR="0" lvl="0" indent="-457200" algn="l" defTabSz="1828800" rtl="0" eaLnBrk="1" fontAlgn="auto" latinLnBrk="0" hangingPunct="1">
                        <a:lnSpc>
                          <a:spcPct val="107000"/>
                        </a:lnSpc>
                        <a:spcBef>
                          <a:spcPts val="0"/>
                        </a:spcBef>
                        <a:spcAft>
                          <a:spcPts val="600"/>
                        </a:spcAft>
                        <a:buClrTx/>
                        <a:buSzTx/>
                        <a:buFont typeface="Arial" panose="020B0604020202020204" pitchFamily="34" charset="0"/>
                        <a:buChar char="•"/>
                        <a:tabLst/>
                        <a:defRPr/>
                      </a:pPr>
                      <a:endParaRPr lang="en-US" sz="2400" kern="1200">
                        <a:solidFill>
                          <a:schemeClr val="tx1"/>
                        </a:solidFill>
                        <a:effectLst/>
                        <a:latin typeface="Poppins" panose="00000500000000000000" pitchFamily="2" charset="0"/>
                        <a:ea typeface="+mn-ea"/>
                        <a:cs typeface="Poppins" panose="00000500000000000000" pitchFamily="2" charset="0"/>
                      </a:endParaRPr>
                    </a:p>
                  </a:txBody>
                  <a:tcPr marL="182880" marR="182880"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0557935"/>
                  </a:ext>
                </a:extLst>
              </a:tr>
            </a:tbl>
          </a:graphicData>
        </a:graphic>
      </p:graphicFrame>
      <p:pic>
        <p:nvPicPr>
          <p:cNvPr id="4" name="Graphic 3" descr="User outline">
            <a:extLst>
              <a:ext uri="{FF2B5EF4-FFF2-40B4-BE49-F238E27FC236}">
                <a16:creationId xmlns:a16="http://schemas.microsoft.com/office/drawing/2014/main" id="{534B1FA7-67A5-B8A3-DDBD-AD58B14B8A8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33600" y="3105150"/>
            <a:ext cx="914400" cy="914400"/>
          </a:xfrm>
          <a:prstGeom prst="rect">
            <a:avLst/>
          </a:prstGeom>
        </p:spPr>
      </p:pic>
      <p:sp>
        <p:nvSpPr>
          <p:cNvPr id="6" name="Rectangle 5">
            <a:extLst>
              <a:ext uri="{FF2B5EF4-FFF2-40B4-BE49-F238E27FC236}">
                <a16:creationId xmlns:a16="http://schemas.microsoft.com/office/drawing/2014/main" id="{CA2B49EF-0928-D1D3-D4B7-8A0255C6BD95}"/>
              </a:ext>
            </a:extLst>
          </p:cNvPr>
          <p:cNvSpPr/>
          <p:nvPr/>
        </p:nvSpPr>
        <p:spPr>
          <a:xfrm>
            <a:off x="1323974" y="4171950"/>
            <a:ext cx="2581275" cy="7302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Start</a:t>
            </a:r>
            <a:endParaRPr lang="en-US" dirty="0">
              <a:solidFill>
                <a:schemeClr val="tx1"/>
              </a:solidFill>
            </a:endParaRPr>
          </a:p>
        </p:txBody>
      </p:sp>
      <p:sp>
        <p:nvSpPr>
          <p:cNvPr id="7" name="Rectangle 6">
            <a:extLst>
              <a:ext uri="{FF2B5EF4-FFF2-40B4-BE49-F238E27FC236}">
                <a16:creationId xmlns:a16="http://schemas.microsoft.com/office/drawing/2014/main" id="{13CB5D00-AAF6-FD8D-F441-4E2AB49AB86B}"/>
              </a:ext>
            </a:extLst>
          </p:cNvPr>
          <p:cNvSpPr/>
          <p:nvPr/>
        </p:nvSpPr>
        <p:spPr>
          <a:xfrm>
            <a:off x="1323974" y="5849466"/>
            <a:ext cx="2581275" cy="11484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Is user in Auth0?</a:t>
            </a:r>
            <a:endParaRPr lang="en-US" dirty="0">
              <a:solidFill>
                <a:schemeClr val="tx1"/>
              </a:solidFill>
            </a:endParaRPr>
          </a:p>
        </p:txBody>
      </p:sp>
      <p:sp>
        <p:nvSpPr>
          <p:cNvPr id="8" name="Rectangle 7">
            <a:extLst>
              <a:ext uri="{FF2B5EF4-FFF2-40B4-BE49-F238E27FC236}">
                <a16:creationId xmlns:a16="http://schemas.microsoft.com/office/drawing/2014/main" id="{A2D78D49-C76B-959E-170B-78E220E2D01F}"/>
              </a:ext>
            </a:extLst>
          </p:cNvPr>
          <p:cNvSpPr/>
          <p:nvPr/>
        </p:nvSpPr>
        <p:spPr>
          <a:xfrm>
            <a:off x="4729161" y="5849466"/>
            <a:ext cx="2581275" cy="11484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Validate username and password against B2C</a:t>
            </a:r>
            <a:endParaRPr lang="en-US" dirty="0">
              <a:solidFill>
                <a:schemeClr val="tx1"/>
              </a:solidFill>
            </a:endParaRPr>
          </a:p>
        </p:txBody>
      </p:sp>
      <p:sp>
        <p:nvSpPr>
          <p:cNvPr id="9" name="Rectangle 8">
            <a:extLst>
              <a:ext uri="{FF2B5EF4-FFF2-40B4-BE49-F238E27FC236}">
                <a16:creationId xmlns:a16="http://schemas.microsoft.com/office/drawing/2014/main" id="{7A474234-516B-24F7-56FF-E46BA842A745}"/>
              </a:ext>
            </a:extLst>
          </p:cNvPr>
          <p:cNvSpPr/>
          <p:nvPr/>
        </p:nvSpPr>
        <p:spPr>
          <a:xfrm>
            <a:off x="8134349" y="5849466"/>
            <a:ext cx="2581274" cy="112953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Generate access token, id token</a:t>
            </a:r>
            <a:endParaRPr lang="en-US" dirty="0">
              <a:solidFill>
                <a:schemeClr val="tx1"/>
              </a:solidFill>
            </a:endParaRPr>
          </a:p>
        </p:txBody>
      </p:sp>
      <p:sp>
        <p:nvSpPr>
          <p:cNvPr id="10" name="Rectangle 9">
            <a:extLst>
              <a:ext uri="{FF2B5EF4-FFF2-40B4-BE49-F238E27FC236}">
                <a16:creationId xmlns:a16="http://schemas.microsoft.com/office/drawing/2014/main" id="{9F8F8E02-39B5-1194-2508-C6ECDDC564A3}"/>
              </a:ext>
            </a:extLst>
          </p:cNvPr>
          <p:cNvSpPr/>
          <p:nvPr/>
        </p:nvSpPr>
        <p:spPr>
          <a:xfrm>
            <a:off x="4729162" y="7699711"/>
            <a:ext cx="2581274" cy="114840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Store the user (with claims) and password hash in Auth0</a:t>
            </a:r>
            <a:endParaRPr lang="en-US" dirty="0">
              <a:solidFill>
                <a:schemeClr val="tx1"/>
              </a:solidFill>
            </a:endParaRPr>
          </a:p>
        </p:txBody>
      </p:sp>
      <p:sp>
        <p:nvSpPr>
          <p:cNvPr id="11" name="Rectangle 10">
            <a:extLst>
              <a:ext uri="{FF2B5EF4-FFF2-40B4-BE49-F238E27FC236}">
                <a16:creationId xmlns:a16="http://schemas.microsoft.com/office/drawing/2014/main" id="{2FEC5D47-BA81-AA48-E1A9-7F3A0637C7E5}"/>
              </a:ext>
            </a:extLst>
          </p:cNvPr>
          <p:cNvSpPr/>
          <p:nvPr/>
        </p:nvSpPr>
        <p:spPr>
          <a:xfrm>
            <a:off x="1323974" y="7699710"/>
            <a:ext cx="2581275" cy="11484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Is the password valid in Auth0?</a:t>
            </a:r>
            <a:endParaRPr lang="en-US" dirty="0">
              <a:solidFill>
                <a:schemeClr val="tx1"/>
              </a:solidFill>
            </a:endParaRPr>
          </a:p>
        </p:txBody>
      </p:sp>
      <p:sp>
        <p:nvSpPr>
          <p:cNvPr id="12" name="Rectangle 11">
            <a:extLst>
              <a:ext uri="{FF2B5EF4-FFF2-40B4-BE49-F238E27FC236}">
                <a16:creationId xmlns:a16="http://schemas.microsoft.com/office/drawing/2014/main" id="{3BE8E839-A426-C9DD-A08B-BFDE627C4226}"/>
              </a:ext>
            </a:extLst>
          </p:cNvPr>
          <p:cNvSpPr/>
          <p:nvPr/>
        </p:nvSpPr>
        <p:spPr>
          <a:xfrm>
            <a:off x="3095625" y="9711111"/>
            <a:ext cx="2581275" cy="11484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dirty="0">
                <a:solidFill>
                  <a:schemeClr val="tx1"/>
                </a:solidFill>
              </a:rPr>
              <a:t>Success</a:t>
            </a:r>
            <a:endParaRPr lang="en-US" dirty="0">
              <a:solidFill>
                <a:schemeClr val="tx1"/>
              </a:solidFill>
            </a:endParaRPr>
          </a:p>
        </p:txBody>
      </p:sp>
      <p:cxnSp>
        <p:nvCxnSpPr>
          <p:cNvPr id="15" name="Straight Arrow Connector 14">
            <a:extLst>
              <a:ext uri="{FF2B5EF4-FFF2-40B4-BE49-F238E27FC236}">
                <a16:creationId xmlns:a16="http://schemas.microsoft.com/office/drawing/2014/main" id="{CD2862A4-958D-F0EF-D394-870B2933A9AF}"/>
              </a:ext>
            </a:extLst>
          </p:cNvPr>
          <p:cNvCxnSpPr>
            <a:cxnSpLocks/>
            <a:stCxn id="6" idx="2"/>
            <a:endCxn id="7" idx="0"/>
          </p:cNvCxnSpPr>
          <p:nvPr/>
        </p:nvCxnSpPr>
        <p:spPr>
          <a:xfrm>
            <a:off x="2614612" y="4902200"/>
            <a:ext cx="0" cy="9472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EC40FA6-448F-F3F0-53E4-BB1E624153BB}"/>
              </a:ext>
            </a:extLst>
          </p:cNvPr>
          <p:cNvCxnSpPr>
            <a:cxnSpLocks/>
            <a:endCxn id="8" idx="1"/>
          </p:cNvCxnSpPr>
          <p:nvPr/>
        </p:nvCxnSpPr>
        <p:spPr>
          <a:xfrm>
            <a:off x="3905249" y="6423671"/>
            <a:ext cx="82391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1459E839-2574-5263-EE0F-05C8B483EAEB}"/>
              </a:ext>
            </a:extLst>
          </p:cNvPr>
          <p:cNvCxnSpPr>
            <a:cxnSpLocks/>
            <a:stCxn id="7" idx="2"/>
            <a:endCxn id="11" idx="0"/>
          </p:cNvCxnSpPr>
          <p:nvPr/>
        </p:nvCxnSpPr>
        <p:spPr>
          <a:xfrm>
            <a:off x="2614612" y="6997875"/>
            <a:ext cx="0" cy="701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C419DDF-1731-1323-C9EA-4D1248D8AD38}"/>
              </a:ext>
            </a:extLst>
          </p:cNvPr>
          <p:cNvCxnSpPr>
            <a:cxnSpLocks/>
            <a:stCxn id="8" idx="3"/>
            <a:endCxn id="9" idx="1"/>
          </p:cNvCxnSpPr>
          <p:nvPr/>
        </p:nvCxnSpPr>
        <p:spPr>
          <a:xfrm flipV="1">
            <a:off x="7310436" y="6414233"/>
            <a:ext cx="823913" cy="9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43503617-38A2-5485-9762-26888D1576AF}"/>
              </a:ext>
            </a:extLst>
          </p:cNvPr>
          <p:cNvCxnSpPr>
            <a:cxnSpLocks/>
          </p:cNvCxnSpPr>
          <p:nvPr/>
        </p:nvCxnSpPr>
        <p:spPr>
          <a:xfrm flipH="1">
            <a:off x="7310436" y="6858000"/>
            <a:ext cx="8239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FA3127BF-9EA0-B6A4-D5A0-EB364A343466}"/>
              </a:ext>
            </a:extLst>
          </p:cNvPr>
          <p:cNvCxnSpPr>
            <a:cxnSpLocks/>
            <a:stCxn id="8" idx="2"/>
            <a:endCxn id="10" idx="0"/>
          </p:cNvCxnSpPr>
          <p:nvPr/>
        </p:nvCxnSpPr>
        <p:spPr>
          <a:xfrm>
            <a:off x="6019799" y="6997875"/>
            <a:ext cx="0" cy="7018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F703ACB5-25B3-8574-8C3D-EB8D0ACAD003}"/>
              </a:ext>
            </a:extLst>
          </p:cNvPr>
          <p:cNvCxnSpPr>
            <a:stCxn id="10" idx="2"/>
            <a:endCxn id="12" idx="0"/>
          </p:cNvCxnSpPr>
          <p:nvPr/>
        </p:nvCxnSpPr>
        <p:spPr>
          <a:xfrm rot="5400000">
            <a:off x="4771535" y="8462847"/>
            <a:ext cx="862992" cy="163353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A35D1D25-FA55-ACF1-D965-789BF1CCF1C7}"/>
              </a:ext>
            </a:extLst>
          </p:cNvPr>
          <p:cNvCxnSpPr>
            <a:cxnSpLocks/>
            <a:stCxn id="11" idx="2"/>
            <a:endCxn id="12" idx="0"/>
          </p:cNvCxnSpPr>
          <p:nvPr/>
        </p:nvCxnSpPr>
        <p:spPr>
          <a:xfrm rot="16200000" flipH="1">
            <a:off x="3068941" y="8393789"/>
            <a:ext cx="862992" cy="177165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5DD390E6-8DDC-5A70-E7BE-F3ABC0878789}"/>
              </a:ext>
            </a:extLst>
          </p:cNvPr>
          <p:cNvSpPr txBox="1"/>
          <p:nvPr/>
        </p:nvSpPr>
        <p:spPr>
          <a:xfrm>
            <a:off x="4133272" y="6054339"/>
            <a:ext cx="486030" cy="369332"/>
          </a:xfrm>
          <a:prstGeom prst="rect">
            <a:avLst/>
          </a:prstGeom>
          <a:noFill/>
        </p:spPr>
        <p:txBody>
          <a:bodyPr wrap="none" rtlCol="0">
            <a:spAutoFit/>
          </a:bodyPr>
          <a:lstStyle/>
          <a:p>
            <a:r>
              <a:rPr lang="en-CA" dirty="0"/>
              <a:t>NO</a:t>
            </a:r>
            <a:endParaRPr lang="en-US" dirty="0"/>
          </a:p>
        </p:txBody>
      </p:sp>
      <p:sp>
        <p:nvSpPr>
          <p:cNvPr id="45" name="TextBox 44">
            <a:extLst>
              <a:ext uri="{FF2B5EF4-FFF2-40B4-BE49-F238E27FC236}">
                <a16:creationId xmlns:a16="http://schemas.microsoft.com/office/drawing/2014/main" id="{E4F23C76-A0C4-1CF8-B892-21980D3D5864}"/>
              </a:ext>
            </a:extLst>
          </p:cNvPr>
          <p:cNvSpPr txBox="1"/>
          <p:nvPr/>
        </p:nvSpPr>
        <p:spPr>
          <a:xfrm>
            <a:off x="2852610" y="7226893"/>
            <a:ext cx="512641" cy="369332"/>
          </a:xfrm>
          <a:prstGeom prst="rect">
            <a:avLst/>
          </a:prstGeom>
          <a:noFill/>
        </p:spPr>
        <p:txBody>
          <a:bodyPr wrap="none" rtlCol="0">
            <a:spAutoFit/>
          </a:bodyPr>
          <a:lstStyle/>
          <a:p>
            <a:r>
              <a:rPr lang="en-CA" dirty="0"/>
              <a:t>YES</a:t>
            </a:r>
            <a:endParaRPr lang="en-US" dirty="0"/>
          </a:p>
        </p:txBody>
      </p:sp>
      <p:sp>
        <p:nvSpPr>
          <p:cNvPr id="46" name="TextBox 45">
            <a:extLst>
              <a:ext uri="{FF2B5EF4-FFF2-40B4-BE49-F238E27FC236}">
                <a16:creationId xmlns:a16="http://schemas.microsoft.com/office/drawing/2014/main" id="{7F44B367-16C5-0591-4BCC-3DEF799065E8}"/>
              </a:ext>
            </a:extLst>
          </p:cNvPr>
          <p:cNvSpPr txBox="1"/>
          <p:nvPr/>
        </p:nvSpPr>
        <p:spPr>
          <a:xfrm>
            <a:off x="4160449" y="8815851"/>
            <a:ext cx="512641" cy="369332"/>
          </a:xfrm>
          <a:prstGeom prst="rect">
            <a:avLst/>
          </a:prstGeom>
          <a:noFill/>
        </p:spPr>
        <p:txBody>
          <a:bodyPr wrap="none" rtlCol="0">
            <a:spAutoFit/>
          </a:bodyPr>
          <a:lstStyle/>
          <a:p>
            <a:r>
              <a:rPr lang="en-CA" dirty="0"/>
              <a:t>YES</a:t>
            </a:r>
            <a:endParaRPr lang="en-US" dirty="0"/>
          </a:p>
        </p:txBody>
      </p:sp>
      <p:sp>
        <p:nvSpPr>
          <p:cNvPr id="47" name="TextBox 46">
            <a:extLst>
              <a:ext uri="{FF2B5EF4-FFF2-40B4-BE49-F238E27FC236}">
                <a16:creationId xmlns:a16="http://schemas.microsoft.com/office/drawing/2014/main" id="{FBD70F7C-D314-BAAD-B8CC-3FD8BDB44935}"/>
              </a:ext>
            </a:extLst>
          </p:cNvPr>
          <p:cNvSpPr txBox="1"/>
          <p:nvPr/>
        </p:nvSpPr>
        <p:spPr>
          <a:xfrm>
            <a:off x="8134349" y="5385199"/>
            <a:ext cx="2770374" cy="369332"/>
          </a:xfrm>
          <a:prstGeom prst="rect">
            <a:avLst/>
          </a:prstGeom>
          <a:noFill/>
        </p:spPr>
        <p:txBody>
          <a:bodyPr wrap="none" rtlCol="0">
            <a:spAutoFit/>
          </a:bodyPr>
          <a:lstStyle/>
          <a:p>
            <a:r>
              <a:rPr lang="en-CA" b="1" dirty="0"/>
              <a:t>Azure B2C /token endpoint</a:t>
            </a:r>
            <a:endParaRPr lang="en-US" b="1" dirty="0"/>
          </a:p>
        </p:txBody>
      </p:sp>
      <p:sp>
        <p:nvSpPr>
          <p:cNvPr id="49" name="TextBox 48">
            <a:extLst>
              <a:ext uri="{FF2B5EF4-FFF2-40B4-BE49-F238E27FC236}">
                <a16:creationId xmlns:a16="http://schemas.microsoft.com/office/drawing/2014/main" id="{89F9283C-E048-6122-9B0A-B3541B2FC655}"/>
              </a:ext>
            </a:extLst>
          </p:cNvPr>
          <p:cNvSpPr txBox="1"/>
          <p:nvPr/>
        </p:nvSpPr>
        <p:spPr>
          <a:xfrm>
            <a:off x="5092877" y="5385199"/>
            <a:ext cx="1853841" cy="369332"/>
          </a:xfrm>
          <a:prstGeom prst="rect">
            <a:avLst/>
          </a:prstGeom>
          <a:noFill/>
        </p:spPr>
        <p:txBody>
          <a:bodyPr wrap="none" rtlCol="0">
            <a:spAutoFit/>
          </a:bodyPr>
          <a:lstStyle/>
          <a:p>
            <a:r>
              <a:rPr lang="en-CA" b="1" dirty="0"/>
              <a:t>Custom Database</a:t>
            </a:r>
            <a:endParaRPr lang="en-US" b="1" dirty="0"/>
          </a:p>
        </p:txBody>
      </p:sp>
    </p:spTree>
    <p:extLst>
      <p:ext uri="{BB962C8B-B14F-4D97-AF65-F5344CB8AC3E}">
        <p14:creationId xmlns:p14="http://schemas.microsoft.com/office/powerpoint/2010/main" val="4128607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B9F07-3301-26A0-8E41-B8A9287F31F1}"/>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8B3D6BD-9A36-9CC5-0C70-902125182D2F}"/>
              </a:ext>
            </a:extLst>
          </p:cNvPr>
          <p:cNvCxnSpPr>
            <a:cxnSpLocks/>
          </p:cNvCxnSpPr>
          <p:nvPr/>
        </p:nvCxnSpPr>
        <p:spPr>
          <a:xfrm>
            <a:off x="0" y="1375492"/>
            <a:ext cx="24384000" cy="0"/>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 Placeholder 2">
            <a:extLst>
              <a:ext uri="{FF2B5EF4-FFF2-40B4-BE49-F238E27FC236}">
                <a16:creationId xmlns:a16="http://schemas.microsoft.com/office/drawing/2014/main" id="{EA13C837-7B91-4D75-D163-0DA9A89E25FF}"/>
              </a:ext>
            </a:extLst>
          </p:cNvPr>
          <p:cNvSpPr txBox="1">
            <a:spLocks/>
          </p:cNvSpPr>
          <p:nvPr/>
        </p:nvSpPr>
        <p:spPr>
          <a:xfrm>
            <a:off x="935934" y="696807"/>
            <a:ext cx="23448065" cy="730250"/>
          </a:xfrm>
          <a:prstGeom prst="rect">
            <a:avLst/>
          </a:prstGeom>
        </p:spPr>
        <p:txBody>
          <a:bodyPr vert="horz" lIns="91440" tIns="45720" rIns="91440" bIns="45720" rtlCol="0">
            <a:noAutofit/>
          </a:bodyPr>
          <a:lstStyle>
            <a:lvl1pPr marL="12700" marR="1905" indent="0" algn="l" defTabSz="1828800" rtl="0" eaLnBrk="1" latinLnBrk="0" hangingPunct="1">
              <a:lnSpc>
                <a:spcPts val="4400"/>
              </a:lnSpc>
              <a:spcBef>
                <a:spcPts val="2000"/>
              </a:spcBef>
              <a:buFont typeface="Arial" panose="020B0604020202020204" pitchFamily="34" charset="0"/>
              <a:buNone/>
              <a:tabLst/>
              <a:defRPr lang="en-US" sz="6600" b="0" i="0" kern="1200" spc="-60" dirty="0">
                <a:solidFill>
                  <a:srgbClr val="0E1D42"/>
                </a:solidFill>
                <a:latin typeface="Poppins Medium" pitchFamily="2" charset="77"/>
                <a:ea typeface="+mn-ea"/>
                <a:cs typeface="Poppins Medium" pitchFamily="2" charset="77"/>
              </a:defRPr>
            </a:lvl1pPr>
            <a:lvl2pPr marL="13716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Poppins" pitchFamily="2" charset="77"/>
                <a:ea typeface="+mn-ea"/>
                <a:cs typeface="Poppins" pitchFamily="2" charset="77"/>
              </a:defRPr>
            </a:lvl2pPr>
            <a:lvl3pPr marL="22860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3pPr>
            <a:lvl4pPr marL="3200400" indent="-457200" algn="l" defTabSz="1828800" rtl="0" eaLnBrk="1" latinLnBrk="0" hangingPunct="1">
              <a:lnSpc>
                <a:spcPct val="90000"/>
              </a:lnSpc>
              <a:spcBef>
                <a:spcPts val="1000"/>
              </a:spcBef>
              <a:buFont typeface="Arial" panose="020B0604020202020204" pitchFamily="34" charset="0"/>
              <a:buChar char="•"/>
              <a:defRPr sz="2400" kern="1200">
                <a:solidFill>
                  <a:schemeClr val="tx1"/>
                </a:solidFill>
                <a:latin typeface="Poppins" pitchFamily="2" charset="77"/>
                <a:ea typeface="+mn-ea"/>
                <a:cs typeface="Poppins" pitchFamily="2" charset="77"/>
              </a:defRPr>
            </a:lvl4pPr>
            <a:lvl5pPr marL="4114800" indent="-457200" algn="l" defTabSz="1828800" rtl="0" eaLnBrk="1" latinLnBrk="0" hangingPunct="1">
              <a:lnSpc>
                <a:spcPct val="90000"/>
              </a:lnSpc>
              <a:spcBef>
                <a:spcPts val="1000"/>
              </a:spcBef>
              <a:buFont typeface="Arial" panose="020B0604020202020204" pitchFamily="34" charset="0"/>
              <a:buChar char="•"/>
              <a:defRPr sz="2000" kern="1200">
                <a:solidFill>
                  <a:schemeClr val="tx1"/>
                </a:solidFill>
                <a:latin typeface="Poppins" pitchFamily="2" charset="77"/>
                <a:ea typeface="+mn-ea"/>
                <a:cs typeface="Poppins" pitchFamily="2" charset="77"/>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sz="4000" dirty="0">
                <a:latin typeface="Poppins Medium" panose="00000600000000000000" pitchFamily="2" charset="0"/>
                <a:cs typeface="Poppins Medium" panose="00000600000000000000" pitchFamily="2" charset="0"/>
              </a:rPr>
              <a:t>Design Considerations</a:t>
            </a:r>
          </a:p>
        </p:txBody>
      </p:sp>
      <p:sp>
        <p:nvSpPr>
          <p:cNvPr id="61" name="Slide Number Placeholder 1">
            <a:extLst>
              <a:ext uri="{FF2B5EF4-FFF2-40B4-BE49-F238E27FC236}">
                <a16:creationId xmlns:a16="http://schemas.microsoft.com/office/drawing/2014/main" id="{710F652D-DA24-EAD8-DCE6-555DF57A3F80}"/>
              </a:ext>
            </a:extLst>
          </p:cNvPr>
          <p:cNvSpPr>
            <a:spLocks noGrp="1"/>
          </p:cNvSpPr>
          <p:nvPr>
            <p:ph type="sldNum" sz="quarter" idx="12"/>
          </p:nvPr>
        </p:nvSpPr>
        <p:spPr>
          <a:xfrm>
            <a:off x="17240250" y="12258342"/>
            <a:ext cx="5486400" cy="730250"/>
          </a:xfrm>
        </p:spPr>
        <p:txBody>
          <a:bodyPr/>
          <a:lstStyle/>
          <a:p>
            <a:fld id="{86CB4B4D-7CA3-9044-876B-883B54F8677D}" type="slidenum">
              <a:rPr lang="en-CA" smtClean="0"/>
              <a:t>9</a:t>
            </a:fld>
            <a:endParaRPr lang="en-CA"/>
          </a:p>
        </p:txBody>
      </p:sp>
      <p:sp>
        <p:nvSpPr>
          <p:cNvPr id="4" name="TextBox 3">
            <a:extLst>
              <a:ext uri="{FF2B5EF4-FFF2-40B4-BE49-F238E27FC236}">
                <a16:creationId xmlns:a16="http://schemas.microsoft.com/office/drawing/2014/main" id="{39E22E5A-7E82-2945-90E9-278A25422F8E}"/>
              </a:ext>
            </a:extLst>
          </p:cNvPr>
          <p:cNvSpPr txBox="1"/>
          <p:nvPr/>
        </p:nvSpPr>
        <p:spPr>
          <a:xfrm>
            <a:off x="935934" y="1825853"/>
            <a:ext cx="22081546" cy="8648521"/>
          </a:xfrm>
          <a:prstGeom prst="rect">
            <a:avLst/>
          </a:prstGeom>
          <a:noFill/>
        </p:spPr>
        <p:txBody>
          <a:bodyPr wrap="square">
            <a:spAutoFit/>
          </a:bodyPr>
          <a:lstStyle/>
          <a:p>
            <a:pPr marL="342900" indent="-342900">
              <a:buFont typeface="Arial" panose="020B0604020202020204" pitchFamily="34" charset="0"/>
              <a:buChar char="•"/>
            </a:pPr>
            <a:r>
              <a:rPr lang="en-US" sz="3200" b="0" i="0" dirty="0">
                <a:effectLst/>
                <a:latin typeface="Poppins" panose="00000500000000000000" pitchFamily="2" charset="0"/>
                <a:cs typeface="Poppins" panose="00000500000000000000" pitchFamily="2" charset="0"/>
              </a:rPr>
              <a:t>User Base - 15.3M , with ~10 M active users . ~5M users are with Scotia federated identity in profile.</a:t>
            </a:r>
          </a:p>
          <a:p>
            <a:pPr marL="342900" indent="-342900">
              <a:buFont typeface="Arial" panose="020B0604020202020204" pitchFamily="34" charset="0"/>
              <a:buChar char="•"/>
            </a:pPr>
            <a:endParaRPr lang="en-US" sz="3200" dirty="0">
              <a:latin typeface="Poppins" panose="00000500000000000000" pitchFamily="2" charset="0"/>
              <a:cs typeface="Poppins" panose="00000500000000000000" pitchFamily="2" charset="0"/>
            </a:endParaRPr>
          </a:p>
          <a:p>
            <a:pPr marL="342900" indent="-342900" rtl="0" fontAlgn="ctr">
              <a:spcBef>
                <a:spcPts val="0"/>
              </a:spcBef>
              <a:spcAft>
                <a:spcPts val="0"/>
              </a:spcAft>
              <a:buFont typeface="Arial" panose="020B0604020202020204" pitchFamily="34" charset="0"/>
              <a:buChar char="•"/>
            </a:pPr>
            <a:r>
              <a:rPr lang="en-US" sz="3200" b="0" i="0" dirty="0">
                <a:effectLst/>
                <a:latin typeface="Poppins" panose="00000500000000000000" pitchFamily="2" charset="0"/>
                <a:cs typeface="Poppins" panose="00000500000000000000" pitchFamily="2" charset="0"/>
              </a:rPr>
              <a:t>In Scene CIAM ( Current State) , the following account/profile types are considered - </a:t>
            </a:r>
          </a:p>
          <a:p>
            <a:pPr marL="800100" lvl="1" indent="-342900" rtl="0" fontAlgn="ctr">
              <a:spcBef>
                <a:spcPts val="0"/>
              </a:spcBef>
              <a:spcAft>
                <a:spcPts val="0"/>
              </a:spcAft>
              <a:buFont typeface="Arial" panose="020B0604020202020204" pitchFamily="34" charset="0"/>
              <a:buChar char="•"/>
            </a:pPr>
            <a:endParaRPr lang="en-US" sz="2800" b="0" i="0" dirty="0">
              <a:effectLst/>
              <a:latin typeface="Poppins" panose="00000500000000000000" pitchFamily="2" charset="0"/>
              <a:cs typeface="Poppins" panose="00000500000000000000" pitchFamily="2" charset="0"/>
            </a:endParaRPr>
          </a:p>
          <a:p>
            <a:pPr marL="800100" lvl="1" indent="-342900" rtl="0" fontAlgn="ctr">
              <a:spcBef>
                <a:spcPts val="0"/>
              </a:spcBef>
              <a:spcAft>
                <a:spcPts val="0"/>
              </a:spcAft>
              <a:buFont typeface="Arial" panose="020B0604020202020204" pitchFamily="34" charset="0"/>
              <a:buChar char="•"/>
            </a:pPr>
            <a:r>
              <a:rPr lang="en-US" sz="2800" b="0" i="0" dirty="0">
                <a:effectLst/>
                <a:latin typeface="Poppins" panose="00000500000000000000" pitchFamily="2" charset="0"/>
                <a:cs typeface="Poppins" panose="00000500000000000000" pitchFamily="2" charset="0"/>
              </a:rPr>
              <a:t>Users with only Scene Profile in </a:t>
            </a:r>
            <a:r>
              <a:rPr lang="en-US" sz="2800" b="0" i="0" dirty="0" err="1">
                <a:effectLst/>
                <a:latin typeface="Poppins" panose="00000500000000000000" pitchFamily="2" charset="0"/>
                <a:cs typeface="Poppins" panose="00000500000000000000" pitchFamily="2" charset="0"/>
              </a:rPr>
              <a:t>Synapze</a:t>
            </a:r>
            <a:r>
              <a:rPr lang="en-US" sz="2800" b="0" i="0" dirty="0">
                <a:effectLst/>
                <a:latin typeface="Poppins" panose="00000500000000000000" pitchFamily="2" charset="0"/>
                <a:cs typeface="Poppins" panose="00000500000000000000" pitchFamily="2" charset="0"/>
              </a:rPr>
              <a:t> and B2C</a:t>
            </a:r>
          </a:p>
          <a:p>
            <a:pPr marL="800100" lvl="1" indent="-342900" rtl="0" fontAlgn="ctr">
              <a:spcBef>
                <a:spcPts val="0"/>
              </a:spcBef>
              <a:spcAft>
                <a:spcPts val="0"/>
              </a:spcAft>
              <a:buFont typeface="Arial" panose="020B0604020202020204" pitchFamily="34" charset="0"/>
              <a:buChar char="•"/>
            </a:pPr>
            <a:endParaRPr lang="en-US" sz="2800" b="0" i="0" dirty="0">
              <a:effectLst/>
              <a:latin typeface="Poppins" panose="00000500000000000000" pitchFamily="2" charset="0"/>
              <a:cs typeface="Poppins" panose="00000500000000000000" pitchFamily="2" charset="0"/>
            </a:endParaRPr>
          </a:p>
          <a:p>
            <a:pPr marL="800100" lvl="1" indent="-342900" rtl="0" fontAlgn="ctr">
              <a:spcBef>
                <a:spcPts val="0"/>
              </a:spcBef>
              <a:spcAft>
                <a:spcPts val="0"/>
              </a:spcAft>
              <a:buFont typeface="Arial" panose="020B0604020202020204" pitchFamily="34" charset="0"/>
              <a:buChar char="•"/>
            </a:pPr>
            <a:r>
              <a:rPr lang="en-US" sz="2800" b="0" i="0" dirty="0">
                <a:effectLst/>
                <a:latin typeface="Poppins" panose="00000500000000000000" pitchFamily="2" charset="0"/>
                <a:cs typeface="Poppins" panose="00000500000000000000" pitchFamily="2" charset="0"/>
              </a:rPr>
              <a:t>Users with both Scene Profile and Scotia Profile in </a:t>
            </a:r>
            <a:r>
              <a:rPr lang="en-US" sz="2800" b="0" i="0" dirty="0" err="1">
                <a:effectLst/>
                <a:latin typeface="Poppins" panose="00000500000000000000" pitchFamily="2" charset="0"/>
                <a:cs typeface="Poppins" panose="00000500000000000000" pitchFamily="2" charset="0"/>
              </a:rPr>
              <a:t>Synapze</a:t>
            </a:r>
            <a:r>
              <a:rPr lang="en-US" sz="2800" b="0" i="0" dirty="0">
                <a:effectLst/>
                <a:latin typeface="Poppins" panose="00000500000000000000" pitchFamily="2" charset="0"/>
                <a:cs typeface="Poppins" panose="00000500000000000000" pitchFamily="2" charset="0"/>
              </a:rPr>
              <a:t> and B2C</a:t>
            </a:r>
          </a:p>
          <a:p>
            <a:pPr lvl="1" rtl="0" fontAlgn="ctr">
              <a:spcBef>
                <a:spcPts val="0"/>
              </a:spcBef>
              <a:spcAft>
                <a:spcPts val="0"/>
              </a:spcAft>
            </a:pPr>
            <a:endParaRPr lang="en-US" sz="2800" b="0" i="0" dirty="0">
              <a:effectLst/>
              <a:latin typeface="Poppins" panose="00000500000000000000" pitchFamily="2" charset="0"/>
              <a:cs typeface="Poppins" panose="00000500000000000000" pitchFamily="2" charset="0"/>
            </a:endParaRPr>
          </a:p>
          <a:p>
            <a:pPr lvl="1" rtl="0" fontAlgn="ctr">
              <a:spcBef>
                <a:spcPts val="0"/>
              </a:spcBef>
              <a:spcAft>
                <a:spcPts val="0"/>
              </a:spcAft>
            </a:pPr>
            <a:r>
              <a:rPr lang="en-US" sz="3200" b="0" i="0" dirty="0">
                <a:effectLst/>
                <a:latin typeface="Poppins" panose="00000500000000000000" pitchFamily="2" charset="0"/>
                <a:cs typeface="Poppins" panose="00000500000000000000" pitchFamily="2" charset="0"/>
              </a:rPr>
              <a:t>Note: The user in current state is a single account if they have a Scotia account in Azure B2C with an additional attribute indicating federated identity customer id details.</a:t>
            </a:r>
          </a:p>
          <a:p>
            <a:pPr marL="342900" indent="-342900" rtl="0" fontAlgn="ctr">
              <a:spcBef>
                <a:spcPts val="0"/>
              </a:spcBef>
              <a:spcAft>
                <a:spcPts val="0"/>
              </a:spcAft>
              <a:buFont typeface="Arial" panose="020B0604020202020204" pitchFamily="34" charset="0"/>
              <a:buChar char="•"/>
            </a:pPr>
            <a:endParaRPr lang="en-US" sz="3200" dirty="0">
              <a:latin typeface="Poppins" panose="00000500000000000000" pitchFamily="2" charset="0"/>
              <a:cs typeface="Poppins" panose="00000500000000000000" pitchFamily="2" charset="0"/>
            </a:endParaRPr>
          </a:p>
          <a:p>
            <a:pPr marL="342900" indent="-342900" rtl="0" fontAlgn="ctr">
              <a:spcBef>
                <a:spcPts val="0"/>
              </a:spcBef>
              <a:spcAft>
                <a:spcPts val="0"/>
              </a:spcAft>
              <a:buFont typeface="Arial" panose="020B0604020202020204" pitchFamily="34" charset="0"/>
              <a:buChar char="•"/>
            </a:pPr>
            <a:r>
              <a:rPr lang="en-US" sz="3200" b="0" i="0" dirty="0">
                <a:effectLst/>
                <a:latin typeface="Poppins" panose="00000500000000000000" pitchFamily="2" charset="0"/>
                <a:cs typeface="Poppins" panose="00000500000000000000" pitchFamily="2" charset="0"/>
              </a:rPr>
              <a:t>Auth0 treats all identities as separate identities by default. For example, if a user logs in first against the Auth0 database with Scene Credentials and then via Scotia Credentials later (vice versa too), these two attempts would appear to Auth0 as two separate identities.</a:t>
            </a:r>
          </a:p>
          <a:p>
            <a:pPr marL="342900" indent="-342900" rtl="0" fontAlgn="ctr">
              <a:spcBef>
                <a:spcPts val="0"/>
              </a:spcBef>
              <a:spcAft>
                <a:spcPts val="0"/>
              </a:spcAft>
              <a:buFont typeface="Arial" panose="020B0604020202020204" pitchFamily="34" charset="0"/>
              <a:buChar char="•"/>
            </a:pPr>
            <a:endParaRPr lang="en-US" sz="3200" dirty="0">
              <a:latin typeface="Poppins" panose="00000500000000000000" pitchFamily="2" charset="0"/>
              <a:cs typeface="Poppins" panose="00000500000000000000" pitchFamily="2" charset="0"/>
            </a:endParaRPr>
          </a:p>
          <a:p>
            <a:pPr marL="342900" indent="-342900" rtl="0" fontAlgn="ctr">
              <a:spcBef>
                <a:spcPts val="0"/>
              </a:spcBef>
              <a:spcAft>
                <a:spcPts val="0"/>
              </a:spcAft>
              <a:buFont typeface="Arial" panose="020B0604020202020204" pitchFamily="34" charset="0"/>
              <a:buChar char="•"/>
            </a:pPr>
            <a:r>
              <a:rPr lang="en-US" sz="3200" b="0" i="0" dirty="0">
                <a:effectLst/>
                <a:latin typeface="Poppins" panose="00000500000000000000" pitchFamily="2" charset="0"/>
                <a:cs typeface="Poppins" panose="00000500000000000000" pitchFamily="2" charset="0"/>
              </a:rPr>
              <a:t>For Scene hence there is a need to explicitly link these 2 accounts ( no user consent involved) during migration and also for new scene profile with scotia , if primary identity contains </a:t>
            </a:r>
            <a:r>
              <a:rPr lang="en-US" sz="3200" b="1" i="1" dirty="0" err="1">
                <a:effectLst/>
                <a:latin typeface="Poppins" panose="00000500000000000000" pitchFamily="2" charset="0"/>
                <a:cs typeface="Poppins" panose="00000500000000000000" pitchFamily="2" charset="0"/>
              </a:rPr>
              <a:t>bns_cid</a:t>
            </a:r>
            <a:r>
              <a:rPr lang="en-US" sz="3200" b="1" i="1" dirty="0">
                <a:effectLst/>
                <a:latin typeface="Poppins" panose="00000500000000000000" pitchFamily="2" charset="0"/>
                <a:cs typeface="Poppins" panose="00000500000000000000" pitchFamily="2" charset="0"/>
              </a:rPr>
              <a:t> </a:t>
            </a:r>
            <a:r>
              <a:rPr lang="en-US" sz="3200" b="0" i="0" dirty="0">
                <a:effectLst/>
                <a:latin typeface="Poppins" panose="00000500000000000000" pitchFamily="2" charset="0"/>
                <a:cs typeface="Poppins" panose="00000500000000000000" pitchFamily="2" charset="0"/>
              </a:rPr>
              <a:t>value.</a:t>
            </a:r>
          </a:p>
          <a:p>
            <a:pPr marL="342900" indent="-342900">
              <a:buFont typeface="Arial" panose="020B0604020202020204" pitchFamily="34" charset="0"/>
              <a:buChar char="•"/>
            </a:pPr>
            <a:endParaRPr lang="en-US" sz="3200" b="0" i="0" dirty="0">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90428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B9F07-3301-26A0-8E41-B8A9287F31F1}"/>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98B3D6BD-9A36-9CC5-0C70-902125182D2F}"/>
              </a:ext>
            </a:extLst>
          </p:cNvPr>
          <p:cNvCxnSpPr>
            <a:cxnSpLocks/>
          </p:cNvCxnSpPr>
          <p:nvPr/>
        </p:nvCxnSpPr>
        <p:spPr>
          <a:xfrm>
            <a:off x="0" y="1375492"/>
            <a:ext cx="24384000" cy="0"/>
          </a:xfrm>
          <a:prstGeom prst="line">
            <a:avLst/>
          </a:prstGeom>
        </p:spPr>
        <p:style>
          <a:lnRef idx="1">
            <a:schemeClr val="accent1"/>
          </a:lnRef>
          <a:fillRef idx="0">
            <a:schemeClr val="accent1"/>
          </a:fillRef>
          <a:effectRef idx="0">
            <a:schemeClr val="accent1"/>
          </a:effectRef>
          <a:fontRef idx="minor">
            <a:schemeClr val="tx1"/>
          </a:fontRef>
        </p:style>
      </p:cxnSp>
      <p:sp>
        <p:nvSpPr>
          <p:cNvPr id="73" name="Text Placeholder 2">
            <a:extLst>
              <a:ext uri="{FF2B5EF4-FFF2-40B4-BE49-F238E27FC236}">
                <a16:creationId xmlns:a16="http://schemas.microsoft.com/office/drawing/2014/main" id="{EA13C837-7B91-4D75-D163-0DA9A89E25FF}"/>
              </a:ext>
            </a:extLst>
          </p:cNvPr>
          <p:cNvSpPr txBox="1">
            <a:spLocks/>
          </p:cNvSpPr>
          <p:nvPr/>
        </p:nvSpPr>
        <p:spPr>
          <a:xfrm>
            <a:off x="935935" y="727408"/>
            <a:ext cx="23448065" cy="730250"/>
          </a:xfrm>
          <a:prstGeom prst="rect">
            <a:avLst/>
          </a:prstGeom>
        </p:spPr>
        <p:txBody>
          <a:bodyPr vert="horz" lIns="91440" tIns="45720" rIns="91440" bIns="45720" rtlCol="0">
            <a:noAutofit/>
          </a:bodyPr>
          <a:lstStyle>
            <a:lvl1pPr marL="12700" marR="1905" indent="0" algn="l" defTabSz="1828800" rtl="0" eaLnBrk="1" latinLnBrk="0" hangingPunct="1">
              <a:lnSpc>
                <a:spcPts val="4400"/>
              </a:lnSpc>
              <a:spcBef>
                <a:spcPts val="2000"/>
              </a:spcBef>
              <a:buFont typeface="Arial" panose="020B0604020202020204" pitchFamily="34" charset="0"/>
              <a:buNone/>
              <a:tabLst/>
              <a:defRPr lang="en-US" sz="6600" b="0" i="0" kern="1200" spc="-60" dirty="0">
                <a:solidFill>
                  <a:srgbClr val="0E1D42"/>
                </a:solidFill>
                <a:latin typeface="Poppins Medium" pitchFamily="2" charset="77"/>
                <a:ea typeface="+mn-ea"/>
                <a:cs typeface="Poppins Medium" pitchFamily="2" charset="77"/>
              </a:defRPr>
            </a:lvl1pPr>
            <a:lvl2pPr marL="1371600" indent="-457200" algn="l" defTabSz="1828800" rtl="0" eaLnBrk="1" latinLnBrk="0" hangingPunct="1">
              <a:lnSpc>
                <a:spcPct val="90000"/>
              </a:lnSpc>
              <a:spcBef>
                <a:spcPts val="1000"/>
              </a:spcBef>
              <a:buFont typeface="Arial" panose="020B0604020202020204" pitchFamily="34" charset="0"/>
              <a:buChar char="•"/>
              <a:defRPr sz="3200" kern="1200">
                <a:solidFill>
                  <a:schemeClr val="tx1"/>
                </a:solidFill>
                <a:latin typeface="Poppins" pitchFamily="2" charset="77"/>
                <a:ea typeface="+mn-ea"/>
                <a:cs typeface="Poppins" pitchFamily="2" charset="77"/>
              </a:defRPr>
            </a:lvl2pPr>
            <a:lvl3pPr marL="2286000" indent="-457200" algn="l" defTabSz="18288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3pPr>
            <a:lvl4pPr marL="3200400" indent="-457200" algn="l" defTabSz="1828800" rtl="0" eaLnBrk="1" latinLnBrk="0" hangingPunct="1">
              <a:lnSpc>
                <a:spcPct val="90000"/>
              </a:lnSpc>
              <a:spcBef>
                <a:spcPts val="1000"/>
              </a:spcBef>
              <a:buFont typeface="Arial" panose="020B0604020202020204" pitchFamily="34" charset="0"/>
              <a:buChar char="•"/>
              <a:defRPr sz="2400" kern="1200">
                <a:solidFill>
                  <a:schemeClr val="tx1"/>
                </a:solidFill>
                <a:latin typeface="Poppins" pitchFamily="2" charset="77"/>
                <a:ea typeface="+mn-ea"/>
                <a:cs typeface="Poppins" pitchFamily="2" charset="77"/>
              </a:defRPr>
            </a:lvl4pPr>
            <a:lvl5pPr marL="4114800" indent="-457200" algn="l" defTabSz="1828800" rtl="0" eaLnBrk="1" latinLnBrk="0" hangingPunct="1">
              <a:lnSpc>
                <a:spcPct val="90000"/>
              </a:lnSpc>
              <a:spcBef>
                <a:spcPts val="1000"/>
              </a:spcBef>
              <a:buFont typeface="Arial" panose="020B0604020202020204" pitchFamily="34" charset="0"/>
              <a:buChar char="•"/>
              <a:defRPr sz="2000" kern="1200">
                <a:solidFill>
                  <a:schemeClr val="tx1"/>
                </a:solidFill>
                <a:latin typeface="Poppins" pitchFamily="2" charset="77"/>
                <a:ea typeface="+mn-ea"/>
                <a:cs typeface="Poppins" pitchFamily="2" charset="77"/>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US" sz="4000" dirty="0">
                <a:latin typeface="Poppins Medium" panose="00000600000000000000" pitchFamily="2" charset="0"/>
                <a:cs typeface="Poppins Medium" panose="00000600000000000000" pitchFamily="2" charset="0"/>
              </a:rPr>
              <a:t>Configuration Details - Azure B2C &lt;-&gt; Auth0 Attribute Mapping for initial migration</a:t>
            </a:r>
          </a:p>
        </p:txBody>
      </p:sp>
      <p:sp>
        <p:nvSpPr>
          <p:cNvPr id="61" name="Slide Number Placeholder 1">
            <a:extLst>
              <a:ext uri="{FF2B5EF4-FFF2-40B4-BE49-F238E27FC236}">
                <a16:creationId xmlns:a16="http://schemas.microsoft.com/office/drawing/2014/main" id="{710F652D-DA24-EAD8-DCE6-555DF57A3F80}"/>
              </a:ext>
            </a:extLst>
          </p:cNvPr>
          <p:cNvSpPr>
            <a:spLocks noGrp="1"/>
          </p:cNvSpPr>
          <p:nvPr>
            <p:ph type="sldNum" sz="quarter" idx="12"/>
          </p:nvPr>
        </p:nvSpPr>
        <p:spPr>
          <a:xfrm>
            <a:off x="17164050" y="12258342"/>
            <a:ext cx="5486400" cy="730250"/>
          </a:xfrm>
        </p:spPr>
        <p:txBody>
          <a:bodyPr/>
          <a:lstStyle/>
          <a:p>
            <a:fld id="{86CB4B4D-7CA3-9044-876B-883B54F8677D}" type="slidenum">
              <a:rPr lang="en-CA" smtClean="0"/>
              <a:t>10</a:t>
            </a:fld>
            <a:endParaRPr lang="en-CA"/>
          </a:p>
        </p:txBody>
      </p:sp>
      <p:graphicFrame>
        <p:nvGraphicFramePr>
          <p:cNvPr id="2" name="Table 1">
            <a:extLst>
              <a:ext uri="{FF2B5EF4-FFF2-40B4-BE49-F238E27FC236}">
                <a16:creationId xmlns:a16="http://schemas.microsoft.com/office/drawing/2014/main" id="{EE6B9D10-12A7-B2F2-E24B-DF673520A208}"/>
              </a:ext>
            </a:extLst>
          </p:cNvPr>
          <p:cNvGraphicFramePr>
            <a:graphicFrameLocks noGrp="1"/>
          </p:cNvGraphicFramePr>
          <p:nvPr>
            <p:extLst>
              <p:ext uri="{D42A27DB-BD31-4B8C-83A1-F6EECF244321}">
                <p14:modId xmlns:p14="http://schemas.microsoft.com/office/powerpoint/2010/main" val="3996712438"/>
              </p:ext>
            </p:extLst>
          </p:nvPr>
        </p:nvGraphicFramePr>
        <p:xfrm>
          <a:off x="1132078" y="1828800"/>
          <a:ext cx="22769323" cy="10511708"/>
        </p:xfrm>
        <a:graphic>
          <a:graphicData uri="http://schemas.openxmlformats.org/drawingml/2006/table">
            <a:tbl>
              <a:tblPr>
                <a:tableStyleId>{616DA210-FB5B-4158-B5E0-FEB733F419BA}</a:tableStyleId>
              </a:tblPr>
              <a:tblGrid>
                <a:gridCol w="7326122">
                  <a:extLst>
                    <a:ext uri="{9D8B030D-6E8A-4147-A177-3AD203B41FA5}">
                      <a16:colId xmlns:a16="http://schemas.microsoft.com/office/drawing/2014/main" val="2314956173"/>
                    </a:ext>
                  </a:extLst>
                </a:gridCol>
                <a:gridCol w="1346200">
                  <a:extLst>
                    <a:ext uri="{9D8B030D-6E8A-4147-A177-3AD203B41FA5}">
                      <a16:colId xmlns:a16="http://schemas.microsoft.com/office/drawing/2014/main" val="3137827530"/>
                    </a:ext>
                  </a:extLst>
                </a:gridCol>
                <a:gridCol w="4953000">
                  <a:extLst>
                    <a:ext uri="{9D8B030D-6E8A-4147-A177-3AD203B41FA5}">
                      <a16:colId xmlns:a16="http://schemas.microsoft.com/office/drawing/2014/main" val="2541162984"/>
                    </a:ext>
                  </a:extLst>
                </a:gridCol>
                <a:gridCol w="1930400">
                  <a:extLst>
                    <a:ext uri="{9D8B030D-6E8A-4147-A177-3AD203B41FA5}">
                      <a16:colId xmlns:a16="http://schemas.microsoft.com/office/drawing/2014/main" val="1383737075"/>
                    </a:ext>
                  </a:extLst>
                </a:gridCol>
                <a:gridCol w="7213601">
                  <a:extLst>
                    <a:ext uri="{9D8B030D-6E8A-4147-A177-3AD203B41FA5}">
                      <a16:colId xmlns:a16="http://schemas.microsoft.com/office/drawing/2014/main" val="1691380053"/>
                    </a:ext>
                  </a:extLst>
                </a:gridCol>
              </a:tblGrid>
              <a:tr h="885550">
                <a:tc>
                  <a:txBody>
                    <a:bodyPr/>
                    <a:lstStyle/>
                    <a:p>
                      <a:pPr fontAlgn="t">
                        <a:spcBef>
                          <a:spcPts val="0"/>
                        </a:spcBef>
                        <a:spcAft>
                          <a:spcPts val="800"/>
                        </a:spcAft>
                      </a:pPr>
                      <a:r>
                        <a:rPr lang="en-US" sz="2400" b="1" dirty="0">
                          <a:solidFill>
                            <a:srgbClr val="FFFFFF"/>
                          </a:solidFill>
                          <a:effectLst/>
                          <a:latin typeface="Poppins" panose="00000500000000000000" pitchFamily="2" charset="0"/>
                          <a:cs typeface="Poppins" panose="00000500000000000000" pitchFamily="2" charset="0"/>
                        </a:rPr>
                        <a:t>OKTA CIC Fields </a:t>
                      </a:r>
                      <a:endParaRPr lang="en-US" sz="2400" dirty="0">
                        <a:solidFill>
                          <a:srgbClr val="FFFFFF"/>
                        </a:solidFill>
                        <a:effectLst/>
                        <a:latin typeface="Poppins" panose="00000500000000000000" pitchFamily="2" charset="0"/>
                        <a:cs typeface="Poppins" panose="00000500000000000000" pitchFamily="2" charset="0"/>
                      </a:endParaRPr>
                    </a:p>
                  </a:txBody>
                  <a:tcPr marL="50800" marR="50800" marT="50800" marB="50800">
                    <a:solidFill>
                      <a:srgbClr val="002060"/>
                    </a:solidFill>
                  </a:tcPr>
                </a:tc>
                <a:tc>
                  <a:txBody>
                    <a:bodyPr/>
                    <a:lstStyle/>
                    <a:p>
                      <a:pPr fontAlgn="t">
                        <a:spcBef>
                          <a:spcPts val="0"/>
                        </a:spcBef>
                        <a:spcAft>
                          <a:spcPts val="800"/>
                        </a:spcAft>
                      </a:pPr>
                      <a:r>
                        <a:rPr lang="en-US" sz="2400" b="1">
                          <a:solidFill>
                            <a:srgbClr val="FFFFFF"/>
                          </a:solidFill>
                          <a:effectLst/>
                          <a:latin typeface="Poppins" panose="00000500000000000000" pitchFamily="2" charset="0"/>
                          <a:cs typeface="Poppins" panose="00000500000000000000" pitchFamily="2" charset="0"/>
                        </a:rPr>
                        <a:t>Data type</a:t>
                      </a:r>
                      <a:endParaRPr lang="en-US" sz="2400">
                        <a:solidFill>
                          <a:srgbClr val="FFFFFF"/>
                        </a:solidFill>
                        <a:effectLst/>
                        <a:latin typeface="Poppins" panose="00000500000000000000" pitchFamily="2" charset="0"/>
                        <a:cs typeface="Poppins" panose="00000500000000000000" pitchFamily="2" charset="0"/>
                      </a:endParaRPr>
                    </a:p>
                  </a:txBody>
                  <a:tcPr marL="50800" marR="50800" marT="50800" marB="50800">
                    <a:solidFill>
                      <a:srgbClr val="002060"/>
                    </a:solidFill>
                  </a:tcPr>
                </a:tc>
                <a:tc>
                  <a:txBody>
                    <a:bodyPr/>
                    <a:lstStyle/>
                    <a:p>
                      <a:pPr fontAlgn="t">
                        <a:spcBef>
                          <a:spcPts val="0"/>
                        </a:spcBef>
                        <a:spcAft>
                          <a:spcPts val="800"/>
                        </a:spcAft>
                      </a:pPr>
                      <a:r>
                        <a:rPr lang="en-US" sz="2400" b="1" dirty="0">
                          <a:solidFill>
                            <a:srgbClr val="FFFFFF"/>
                          </a:solidFill>
                          <a:effectLst/>
                          <a:latin typeface="Poppins" panose="00000500000000000000" pitchFamily="2" charset="0"/>
                          <a:cs typeface="Poppins" panose="00000500000000000000" pitchFamily="2" charset="0"/>
                        </a:rPr>
                        <a:t>Azure B2C Fields</a:t>
                      </a:r>
                      <a:endParaRPr lang="en-US" sz="2400" dirty="0">
                        <a:solidFill>
                          <a:srgbClr val="FFFFFF"/>
                        </a:solidFill>
                        <a:effectLst/>
                        <a:latin typeface="Poppins" panose="00000500000000000000" pitchFamily="2" charset="0"/>
                        <a:cs typeface="Poppins" panose="00000500000000000000" pitchFamily="2" charset="0"/>
                      </a:endParaRPr>
                    </a:p>
                  </a:txBody>
                  <a:tcPr marL="50800" marR="50800" marT="50800" marB="50800">
                    <a:solidFill>
                      <a:srgbClr val="002060"/>
                    </a:solidFill>
                  </a:tcPr>
                </a:tc>
                <a:tc>
                  <a:txBody>
                    <a:bodyPr/>
                    <a:lstStyle/>
                    <a:p>
                      <a:pPr fontAlgn="t">
                        <a:spcBef>
                          <a:spcPts val="0"/>
                        </a:spcBef>
                        <a:spcAft>
                          <a:spcPts val="800"/>
                        </a:spcAft>
                      </a:pPr>
                      <a:r>
                        <a:rPr lang="en-US" sz="2400" b="1" dirty="0">
                          <a:solidFill>
                            <a:srgbClr val="FFFFFF"/>
                          </a:solidFill>
                          <a:effectLst/>
                          <a:latin typeface="Poppins" panose="00000500000000000000" pitchFamily="2" charset="0"/>
                          <a:cs typeface="Poppins" panose="00000500000000000000" pitchFamily="2" charset="0"/>
                        </a:rPr>
                        <a:t>Data type</a:t>
                      </a:r>
                      <a:endParaRPr lang="en-US" sz="2400" dirty="0">
                        <a:solidFill>
                          <a:srgbClr val="FFFFFF"/>
                        </a:solidFill>
                        <a:effectLst/>
                        <a:latin typeface="Poppins" panose="00000500000000000000" pitchFamily="2" charset="0"/>
                        <a:cs typeface="Poppins" panose="00000500000000000000" pitchFamily="2" charset="0"/>
                      </a:endParaRPr>
                    </a:p>
                  </a:txBody>
                  <a:tcPr marL="50800" marR="50800" marT="50800" marB="50800">
                    <a:solidFill>
                      <a:srgbClr val="002060"/>
                    </a:solidFill>
                  </a:tcPr>
                </a:tc>
                <a:tc>
                  <a:txBody>
                    <a:bodyPr/>
                    <a:lstStyle/>
                    <a:p>
                      <a:pPr fontAlgn="t">
                        <a:spcBef>
                          <a:spcPts val="0"/>
                        </a:spcBef>
                        <a:spcAft>
                          <a:spcPts val="800"/>
                        </a:spcAft>
                      </a:pPr>
                      <a:r>
                        <a:rPr lang="en-US" sz="2400" b="1" dirty="0">
                          <a:solidFill>
                            <a:srgbClr val="FFFFFF"/>
                          </a:solidFill>
                          <a:effectLst/>
                          <a:latin typeface="Poppins" panose="00000500000000000000" pitchFamily="2" charset="0"/>
                          <a:cs typeface="Poppins" panose="00000500000000000000" pitchFamily="2" charset="0"/>
                        </a:rPr>
                        <a:t>Definition</a:t>
                      </a:r>
                      <a:endParaRPr lang="en-US" sz="2400" dirty="0">
                        <a:solidFill>
                          <a:srgbClr val="FFFFFF"/>
                        </a:solidFill>
                        <a:effectLst/>
                        <a:latin typeface="Poppins" panose="00000500000000000000" pitchFamily="2" charset="0"/>
                        <a:cs typeface="Poppins" panose="00000500000000000000" pitchFamily="2" charset="0"/>
                      </a:endParaRPr>
                    </a:p>
                  </a:txBody>
                  <a:tcPr marL="50800" marR="50800" marT="50800" marB="50800">
                    <a:solidFill>
                      <a:srgbClr val="002060"/>
                    </a:solidFill>
                  </a:tcPr>
                </a:tc>
                <a:extLst>
                  <a:ext uri="{0D108BD9-81ED-4DB2-BD59-A6C34878D82A}">
                    <a16:rowId xmlns:a16="http://schemas.microsoft.com/office/drawing/2014/main" val="1297733652"/>
                  </a:ext>
                </a:extLst>
              </a:tr>
              <a:tr h="728660">
                <a:tc>
                  <a:txBody>
                    <a:bodyPr/>
                    <a:lstStyle/>
                    <a:p>
                      <a:pPr fontAlgn="t">
                        <a:spcBef>
                          <a:spcPts val="0"/>
                        </a:spcBef>
                        <a:spcAft>
                          <a:spcPts val="800"/>
                        </a:spcAft>
                      </a:pPr>
                      <a:r>
                        <a:rPr lang="en-US" sz="2400" b="1" dirty="0">
                          <a:effectLst/>
                          <a:latin typeface="Poppins" panose="00000500000000000000" pitchFamily="2" charset="0"/>
                          <a:cs typeface="Poppins" panose="00000500000000000000" pitchFamily="2" charset="0"/>
                        </a:rPr>
                        <a:t>name</a:t>
                      </a:r>
                      <a:endParaRPr lang="en-US" sz="2400" dirty="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dirty="0" err="1">
                          <a:effectLst/>
                          <a:latin typeface="Poppins" panose="00000500000000000000" pitchFamily="2" charset="0"/>
                          <a:cs typeface="Poppins" panose="00000500000000000000" pitchFamily="2" charset="0"/>
                        </a:rPr>
                        <a:t>displayName</a:t>
                      </a:r>
                      <a:endParaRPr lang="en-US" sz="2400" dirty="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 String</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The user's full name</a:t>
                      </a:r>
                    </a:p>
                  </a:txBody>
                  <a:tcPr marL="50800" marR="50800" marT="50800" marB="50800"/>
                </a:tc>
                <a:extLst>
                  <a:ext uri="{0D108BD9-81ED-4DB2-BD59-A6C34878D82A}">
                    <a16:rowId xmlns:a16="http://schemas.microsoft.com/office/drawing/2014/main" val="3605098546"/>
                  </a:ext>
                </a:extLst>
              </a:tr>
              <a:tr h="728660">
                <a:tc>
                  <a:txBody>
                    <a:bodyPr/>
                    <a:lstStyle/>
                    <a:p>
                      <a:pPr fontAlgn="t">
                        <a:spcBef>
                          <a:spcPts val="0"/>
                        </a:spcBef>
                        <a:spcAft>
                          <a:spcPts val="800"/>
                        </a:spcAft>
                      </a:pPr>
                      <a:r>
                        <a:rPr lang="en-US" sz="2400" b="1">
                          <a:effectLst/>
                          <a:latin typeface="Poppins" panose="00000500000000000000" pitchFamily="2" charset="0"/>
                          <a:cs typeface="Poppins" panose="00000500000000000000" pitchFamily="2" charset="0"/>
                        </a:rPr>
                        <a:t>given_name</a:t>
                      </a:r>
                      <a:endParaRPr lang="en-US" sz="240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dirty="0" err="1">
                          <a:effectLst/>
                          <a:latin typeface="Poppins" panose="00000500000000000000" pitchFamily="2" charset="0"/>
                          <a:cs typeface="Poppins" panose="00000500000000000000" pitchFamily="2" charset="0"/>
                        </a:rPr>
                        <a:t>givenName</a:t>
                      </a:r>
                      <a:endParaRPr lang="en-US" sz="2400" dirty="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First name of customer</a:t>
                      </a:r>
                    </a:p>
                  </a:txBody>
                  <a:tcPr marL="50800" marR="50800" marT="50800" marB="50800"/>
                </a:tc>
                <a:extLst>
                  <a:ext uri="{0D108BD9-81ED-4DB2-BD59-A6C34878D82A}">
                    <a16:rowId xmlns:a16="http://schemas.microsoft.com/office/drawing/2014/main" val="2194718532"/>
                  </a:ext>
                </a:extLst>
              </a:tr>
              <a:tr h="728660">
                <a:tc>
                  <a:txBody>
                    <a:bodyPr/>
                    <a:lstStyle/>
                    <a:p>
                      <a:pPr fontAlgn="t">
                        <a:spcBef>
                          <a:spcPts val="0"/>
                        </a:spcBef>
                        <a:spcAft>
                          <a:spcPts val="800"/>
                        </a:spcAft>
                      </a:pPr>
                      <a:r>
                        <a:rPr lang="en-US" sz="2400" b="1">
                          <a:effectLst/>
                          <a:latin typeface="Poppins" panose="00000500000000000000" pitchFamily="2" charset="0"/>
                          <a:cs typeface="Poppins" panose="00000500000000000000" pitchFamily="2" charset="0"/>
                        </a:rPr>
                        <a:t>family_name</a:t>
                      </a:r>
                      <a:endParaRPr lang="en-US" sz="240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surname</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Last name of customer</a:t>
                      </a:r>
                    </a:p>
                  </a:txBody>
                  <a:tcPr marL="50800" marR="50800" marT="50800" marB="50800"/>
                </a:tc>
                <a:extLst>
                  <a:ext uri="{0D108BD9-81ED-4DB2-BD59-A6C34878D82A}">
                    <a16:rowId xmlns:a16="http://schemas.microsoft.com/office/drawing/2014/main" val="1123501458"/>
                  </a:ext>
                </a:extLst>
              </a:tr>
              <a:tr h="1274327">
                <a:tc>
                  <a:txBody>
                    <a:bodyPr/>
                    <a:lstStyle/>
                    <a:p>
                      <a:pPr fontAlgn="t">
                        <a:spcBef>
                          <a:spcPts val="0"/>
                        </a:spcBef>
                        <a:spcAft>
                          <a:spcPts val="800"/>
                        </a:spcAft>
                      </a:pPr>
                      <a:r>
                        <a:rPr lang="en-US" sz="2400" b="1" dirty="0" err="1">
                          <a:effectLst/>
                          <a:latin typeface="Poppins" panose="00000500000000000000" pitchFamily="2" charset="0"/>
                          <a:cs typeface="Poppins" panose="00000500000000000000" pitchFamily="2" charset="0"/>
                        </a:rPr>
                        <a:t>user_metada</a:t>
                      </a:r>
                      <a:r>
                        <a:rPr lang="en-US" sz="2400" b="1" dirty="0">
                          <a:effectLst/>
                          <a:latin typeface="Poppins" panose="00000500000000000000" pitchFamily="2" charset="0"/>
                          <a:cs typeface="Poppins" panose="00000500000000000000" pitchFamily="2" charset="0"/>
                        </a:rPr>
                        <a:t>/</a:t>
                      </a:r>
                      <a:r>
                        <a:rPr lang="en-US" sz="2400" b="1" dirty="0" err="1">
                          <a:effectLst/>
                          <a:latin typeface="Poppins" panose="00000500000000000000" pitchFamily="2" charset="0"/>
                          <a:cs typeface="Poppins" panose="00000500000000000000" pitchFamily="2" charset="0"/>
                        </a:rPr>
                        <a:t>phone_number</a:t>
                      </a:r>
                      <a:endParaRPr lang="en-US" sz="2400" dirty="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object</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extension_6763e55b6ff14605ae1d3ac83fe7aff1_SCENE_PhoneNumber</a:t>
                      </a: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Primary Phone number of customer</a:t>
                      </a:r>
                    </a:p>
                  </a:txBody>
                  <a:tcPr marL="50800" marR="50800" marT="50800" marB="50800"/>
                </a:tc>
                <a:extLst>
                  <a:ext uri="{0D108BD9-81ED-4DB2-BD59-A6C34878D82A}">
                    <a16:rowId xmlns:a16="http://schemas.microsoft.com/office/drawing/2014/main" val="130196897"/>
                  </a:ext>
                </a:extLst>
              </a:tr>
              <a:tr h="1274327">
                <a:tc>
                  <a:txBody>
                    <a:bodyPr/>
                    <a:lstStyle/>
                    <a:p>
                      <a:pPr fontAlgn="t">
                        <a:spcBef>
                          <a:spcPts val="0"/>
                        </a:spcBef>
                        <a:spcAft>
                          <a:spcPts val="800"/>
                        </a:spcAft>
                      </a:pPr>
                      <a:r>
                        <a:rPr lang="en-US" sz="2400" b="1">
                          <a:effectLst/>
                          <a:latin typeface="Poppins" panose="00000500000000000000" pitchFamily="2" charset="0"/>
                          <a:cs typeface="Poppins" panose="00000500000000000000" pitchFamily="2" charset="0"/>
                        </a:rPr>
                        <a:t>user_metadata/synapze_customerid</a:t>
                      </a:r>
                      <a:endParaRPr lang="en-US" sz="240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object</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extension_6763e55b6ff14605ae1d3ac83fe7aff1_SCENE_CustomerId</a:t>
                      </a:r>
                    </a:p>
                  </a:txBody>
                  <a:tcPr marL="50800" marR="50800" marT="50800" marB="50800"/>
                </a:tc>
                <a:tc>
                  <a:txBody>
                    <a:bodyPr/>
                    <a:lstStyle/>
                    <a:p>
                      <a:pPr fontAlgn="t">
                        <a:spcBef>
                          <a:spcPts val="0"/>
                        </a:spcBef>
                        <a:spcAft>
                          <a:spcPts val="800"/>
                        </a:spcAft>
                      </a:pPr>
                      <a:r>
                        <a:rPr lang="en-US" sz="2400" dirty="0" err="1">
                          <a:effectLst/>
                          <a:latin typeface="Poppins" panose="00000500000000000000" pitchFamily="2" charset="0"/>
                          <a:cs typeface="Poppins" panose="00000500000000000000" pitchFamily="2" charset="0"/>
                        </a:rPr>
                        <a:t>guid</a:t>
                      </a:r>
                      <a:endParaRPr lang="en-US" sz="2400" dirty="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dirty="0" err="1">
                          <a:effectLst/>
                          <a:latin typeface="Poppins" panose="00000500000000000000" pitchFamily="2" charset="0"/>
                          <a:cs typeface="Poppins" panose="00000500000000000000" pitchFamily="2" charset="0"/>
                        </a:rPr>
                        <a:t>Synapze</a:t>
                      </a:r>
                      <a:r>
                        <a:rPr lang="en-US" sz="2400" dirty="0">
                          <a:effectLst/>
                          <a:latin typeface="Poppins" panose="00000500000000000000" pitchFamily="2" charset="0"/>
                          <a:cs typeface="Poppins" panose="00000500000000000000" pitchFamily="2" charset="0"/>
                        </a:rPr>
                        <a:t> _Unique ID</a:t>
                      </a:r>
                    </a:p>
                  </a:txBody>
                  <a:tcPr marL="50800" marR="50800" marT="50800" marB="50800"/>
                </a:tc>
                <a:extLst>
                  <a:ext uri="{0D108BD9-81ED-4DB2-BD59-A6C34878D82A}">
                    <a16:rowId xmlns:a16="http://schemas.microsoft.com/office/drawing/2014/main" val="4152996039"/>
                  </a:ext>
                </a:extLst>
              </a:tr>
              <a:tr h="1274327">
                <a:tc>
                  <a:txBody>
                    <a:bodyPr/>
                    <a:lstStyle/>
                    <a:p>
                      <a:pPr fontAlgn="t">
                        <a:spcBef>
                          <a:spcPts val="0"/>
                        </a:spcBef>
                        <a:spcAft>
                          <a:spcPts val="800"/>
                        </a:spcAft>
                      </a:pPr>
                      <a:r>
                        <a:rPr lang="en-US" sz="2400" b="1">
                          <a:effectLst/>
                          <a:latin typeface="Poppins" panose="00000500000000000000" pitchFamily="2" charset="0"/>
                          <a:cs typeface="Poppins" panose="00000500000000000000" pitchFamily="2" charset="0"/>
                        </a:rPr>
                        <a:t>user_metadata/scene_access_flag</a:t>
                      </a:r>
                      <a:endParaRPr lang="en-US" sz="240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boolean</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extension_6763e55b6ff14605ae1d3ac83fe7aff1_SCENE_AccessFlag</a:t>
                      </a: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Boolean</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Used for security fraud check</a:t>
                      </a:r>
                    </a:p>
                  </a:txBody>
                  <a:tcPr marL="50800" marR="50800" marT="50800" marB="50800"/>
                </a:tc>
                <a:extLst>
                  <a:ext uri="{0D108BD9-81ED-4DB2-BD59-A6C34878D82A}">
                    <a16:rowId xmlns:a16="http://schemas.microsoft.com/office/drawing/2014/main" val="4278104898"/>
                  </a:ext>
                </a:extLst>
              </a:tr>
              <a:tr h="728660">
                <a:tc>
                  <a:txBody>
                    <a:bodyPr/>
                    <a:lstStyle/>
                    <a:p>
                      <a:pPr fontAlgn="t">
                        <a:spcBef>
                          <a:spcPts val="0"/>
                        </a:spcBef>
                        <a:spcAft>
                          <a:spcPts val="800"/>
                        </a:spcAft>
                      </a:pPr>
                      <a:r>
                        <a:rPr lang="en-US" sz="2400" b="1">
                          <a:effectLst/>
                          <a:latin typeface="Poppins" panose="00000500000000000000" pitchFamily="2" charset="0"/>
                          <a:cs typeface="Poppins" panose="00000500000000000000" pitchFamily="2" charset="0"/>
                        </a:rPr>
                        <a:t>user_id</a:t>
                      </a:r>
                      <a:endParaRPr lang="en-US" sz="240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uuid</a:t>
                      </a: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objectId</a:t>
                      </a:r>
                    </a:p>
                  </a:txBody>
                  <a:tcPr marL="50800" marR="50800" marT="50800" marB="50800"/>
                </a:tc>
                <a:tc>
                  <a:txBody>
                    <a:bodyPr/>
                    <a:lstStyle/>
                    <a:p>
                      <a:pPr fontAlgn="t">
                        <a:spcBef>
                          <a:spcPts val="0"/>
                        </a:spcBef>
                        <a:spcAft>
                          <a:spcPts val="800"/>
                        </a:spcAft>
                      </a:pPr>
                      <a:r>
                        <a:rPr lang="en-US" sz="2400" dirty="0" err="1">
                          <a:effectLst/>
                          <a:latin typeface="Poppins" panose="00000500000000000000" pitchFamily="2" charset="0"/>
                          <a:cs typeface="Poppins" panose="00000500000000000000" pitchFamily="2" charset="0"/>
                        </a:rPr>
                        <a:t>guid</a:t>
                      </a:r>
                      <a:endParaRPr lang="en-US" sz="2400" dirty="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OKTACIC's Unique ID</a:t>
                      </a:r>
                    </a:p>
                  </a:txBody>
                  <a:tcPr marL="50800" marR="50800" marT="50800" marB="50800"/>
                </a:tc>
                <a:extLst>
                  <a:ext uri="{0D108BD9-81ED-4DB2-BD59-A6C34878D82A}">
                    <a16:rowId xmlns:a16="http://schemas.microsoft.com/office/drawing/2014/main" val="2652725167"/>
                  </a:ext>
                </a:extLst>
              </a:tr>
              <a:tr h="728660">
                <a:tc>
                  <a:txBody>
                    <a:bodyPr/>
                    <a:lstStyle/>
                    <a:p>
                      <a:pPr fontAlgn="t">
                        <a:spcBef>
                          <a:spcPts val="0"/>
                        </a:spcBef>
                        <a:spcAft>
                          <a:spcPts val="800"/>
                        </a:spcAft>
                      </a:pPr>
                      <a:r>
                        <a:rPr lang="en-US" sz="2400" b="1">
                          <a:effectLst/>
                          <a:latin typeface="Poppins" panose="00000500000000000000" pitchFamily="2" charset="0"/>
                          <a:cs typeface="Poppins" panose="00000500000000000000" pitchFamily="2" charset="0"/>
                        </a:rPr>
                        <a:t>email</a:t>
                      </a:r>
                      <a:endParaRPr lang="en-US" sz="240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mail</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Unique Customer Email Address</a:t>
                      </a:r>
                    </a:p>
                  </a:txBody>
                  <a:tcPr marL="50800" marR="50800" marT="50800" marB="50800"/>
                </a:tc>
                <a:extLst>
                  <a:ext uri="{0D108BD9-81ED-4DB2-BD59-A6C34878D82A}">
                    <a16:rowId xmlns:a16="http://schemas.microsoft.com/office/drawing/2014/main" val="593212751"/>
                  </a:ext>
                </a:extLst>
              </a:tr>
              <a:tr h="1274327">
                <a:tc>
                  <a:txBody>
                    <a:bodyPr/>
                    <a:lstStyle/>
                    <a:p>
                      <a:pPr fontAlgn="t">
                        <a:spcBef>
                          <a:spcPts val="0"/>
                        </a:spcBef>
                        <a:spcAft>
                          <a:spcPts val="800"/>
                        </a:spcAft>
                      </a:pPr>
                      <a:r>
                        <a:rPr lang="en-US" sz="2400" b="1" dirty="0" err="1">
                          <a:effectLst/>
                          <a:latin typeface="Poppins" panose="00000500000000000000" pitchFamily="2" charset="0"/>
                          <a:cs typeface="Poppins" panose="00000500000000000000" pitchFamily="2" charset="0"/>
                        </a:rPr>
                        <a:t>user_metadata</a:t>
                      </a:r>
                      <a:r>
                        <a:rPr lang="en-US" sz="2400" b="1" dirty="0">
                          <a:effectLst/>
                          <a:latin typeface="Poppins" panose="00000500000000000000" pitchFamily="2" charset="0"/>
                          <a:cs typeface="Poppins" panose="00000500000000000000" pitchFamily="2" charset="0"/>
                        </a:rPr>
                        <a:t>/</a:t>
                      </a:r>
                      <a:r>
                        <a:rPr lang="en-US" sz="2400" b="1" dirty="0" err="1">
                          <a:effectLst/>
                          <a:latin typeface="Poppins" panose="00000500000000000000" pitchFamily="2" charset="0"/>
                          <a:cs typeface="Poppins" panose="00000500000000000000" pitchFamily="2" charset="0"/>
                        </a:rPr>
                        <a:t>bns_cid</a:t>
                      </a:r>
                      <a:endParaRPr lang="en-US" sz="2400" dirty="0">
                        <a:effectLst/>
                        <a:latin typeface="Poppins" panose="00000500000000000000" pitchFamily="2" charset="0"/>
                        <a:cs typeface="Poppins" panose="00000500000000000000" pitchFamily="2" charset="0"/>
                      </a:endParaRP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a:effectLst/>
                          <a:latin typeface="Poppins" panose="00000500000000000000" pitchFamily="2" charset="0"/>
                          <a:cs typeface="Poppins" panose="00000500000000000000" pitchFamily="2" charset="0"/>
                        </a:rPr>
                        <a:t>federated</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string</a:t>
                      </a:r>
                    </a:p>
                  </a:txBody>
                  <a:tcPr marL="50800" marR="50800" marT="50800" marB="50800"/>
                </a:tc>
                <a:tc>
                  <a:txBody>
                    <a:bodyPr/>
                    <a:lstStyle/>
                    <a:p>
                      <a:pPr fontAlgn="t">
                        <a:spcBef>
                          <a:spcPts val="0"/>
                        </a:spcBef>
                        <a:spcAft>
                          <a:spcPts val="800"/>
                        </a:spcAft>
                      </a:pPr>
                      <a:r>
                        <a:rPr lang="en-US" sz="2400" dirty="0">
                          <a:effectLst/>
                          <a:latin typeface="Poppins" panose="00000500000000000000" pitchFamily="2" charset="0"/>
                          <a:cs typeface="Poppins" panose="00000500000000000000" pitchFamily="2" charset="0"/>
                        </a:rPr>
                        <a:t>BNS Customer ID (CID) - users who do not have Scotiabank account won't have this field tied to their account</a:t>
                      </a:r>
                    </a:p>
                  </a:txBody>
                  <a:tcPr marL="50800" marR="50800" marT="50800" marB="50800"/>
                </a:tc>
                <a:extLst>
                  <a:ext uri="{0D108BD9-81ED-4DB2-BD59-A6C34878D82A}">
                    <a16:rowId xmlns:a16="http://schemas.microsoft.com/office/drawing/2014/main" val="2426608663"/>
                  </a:ext>
                </a:extLst>
              </a:tr>
              <a:tr h="885550">
                <a:tc>
                  <a:txBody>
                    <a:bodyPr/>
                    <a:lstStyle/>
                    <a:p>
                      <a:pPr marL="0" marR="0" fontAlgn="t">
                        <a:spcBef>
                          <a:spcPts val="0"/>
                        </a:spcBef>
                        <a:spcAft>
                          <a:spcPts val="0"/>
                        </a:spcAft>
                      </a:pPr>
                      <a:r>
                        <a:rPr lang="en-US" sz="2400" b="1" dirty="0" err="1">
                          <a:effectLst/>
                          <a:latin typeface="Poppins" panose="00000500000000000000" pitchFamily="2" charset="0"/>
                          <a:cs typeface="Poppins" panose="00000500000000000000" pitchFamily="2" charset="0"/>
                        </a:rPr>
                        <a:t>user_metadata</a:t>
                      </a:r>
                      <a:r>
                        <a:rPr lang="en-US" sz="2400" b="1" dirty="0">
                          <a:effectLst/>
                          <a:latin typeface="Poppins" panose="00000500000000000000" pitchFamily="2" charset="0"/>
                          <a:cs typeface="Poppins" panose="00000500000000000000" pitchFamily="2" charset="0"/>
                        </a:rPr>
                        <a:t>/</a:t>
                      </a:r>
                      <a:r>
                        <a:rPr lang="en-US" sz="2400" b="1" dirty="0" err="1">
                          <a:effectLst/>
                          <a:latin typeface="Poppins" panose="00000500000000000000" pitchFamily="2" charset="0"/>
                          <a:cs typeface="Poppins" panose="00000500000000000000" pitchFamily="2" charset="0"/>
                        </a:rPr>
                        <a:t>migration_linking_status</a:t>
                      </a:r>
                      <a:endParaRPr lang="en-US" sz="2400" dirty="0">
                        <a:effectLst/>
                        <a:latin typeface="Poppins" panose="00000500000000000000" pitchFamily="2" charset="0"/>
                        <a:cs typeface="Poppins" panose="00000500000000000000" pitchFamily="2" charset="0"/>
                      </a:endParaRPr>
                    </a:p>
                  </a:txBody>
                  <a:tcPr marL="50800" marR="50800" marT="50800" marB="50800"/>
                </a:tc>
                <a:tc>
                  <a:txBody>
                    <a:bodyPr/>
                    <a:lstStyle/>
                    <a:p>
                      <a:pPr marL="0" marR="0" fontAlgn="t">
                        <a:spcBef>
                          <a:spcPts val="0"/>
                        </a:spcBef>
                        <a:spcAft>
                          <a:spcPts val="0"/>
                        </a:spcAft>
                      </a:pPr>
                      <a:r>
                        <a:rPr lang="en-US" sz="2400" dirty="0">
                          <a:effectLst/>
                          <a:latin typeface="Poppins" panose="00000500000000000000" pitchFamily="2" charset="0"/>
                          <a:cs typeface="Poppins" panose="00000500000000000000" pitchFamily="2" charset="0"/>
                        </a:rPr>
                        <a:t>string</a:t>
                      </a:r>
                    </a:p>
                  </a:txBody>
                  <a:tcPr marL="50800" marR="50800" marT="50800" marB="50800"/>
                </a:tc>
                <a:tc>
                  <a:txBody>
                    <a:bodyPr/>
                    <a:lstStyle/>
                    <a:p>
                      <a:pPr marL="0" marR="0" fontAlgn="t">
                        <a:spcBef>
                          <a:spcPts val="0"/>
                        </a:spcBef>
                        <a:spcAft>
                          <a:spcPts val="0"/>
                        </a:spcAft>
                      </a:pPr>
                      <a:r>
                        <a:rPr lang="en-US" sz="2400">
                          <a:effectLst/>
                          <a:latin typeface="Poppins" panose="00000500000000000000" pitchFamily="2" charset="0"/>
                          <a:cs typeface="Poppins" panose="00000500000000000000" pitchFamily="2" charset="0"/>
                        </a:rPr>
                        <a:t> </a:t>
                      </a:r>
                      <a:r>
                        <a:rPr lang="en-US" sz="2400">
                          <a:solidFill>
                            <a:srgbClr val="FF0000"/>
                          </a:solidFill>
                          <a:effectLst/>
                          <a:latin typeface="Poppins" panose="00000500000000000000" pitchFamily="2" charset="0"/>
                          <a:cs typeface="Poppins" panose="00000500000000000000" pitchFamily="2" charset="0"/>
                        </a:rPr>
                        <a:t>migration_status</a:t>
                      </a:r>
                    </a:p>
                  </a:txBody>
                  <a:tcPr marL="50800" marR="50800" marT="50800" marB="50800"/>
                </a:tc>
                <a:tc>
                  <a:txBody>
                    <a:bodyPr/>
                    <a:lstStyle/>
                    <a:p>
                      <a:pPr marL="0" marR="0" fontAlgn="t">
                        <a:spcBef>
                          <a:spcPts val="0"/>
                        </a:spcBef>
                        <a:spcAft>
                          <a:spcPts val="0"/>
                        </a:spcAft>
                      </a:pPr>
                      <a:r>
                        <a:rPr lang="en-US" sz="2400" dirty="0">
                          <a:effectLst/>
                          <a:latin typeface="Poppins" panose="00000500000000000000" pitchFamily="2" charset="0"/>
                          <a:cs typeface="Poppins" panose="00000500000000000000" pitchFamily="2" charset="0"/>
                        </a:rPr>
                        <a:t>string</a:t>
                      </a:r>
                    </a:p>
                  </a:txBody>
                  <a:tcPr marL="50800" marR="50800" marT="50800" marB="50800"/>
                </a:tc>
                <a:tc>
                  <a:txBody>
                    <a:bodyPr/>
                    <a:lstStyle/>
                    <a:p>
                      <a:pPr marL="0" marR="0" fontAlgn="t">
                        <a:spcBef>
                          <a:spcPts val="0"/>
                        </a:spcBef>
                        <a:spcAft>
                          <a:spcPts val="0"/>
                        </a:spcAft>
                      </a:pPr>
                      <a:r>
                        <a:rPr lang="en-US" sz="2400" dirty="0">
                          <a:effectLst/>
                          <a:latin typeface="Poppins" panose="00000500000000000000" pitchFamily="2" charset="0"/>
                          <a:cs typeface="Poppins" panose="00000500000000000000" pitchFamily="2" charset="0"/>
                        </a:rPr>
                        <a:t>Status of the user during migration </a:t>
                      </a:r>
                    </a:p>
                  </a:txBody>
                  <a:tcPr marL="50800" marR="50800" marT="50800" marB="50800"/>
                </a:tc>
                <a:extLst>
                  <a:ext uri="{0D108BD9-81ED-4DB2-BD59-A6C34878D82A}">
                    <a16:rowId xmlns:a16="http://schemas.microsoft.com/office/drawing/2014/main" val="3923732078"/>
                  </a:ext>
                </a:extLst>
              </a:tr>
            </a:tbl>
          </a:graphicData>
        </a:graphic>
      </p:graphicFrame>
    </p:spTree>
    <p:extLst>
      <p:ext uri="{BB962C8B-B14F-4D97-AF65-F5344CB8AC3E}">
        <p14:creationId xmlns:p14="http://schemas.microsoft.com/office/powerpoint/2010/main" val="408382591"/>
      </p:ext>
    </p:extLst>
  </p:cSld>
  <p:clrMapOvr>
    <a:masterClrMapping/>
  </p:clrMapOvr>
</p:sld>
</file>

<file path=ppt/theme/theme1.xml><?xml version="1.0" encoding="utf-8"?>
<a:theme xmlns:a="http://schemas.openxmlformats.org/drawingml/2006/main" name="Office Theme">
  <a:themeElements>
    <a:clrScheme name="KeyData Theme 2023">
      <a:dk1>
        <a:srgbClr val="000000"/>
      </a:dk1>
      <a:lt1>
        <a:srgbClr val="FFFFFF"/>
      </a:lt1>
      <a:dk2>
        <a:srgbClr val="949699"/>
      </a:dk2>
      <a:lt2>
        <a:srgbClr val="F4F4F0"/>
      </a:lt2>
      <a:accent1>
        <a:srgbClr val="192951"/>
      </a:accent1>
      <a:accent2>
        <a:srgbClr val="AF816A"/>
      </a:accent2>
      <a:accent3>
        <a:srgbClr val="0FB7BB"/>
      </a:accent3>
      <a:accent4>
        <a:srgbClr val="B5CCA0"/>
      </a:accent4>
      <a:accent5>
        <a:srgbClr val="F79256"/>
      </a:accent5>
      <a:accent6>
        <a:srgbClr val="31668B"/>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Source Sans Pro"/>
        <a:ea typeface="Source Sans Pro"/>
        <a:cs typeface="Source Sans Pro"/>
      </a:majorFont>
      <a:minorFont>
        <a:latin typeface="Source Sans Pro"/>
        <a:ea typeface="Source Sans Pro"/>
        <a:cs typeface="Source Sans Pro"/>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ctr" defTabSz="821531" rtl="0" fontAlgn="auto" latinLnBrk="0" hangingPunct="0">
          <a:lnSpc>
            <a:spcPct val="100000"/>
          </a:lnSpc>
          <a:spcBef>
            <a:spcPts val="0"/>
          </a:spcBef>
          <a:spcAft>
            <a:spcPts val="0"/>
          </a:spcAft>
          <a:buClrTx/>
          <a:buSzTx/>
          <a:buFontTx/>
          <a:buNone/>
          <a:tabLst/>
          <a:defRPr kumimoji="0" sz="3000" b="0" i="0" u="none" strike="noStrike" cap="none" spc="0" normalizeH="0" baseline="0">
            <a:ln>
              <a:noFill/>
            </a:ln>
            <a:solidFill>
              <a:srgbClr val="FFFFFF"/>
            </a:solidFill>
            <a:effectLst/>
            <a:uFillTx/>
            <a:latin typeface="Source Sans Pro Semibold"/>
            <a:ea typeface="Source Sans Pro Semibold"/>
            <a:cs typeface="Source Sans Pro Semibold"/>
            <a:sym typeface="Source Sans Pro Semibold"/>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7" tIns="71437" rIns="71437" bIns="71437" numCol="1" spcCol="38100" rtlCol="0" anchor="ctr">
        <a:spAutoFit/>
      </a:bodyPr>
      <a:lstStyle>
        <a:defPPr marL="0" marR="0" indent="0" algn="l" defTabSz="457200" rtl="0" fontAlgn="auto" latinLnBrk="0" hangingPunct="0">
          <a:lnSpc>
            <a:spcPts val="7000"/>
          </a:lnSpc>
          <a:spcBef>
            <a:spcPts val="0"/>
          </a:spcBef>
          <a:spcAft>
            <a:spcPts val="0"/>
          </a:spcAft>
          <a:buClrTx/>
          <a:buSzTx/>
          <a:buFontTx/>
          <a:buNone/>
          <a:tabLst>
            <a:tab pos="3060700" algn="l"/>
            <a:tab pos="3187700" algn="l"/>
          </a:tabLst>
          <a:defRPr kumimoji="0" sz="7000" b="1" i="0" u="none" strike="noStrike" cap="none" spc="-70" normalizeH="0" baseline="0">
            <a:ln>
              <a:noFill/>
            </a:ln>
            <a:solidFill>
              <a:srgbClr val="034EA2"/>
            </a:solidFill>
            <a:effectLst/>
            <a:uFill>
              <a:solidFill>
                <a:srgbClr val="034EA2"/>
              </a:solidFill>
            </a:uFill>
            <a:latin typeface="+mn-lt"/>
            <a:ea typeface="+mn-ea"/>
            <a:cs typeface="+mn-cs"/>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8C48D716DAEB047830B89AB24C7A042" ma:contentTypeVersion="12" ma:contentTypeDescription="Create a new document." ma:contentTypeScope="" ma:versionID="6e9322e210b2609ed7b7a1c5fa2b9101">
  <xsd:schema xmlns:xsd="http://www.w3.org/2001/XMLSchema" xmlns:xs="http://www.w3.org/2001/XMLSchema" xmlns:p="http://schemas.microsoft.com/office/2006/metadata/properties" xmlns:ns2="50782664-14c5-4649-bd61-fb708f923e15" xmlns:ns3="676a59b6-73d1-4c61-80ac-0d7c504f286b" targetNamespace="http://schemas.microsoft.com/office/2006/metadata/properties" ma:root="true" ma:fieldsID="edcd3d66e99b9b71cbc12ed4f203be16" ns2:_="" ns3:_="">
    <xsd:import namespace="50782664-14c5-4649-bd61-fb708f923e15"/>
    <xsd:import namespace="676a59b6-73d1-4c61-80ac-0d7c504f286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782664-14c5-4649-bd61-fb708f923e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2bf20f3-1dad-4cf2-8a60-565a4b6c0a6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76a59b6-73d1-4c61-80ac-0d7c504f286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7084798-f757-47fd-a7e9-46de63a6ca23}" ma:internalName="TaxCatchAll" ma:showField="CatchAllData" ma:web="676a59b6-73d1-4c61-80ac-0d7c504f28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50782664-14c5-4649-bd61-fb708f923e15">
      <Terms xmlns="http://schemas.microsoft.com/office/infopath/2007/PartnerControls"/>
    </lcf76f155ced4ddcb4097134ff3c332f>
    <TaxCatchAll xmlns="676a59b6-73d1-4c61-80ac-0d7c504f286b" xsi:nil="true"/>
  </documentManagement>
</p:properties>
</file>

<file path=customXml/itemProps1.xml><?xml version="1.0" encoding="utf-8"?>
<ds:datastoreItem xmlns:ds="http://schemas.openxmlformats.org/officeDocument/2006/customXml" ds:itemID="{3C067F57-484E-48A7-81EB-B4A9F1E794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0782664-14c5-4649-bd61-fb708f923e15"/>
    <ds:schemaRef ds:uri="676a59b6-73d1-4c61-80ac-0d7c504f28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AED6C04-065C-49F1-962B-2067EF1D6D99}">
  <ds:schemaRefs>
    <ds:schemaRef ds:uri="http://schemas.microsoft.com/sharepoint/v3/contenttype/forms"/>
  </ds:schemaRefs>
</ds:datastoreItem>
</file>

<file path=customXml/itemProps3.xml><?xml version="1.0" encoding="utf-8"?>
<ds:datastoreItem xmlns:ds="http://schemas.openxmlformats.org/officeDocument/2006/customXml" ds:itemID="{E6132B47-F72C-4DDA-9E77-E08204B88E85}">
  <ds:schemaRefs>
    <ds:schemaRef ds:uri="http://purl.org/dc/dcmitype/"/>
    <ds:schemaRef ds:uri="http://purl.org/dc/elements/1.1/"/>
    <ds:schemaRef ds:uri="http://schemas.microsoft.com/office/2006/documentManagement/types"/>
    <ds:schemaRef ds:uri="http://purl.org/dc/terms/"/>
    <ds:schemaRef ds:uri="50782664-14c5-4649-bd61-fb708f923e15"/>
    <ds:schemaRef ds:uri="http://schemas.microsoft.com/office/infopath/2007/PartnerControls"/>
    <ds:schemaRef ds:uri="http://schemas.openxmlformats.org/package/2006/metadata/core-properties"/>
    <ds:schemaRef ds:uri="676a59b6-73d1-4c61-80ac-0d7c504f286b"/>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690</Words>
  <Application>Microsoft Office PowerPoint</Application>
  <PresentationFormat>Custom</PresentationFormat>
  <Paragraphs>106</Paragraphs>
  <Slides>10</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__fkGroteskNeue_598ab8</vt:lpstr>
      <vt:lpstr>Arial</vt:lpstr>
      <vt:lpstr>Calibri</vt:lpstr>
      <vt:lpstr>Century Gothic</vt:lpstr>
      <vt:lpstr>Poppins</vt:lpstr>
      <vt:lpstr>Poppins Medium</vt:lpstr>
      <vt:lpstr>Source Sans Pro</vt:lpstr>
      <vt:lpstr>Office Theme</vt:lpstr>
      <vt:lpstr>Scene+: Schema validation at API management </vt:lpstr>
      <vt:lpstr>PowerPoint Presentation</vt:lpstr>
      <vt:lpstr>PowerPoint Presentation</vt:lpstr>
      <vt:lpstr>PowerPoint Presentation</vt:lpstr>
      <vt:lpstr>PowerPoint Presentation</vt:lpstr>
      <vt:lpstr>PowerPoint Presentation</vt:lpstr>
      <vt:lpstr>Scene+: User migration from B2C to OKTA</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cp:revision>
  <dcterms:modified xsi:type="dcterms:W3CDTF">2024-08-07T16:30:46Z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255d587-f0d8-4d4c-b250-b1f3ebe933b1_Name">
    <vt:lpwstr>General</vt:lpwstr>
  </property>
  <property fmtid="{D5CDD505-2E9C-101B-9397-08002B2CF9AE}" pid="3" name="MSIP_Label_4255d587-f0d8-4d4c-b250-b1f3ebe933b1_ActionId">
    <vt:lpwstr>6fcb6c39-bdc3-446c-bf06-c1c4aa238f45</vt:lpwstr>
  </property>
  <property fmtid="{D5CDD505-2E9C-101B-9397-08002B2CF9AE}" pid="4" name="MediaServiceImageTags">
    <vt:lpwstr/>
  </property>
  <property fmtid="{D5CDD505-2E9C-101B-9397-08002B2CF9AE}" pid="5" name="ContentTypeId">
    <vt:lpwstr>0x01010088C48D716DAEB047830B89AB24C7A042</vt:lpwstr>
  </property>
  <property fmtid="{D5CDD505-2E9C-101B-9397-08002B2CF9AE}" pid="6" name="MSIP_Label_4255d587-f0d8-4d4c-b250-b1f3ebe933b1_SiteId">
    <vt:lpwstr>40330b46-2607-48d4-9883-532bde40368d</vt:lpwstr>
  </property>
  <property fmtid="{D5CDD505-2E9C-101B-9397-08002B2CF9AE}" pid="7" name="MSIP_Label_4255d587-f0d8-4d4c-b250-b1f3ebe933b1_Enabled">
    <vt:lpwstr>true</vt:lpwstr>
  </property>
  <property fmtid="{D5CDD505-2E9C-101B-9397-08002B2CF9AE}" pid="8" name="MSIP_Label_4255d587-f0d8-4d4c-b250-b1f3ebe933b1_Method">
    <vt:lpwstr>Privileged</vt:lpwstr>
  </property>
  <property fmtid="{D5CDD505-2E9C-101B-9397-08002B2CF9AE}" pid="9" name="MSIP_Label_4255d587-f0d8-4d4c-b250-b1f3ebe933b1_ContentBits">
    <vt:lpwstr>0</vt:lpwstr>
  </property>
  <property fmtid="{D5CDD505-2E9C-101B-9397-08002B2CF9AE}" pid="10" name="MSIP_Label_4255d587-f0d8-4d4c-b250-b1f3ebe933b1_SetDate">
    <vt:lpwstr>2023-12-05T21:44:54Z</vt:lpwstr>
  </property>
</Properties>
</file>