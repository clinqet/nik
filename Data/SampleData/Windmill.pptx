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4" r:id="rId4"/>
  </p:sldMasterIdLst>
  <p:notesMasterIdLst>
    <p:notesMasterId r:id="rId10"/>
  </p:notesMasterIdLst>
  <p:handoutMasterIdLst>
    <p:handoutMasterId r:id="rId11"/>
  </p:handoutMasterIdLst>
  <p:sldIdLst>
    <p:sldId id="1573" r:id="rId5"/>
    <p:sldId id="2147327915" r:id="rId6"/>
    <p:sldId id="2147327914" r:id="rId7"/>
    <p:sldId id="2147327913" r:id="rId8"/>
    <p:sldId id="1579" r:id="rId9"/>
  </p:sldIdLst>
  <p:sldSz cx="24384000" cy="13716000"/>
  <p:notesSz cx="7315200" cy="12344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B6"/>
    <a:srgbClr val="0E1D42"/>
    <a:srgbClr val="FFE699"/>
    <a:srgbClr val="E8EAEE"/>
    <a:srgbClr val="0E5447"/>
    <a:srgbClr val="F0D15E"/>
    <a:srgbClr val="66686A"/>
    <a:srgbClr val="EB8C57"/>
    <a:srgbClr val="F6F3ED"/>
    <a:srgbClr val="8BB1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Source Sans Pro Semibold"/>
          <a:ea typeface="Source Sans Pro Semibold"/>
          <a:cs typeface="Source Sans Pro Semibold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Source Sans Pro Semibold"/>
          <a:ea typeface="Source Sans Pro Semibold"/>
          <a:cs typeface="Source Sans Pro Semibold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Source Sans Pro Light"/>
          <a:ea typeface="Source Sans Pro Light"/>
          <a:cs typeface="Source Sans Pro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n" i="off">
        <a:font>
          <a:latin typeface="Source Sans Pro Semibold"/>
          <a:ea typeface="Source Sans Pro Semibold"/>
          <a:cs typeface="Source Sans Pro Semibold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n" i="off">
        <a:font>
          <a:latin typeface="Source Sans Pro Semibold"/>
          <a:ea typeface="Source Sans Pro Semibold"/>
          <a:cs typeface="Source Sans Pro Semibold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n" i="off">
        <a:font>
          <a:latin typeface="Source Sans Pro Semibold"/>
          <a:ea typeface="Source Sans Pro Semibold"/>
          <a:cs typeface="Source Sans Pro Semibold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64B693-AA63-5D87-7449-628C55EC36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619363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698B1F-F180-9BF2-961E-9C2DAD66CF8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725038"/>
            <a:ext cx="3169920" cy="619362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r>
              <a:rPr lang="en-US"/>
              <a:t>KeyData Associates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0D65B4-000A-8795-0E68-647D34CE047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11725038"/>
            <a:ext cx="3169920" cy="619362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1E8F1CC6-0847-214B-AD1D-AC88DFB2E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70947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Shape 595"/>
          <p:cNvSpPr>
            <a:spLocks noGrp="1" noRot="1" noChangeAspect="1"/>
          </p:cNvSpPr>
          <p:nvPr>
            <p:ph type="sldImg"/>
          </p:nvPr>
        </p:nvSpPr>
        <p:spPr>
          <a:xfrm>
            <a:off x="-457200" y="927100"/>
            <a:ext cx="8229600" cy="4629150"/>
          </a:xfrm>
          <a:prstGeom prst="rect">
            <a:avLst/>
          </a:prstGeom>
        </p:spPr>
        <p:txBody>
          <a:bodyPr lIns="96661" tIns="48331" rIns="96661" bIns="48331"/>
          <a:lstStyle/>
          <a:p>
            <a:endParaRPr/>
          </a:p>
        </p:txBody>
      </p:sp>
      <p:sp>
        <p:nvSpPr>
          <p:cNvPr id="596" name="Shape 596"/>
          <p:cNvSpPr>
            <a:spLocks noGrp="1"/>
          </p:cNvSpPr>
          <p:nvPr>
            <p:ph type="body" sz="quarter" idx="1"/>
          </p:nvPr>
        </p:nvSpPr>
        <p:spPr>
          <a:xfrm>
            <a:off x="975360" y="5863590"/>
            <a:ext cx="5364480" cy="5554980"/>
          </a:xfrm>
          <a:prstGeom prst="rect">
            <a:avLst/>
          </a:prstGeom>
        </p:spPr>
        <p:txBody>
          <a:bodyPr lIns="96661" tIns="48331" rIns="96661" bIns="48331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23833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Source Sans Pro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Source Sans Pro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Source Sans Pro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Source Sans Pro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Source Sans Pro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Source Sans Pro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Source Sans Pro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Source Sans Pro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Source Sans Pro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A814BEB8-7017-BE25-41C6-7CD33122B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</p:spPr>
        <p:txBody>
          <a:bodyPr/>
          <a:lstStyle/>
          <a:p>
            <a:fld id="{86CB4B4D-7CA3-9044-876B-883B54F8677D}" type="slidenum">
              <a:rPr lang="en-CA" smtClean="0"/>
              <a:t>‹#›</a:t>
            </a:fld>
            <a:endParaRPr lang="en-CA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DBBA7A8-5CC6-A1AF-B3D3-6B4522D02A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6910" y="12665347"/>
            <a:ext cx="1286924" cy="314582"/>
          </a:xfrm>
          <a:prstGeom prst="rect">
            <a:avLst/>
          </a:prstGeom>
        </p:spPr>
      </p:pic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FF968C66-4D0A-D8D8-852B-A04244B3FD0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6910" y="1530488"/>
            <a:ext cx="14062160" cy="730250"/>
          </a:xfrm>
        </p:spPr>
        <p:txBody>
          <a:bodyPr>
            <a:noAutofit/>
          </a:bodyPr>
          <a:lstStyle>
            <a:lvl1pPr marL="12700" marR="1905" indent="0" algn="l" defTabSz="1828800" rtl="0" eaLnBrk="1" latinLnBrk="0" hangingPunct="1">
              <a:lnSpc>
                <a:spcPts val="4400"/>
              </a:lnSpc>
              <a:spcBef>
                <a:spcPts val="2000"/>
              </a:spcBef>
              <a:buFont typeface="Arial" panose="020B0604020202020204" pitchFamily="34" charset="0"/>
              <a:buNone/>
              <a:tabLst/>
              <a:defRPr lang="en-US" sz="6600" b="0" i="0" kern="1200" spc="-60" dirty="0">
                <a:solidFill>
                  <a:srgbClr val="0E1D42"/>
                </a:solidFill>
                <a:latin typeface="Poppins Medium" pitchFamily="2" charset="77"/>
                <a:ea typeface="+mn-ea"/>
                <a:cs typeface="Poppins Medium" pitchFamily="2" charset="77"/>
              </a:defRPr>
            </a:lvl1pPr>
          </a:lstStyle>
          <a:p>
            <a:pPr lvl="0"/>
            <a:r>
              <a:rPr lang="en-US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1460381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2489205"/>
            <a:ext cx="19497260" cy="7752082"/>
          </a:xfrm>
          <a:prstGeom prst="rect">
            <a:avLst/>
          </a:prstGeom>
        </p:spPr>
        <p:txBody>
          <a:bodyPr bIns="0" anchor="ctr">
            <a:noAutofit/>
          </a:bodyPr>
          <a:lstStyle>
            <a:lvl1pPr algn="l">
              <a:lnSpc>
                <a:spcPct val="100000"/>
              </a:lnSpc>
              <a:defRPr sz="17280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3" y="9753600"/>
            <a:ext cx="19497242" cy="97536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4800" b="0" i="0">
                <a:solidFill>
                  <a:schemeClr val="accent2"/>
                </a:solidFill>
                <a:latin typeface="+mn-lt"/>
              </a:defRPr>
            </a:lvl1pPr>
            <a:lvl2pPr marL="822940" indent="0" algn="ctr">
              <a:buNone/>
              <a:defRPr sz="3600"/>
            </a:lvl2pPr>
            <a:lvl3pPr marL="1645880" indent="0" algn="ctr">
              <a:buNone/>
              <a:defRPr sz="3240"/>
            </a:lvl3pPr>
            <a:lvl4pPr marL="2468820" indent="0" algn="ctr">
              <a:buNone/>
              <a:defRPr sz="2880"/>
            </a:lvl4pPr>
            <a:lvl5pPr marL="3291758" indent="0" algn="ctr">
              <a:buNone/>
              <a:defRPr sz="2880"/>
            </a:lvl5pPr>
            <a:lvl6pPr marL="4114696" indent="0" algn="ctr">
              <a:buNone/>
              <a:defRPr sz="2880"/>
            </a:lvl6pPr>
            <a:lvl7pPr marL="4937636" indent="0" algn="ctr">
              <a:buNone/>
              <a:defRPr sz="2880"/>
            </a:lvl7pPr>
            <a:lvl8pPr marL="5760576" indent="0" algn="ctr">
              <a:buNone/>
              <a:defRPr sz="2880"/>
            </a:lvl8pPr>
            <a:lvl9pPr marL="6583516" indent="0" algn="ctr">
              <a:buNone/>
              <a:defRPr sz="288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68F03-5FE5-7E40-8FB7-D42BEAAF96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9200" y="12187182"/>
            <a:ext cx="5486400" cy="732368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May 2020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416369E-7467-854F-90E8-46A7AD79DA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41870" y="12094464"/>
            <a:ext cx="1809504" cy="73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0091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F6658-B25A-455C-B8F8-61908EE5B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32B52-8933-4CEF-BC0E-66977149C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4F5E-AF4E-4F1B-8CEF-689B7D51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C4E0D-F106-4973-A24C-E201450EF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35EE7-371B-482F-8869-F77DBA353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065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23BF35-0F17-3B09-C4D4-C876CD26F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B9D35-024F-B1AF-4B41-A16BD5438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12638-F536-6C3A-9911-5AA3061EE2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86CB4B4D-7CA3-9044-876B-883B54F8677D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761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7" r:id="rId2"/>
    <p:sldLayoutId id="2147483678" r:id="rId3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E1D42"/>
          </a:solidFill>
          <a:latin typeface="Poppins" pitchFamily="2" charset="77"/>
          <a:ea typeface="+mj-ea"/>
          <a:cs typeface="Poppins" pitchFamily="2" charset="77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440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76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03CC6-D9E2-4130-BEB1-A50D4625AA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2489205"/>
            <a:ext cx="21768816" cy="7752082"/>
          </a:xfrm>
        </p:spPr>
        <p:txBody>
          <a:bodyPr/>
          <a:lstStyle/>
          <a:p>
            <a:r>
              <a:rPr lang="en-US" sz="6600" dirty="0">
                <a:solidFill>
                  <a:schemeClr val="bg1"/>
                </a:solidFill>
              </a:rPr>
              <a:t>Scene+: Windmill API and Initial Architecture Review</a:t>
            </a:r>
            <a:endParaRPr lang="en-CA" sz="66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41CB5-89B1-45BB-B72E-A64A6347B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711756"/>
            <a:r>
              <a:rPr lang="en-US" dirty="0">
                <a:solidFill>
                  <a:srgbClr val="ECE8D4"/>
                </a:solidFill>
                <a:latin typeface="Century Gothic" panose="020B0502020202020204"/>
              </a:rPr>
              <a:t>Aug. 2024</a:t>
            </a:r>
          </a:p>
        </p:txBody>
      </p:sp>
    </p:spTree>
    <p:extLst>
      <p:ext uri="{BB962C8B-B14F-4D97-AF65-F5344CB8AC3E}">
        <p14:creationId xmlns:p14="http://schemas.microsoft.com/office/powerpoint/2010/main" val="2773058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436913-C199-C372-CDFA-0299E4CFD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4950" y="1193800"/>
            <a:ext cx="21031200" cy="8702676"/>
          </a:xfrm>
        </p:spPr>
        <p:txBody>
          <a:bodyPr/>
          <a:lstStyle/>
          <a:p>
            <a:r>
              <a:rPr lang="en-US" dirty="0"/>
              <a:t>Point Issuance will be async Requests</a:t>
            </a:r>
          </a:p>
          <a:p>
            <a:r>
              <a:rPr lang="en-US" dirty="0"/>
              <a:t>Redemption, Account Inquiry, Account Link-Delink will be real-time call</a:t>
            </a:r>
          </a:p>
          <a:p>
            <a:r>
              <a:rPr lang="en-US" dirty="0"/>
              <a:t>All those point bank information will stream to Scene and BNS as it is</a:t>
            </a:r>
          </a:p>
          <a:p>
            <a:r>
              <a:rPr lang="en-US" dirty="0"/>
              <a:t>Volume is still need to be finalized but this might be like BNS</a:t>
            </a:r>
          </a:p>
          <a:p>
            <a:r>
              <a:rPr lang="en-US" b="1" dirty="0"/>
              <a:t>Data sync extension yet need to define with the windmill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791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A047392-E609-24B9-89CA-FE0D23749D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6934" y="1432064"/>
            <a:ext cx="21810132" cy="1085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911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FA944B9-4B7E-92A1-4285-1141553343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06733" y="1286932"/>
            <a:ext cx="15170533" cy="1114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751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6A9DF5-2943-B8DA-2C95-749E0ABBD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733" y="1286932"/>
            <a:ext cx="15170533" cy="1114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43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eyData Theme 2023">
      <a:dk1>
        <a:srgbClr val="000000"/>
      </a:dk1>
      <a:lt1>
        <a:srgbClr val="FFFFFF"/>
      </a:lt1>
      <a:dk2>
        <a:srgbClr val="949699"/>
      </a:dk2>
      <a:lt2>
        <a:srgbClr val="F4F4F0"/>
      </a:lt2>
      <a:accent1>
        <a:srgbClr val="192951"/>
      </a:accent1>
      <a:accent2>
        <a:srgbClr val="AF816A"/>
      </a:accent2>
      <a:accent3>
        <a:srgbClr val="0FB7BB"/>
      </a:accent3>
      <a:accent4>
        <a:srgbClr val="B5CCA0"/>
      </a:accent4>
      <a:accent5>
        <a:srgbClr val="F79256"/>
      </a:accent5>
      <a:accent6>
        <a:srgbClr val="31668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Source Sans Pro"/>
        <a:ea typeface="Source Sans Pro"/>
        <a:cs typeface="Source Sans Pro"/>
      </a:majorFont>
      <a:minorFont>
        <a:latin typeface="Source Sans Pro"/>
        <a:ea typeface="Source Sans Pro"/>
        <a:cs typeface="Source Sans Pro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Source Sans Pro Semibold"/>
            <a:ea typeface="Source Sans Pro Semibold"/>
            <a:cs typeface="Source Sans Pro Semibold"/>
            <a:sym typeface="Source Sans Pro Semi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ts val="7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>
            <a:tab pos="3060700" algn="l"/>
            <a:tab pos="3187700" algn="l"/>
          </a:tabLst>
          <a:defRPr kumimoji="0" sz="7000" b="1" i="0" u="none" strike="noStrike" cap="none" spc="-70" normalizeH="0" baseline="0">
            <a:ln>
              <a:noFill/>
            </a:ln>
            <a:solidFill>
              <a:srgbClr val="034EA2"/>
            </a:solidFill>
            <a:effectLst/>
            <a:uFill>
              <a:solidFill>
                <a:srgbClr val="034EA2"/>
              </a:solidFill>
            </a:uFill>
            <a:latin typeface="+mn-lt"/>
            <a:ea typeface="+mn-ea"/>
            <a:cs typeface="+mn-cs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0782664-14c5-4649-bd61-fb708f923e15">
      <Terms xmlns="http://schemas.microsoft.com/office/infopath/2007/PartnerControls"/>
    </lcf76f155ced4ddcb4097134ff3c332f>
    <TaxCatchAll xmlns="676a59b6-73d1-4c61-80ac-0d7c504f286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8C48D716DAEB047830B89AB24C7A042" ma:contentTypeVersion="12" ma:contentTypeDescription="Create a new document." ma:contentTypeScope="" ma:versionID="6e9322e210b2609ed7b7a1c5fa2b9101">
  <xsd:schema xmlns:xsd="http://www.w3.org/2001/XMLSchema" xmlns:xs="http://www.w3.org/2001/XMLSchema" xmlns:p="http://schemas.microsoft.com/office/2006/metadata/properties" xmlns:ns2="50782664-14c5-4649-bd61-fb708f923e15" xmlns:ns3="676a59b6-73d1-4c61-80ac-0d7c504f286b" targetNamespace="http://schemas.microsoft.com/office/2006/metadata/properties" ma:root="true" ma:fieldsID="edcd3d66e99b9b71cbc12ed4f203be16" ns2:_="" ns3:_="">
    <xsd:import namespace="50782664-14c5-4649-bd61-fb708f923e15"/>
    <xsd:import namespace="676a59b6-73d1-4c61-80ac-0d7c504f28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782664-14c5-4649-bd61-fb708f923e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2bf20f3-1dad-4cf2-8a60-565a4b6c0a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6a59b6-73d1-4c61-80ac-0d7c504f286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7084798-f757-47fd-a7e9-46de63a6ca23}" ma:internalName="TaxCatchAll" ma:showField="CatchAllData" ma:web="676a59b6-73d1-4c61-80ac-0d7c504f28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132B47-F72C-4DDA-9E77-E08204B88E85}">
  <ds:schemaRefs>
    <ds:schemaRef ds:uri="http://purl.org/dc/dcmitype/"/>
    <ds:schemaRef ds:uri="http://purl.org/dc/elements/1.1/"/>
    <ds:schemaRef ds:uri="http://schemas.microsoft.com/office/2006/documentManagement/types"/>
    <ds:schemaRef ds:uri="http://purl.org/dc/terms/"/>
    <ds:schemaRef ds:uri="50782664-14c5-4649-bd61-fb708f923e15"/>
    <ds:schemaRef ds:uri="http://schemas.microsoft.com/office/infopath/2007/PartnerControls"/>
    <ds:schemaRef ds:uri="http://schemas.openxmlformats.org/package/2006/metadata/core-properties"/>
    <ds:schemaRef ds:uri="676a59b6-73d1-4c61-80ac-0d7c504f286b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AED6C04-065C-49F1-962B-2067EF1D6D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067F57-484E-48A7-81EB-B4A9F1E794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782664-14c5-4649-bd61-fb708f923e15"/>
    <ds:schemaRef ds:uri="676a59b6-73d1-4c61-80ac-0d7c504f28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65</Words>
  <Application>Microsoft Office PowerPoint</Application>
  <PresentationFormat>Custom</PresentationFormat>
  <Paragraphs>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Century Gothic</vt:lpstr>
      <vt:lpstr>Poppins</vt:lpstr>
      <vt:lpstr>Poppins Medium</vt:lpstr>
      <vt:lpstr>Source Sans Pro</vt:lpstr>
      <vt:lpstr>Office Theme</vt:lpstr>
      <vt:lpstr>Scene+: Windmill API and Initial Architecture Review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3</cp:revision>
  <dcterms:modified xsi:type="dcterms:W3CDTF">2024-11-11T15:55:40Z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255d587-f0d8-4d4c-b250-b1f3ebe933b1_Name">
    <vt:lpwstr>General</vt:lpwstr>
  </property>
  <property fmtid="{D5CDD505-2E9C-101B-9397-08002B2CF9AE}" pid="3" name="MSIP_Label_4255d587-f0d8-4d4c-b250-b1f3ebe933b1_ActionId">
    <vt:lpwstr>6fcb6c39-bdc3-446c-bf06-c1c4aa238f45</vt:lpwstr>
  </property>
  <property fmtid="{D5CDD505-2E9C-101B-9397-08002B2CF9AE}" pid="4" name="MediaServiceImageTags">
    <vt:lpwstr/>
  </property>
  <property fmtid="{D5CDD505-2E9C-101B-9397-08002B2CF9AE}" pid="5" name="ContentTypeId">
    <vt:lpwstr>0x01010088C48D716DAEB047830B89AB24C7A042</vt:lpwstr>
  </property>
  <property fmtid="{D5CDD505-2E9C-101B-9397-08002B2CF9AE}" pid="6" name="MSIP_Label_4255d587-f0d8-4d4c-b250-b1f3ebe933b1_SiteId">
    <vt:lpwstr>40330b46-2607-48d4-9883-532bde40368d</vt:lpwstr>
  </property>
  <property fmtid="{D5CDD505-2E9C-101B-9397-08002B2CF9AE}" pid="7" name="MSIP_Label_4255d587-f0d8-4d4c-b250-b1f3ebe933b1_Enabled">
    <vt:lpwstr>true</vt:lpwstr>
  </property>
  <property fmtid="{D5CDD505-2E9C-101B-9397-08002B2CF9AE}" pid="8" name="MSIP_Label_4255d587-f0d8-4d4c-b250-b1f3ebe933b1_Method">
    <vt:lpwstr>Privileged</vt:lpwstr>
  </property>
  <property fmtid="{D5CDD505-2E9C-101B-9397-08002B2CF9AE}" pid="9" name="MSIP_Label_4255d587-f0d8-4d4c-b250-b1f3ebe933b1_ContentBits">
    <vt:lpwstr>0</vt:lpwstr>
  </property>
  <property fmtid="{D5CDD505-2E9C-101B-9397-08002B2CF9AE}" pid="10" name="MSIP_Label_4255d587-f0d8-4d4c-b250-b1f3ebe933b1_SetDate">
    <vt:lpwstr>2023-12-05T21:44:54Z</vt:lpwstr>
  </property>
</Properties>
</file>