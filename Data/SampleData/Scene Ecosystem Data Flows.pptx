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147472158" r:id="rId5"/>
    <p:sldId id="5459" r:id="rId6"/>
    <p:sldId id="2147472163" r:id="rId7"/>
    <p:sldId id="2147472164" r:id="rId8"/>
    <p:sldId id="21474721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DE1811-6A65-8B43-961E-A3076D47131F}" name="Gupta, Shreya" initials="GS" userId="S::shreya.gupta@bondbrandloyalty.com::6995effd-201d-4e79-a043-6ec33829f240" providerId="AD"/>
  <p188:author id="{66415A67-9186-826A-CD4F-DE2A9E29094C}" name="Vandale, Jane" initials="VJ" userId="S::Jane.Vandale@bondbrandloyalty.com::5a08d7d8-865d-4016-a2c5-4389a53888b2" providerId="AD"/>
  <p188:author id="{0A4C6B96-3C7B-9B43-A452-7D6ADEB55BBD}" name="Patel, Samarth" initials="PS" userId="S::samarth.patel@bondbrandloyalty.com::21558e6d-2417-4593-a60d-946ea1645856" providerId="AD"/>
  <p188:author id="{484C8AA6-1E8A-8A50-2C62-4999CD264D90}" name="Dufault, Jenna" initials="DJ" userId="S::Jenna.Dufault@bondbrandloyalty.com::274f4208-d1d7-4634-900a-bee1e529d008" providerId="AD"/>
  <p188:author id="{2011AFCD-C536-B487-71CB-B34CEDFBF078}" name="Haneef, Shafaq" initials="HS" userId="S::Shafaq.Haneef@bondbrandloyalty.com::9cce7c95-0417-4bd2-a9f8-5de51c23060c" providerId="AD"/>
  <p188:author id="{C33DACEE-5F71-239B-3E5F-38D98BE4FD65}" name="Therrien, Marilyn" initials="TM" userId="S::marilyn.therrien@bondbrandloyalty.com::1e87d1eb-ff8a-434c-a4d4-815fee43b0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A5B3C-1BB8-4C4E-9A37-F6C6D43BA315}" type="datetimeFigureOut">
              <a:rPr lang="en-CA" smtClean="0"/>
              <a:t>2023-10-17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9A5C6-42CE-4606-9938-34FE1A3E79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7402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9A5C6-42CE-4606-9938-34FE1A3E790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72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9A5C6-42CE-4606-9938-34FE1A3E790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0594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9A5C6-42CE-4606-9938-34FE1A3E790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986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image" Target="../media/image19.emf"/><Relationship Id="rId4" Type="http://schemas.openxmlformats.org/officeDocument/2006/relationships/oleObject" Target="../embeddings/oleObject2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44601"/>
            <a:ext cx="9748629" cy="3876041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9600" i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876800"/>
            <a:ext cx="9748621" cy="48768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667" b="0" i="0">
                <a:solidFill>
                  <a:schemeClr val="accent3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68F03-5FE5-7E40-8FB7-D42BEAA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094262"/>
            <a:ext cx="2743200" cy="36618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7904"/>
            <a:ext cx="904752" cy="3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631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- Sand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light&#10;&#10;Description automatically generated">
            <a:extLst>
              <a:ext uri="{FF2B5EF4-FFF2-40B4-BE49-F238E27FC236}">
                <a16:creationId xmlns:a16="http://schemas.microsoft.com/office/drawing/2014/main" id="{3335917F-92F5-DE42-AC60-5D144EA9C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6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4267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BF050F-89F0-2147-8471-7D05F2B0C6D2}"/>
              </a:ext>
            </a:extLst>
          </p:cNvPr>
          <p:cNvSpPr/>
          <p:nvPr/>
        </p:nvSpPr>
        <p:spPr>
          <a:xfrm rot="20168741">
            <a:off x="7123980" y="1936388"/>
            <a:ext cx="409317" cy="409317"/>
          </a:xfrm>
          <a:prstGeom prst="ellipse">
            <a:avLst/>
          </a:prstGeom>
          <a:gradFill>
            <a:gsLst>
              <a:gs pos="2000">
                <a:schemeClr val="accent3">
                  <a:alpha val="0"/>
                </a:schemeClr>
              </a:gs>
              <a:gs pos="100000">
                <a:srgbClr val="CE009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398EB4-3497-100D-B53E-A7FA7EB38A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C3AC4A-3ACC-F0C7-2DAC-0ED50A9F16F2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DB143C-068A-CC31-0141-65118BEC6BFA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648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- Sand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icture containing lamp, room, umbrella, flower&#10;&#10;Description automatically generated">
            <a:extLst>
              <a:ext uri="{FF2B5EF4-FFF2-40B4-BE49-F238E27FC236}">
                <a16:creationId xmlns:a16="http://schemas.microsoft.com/office/drawing/2014/main" id="{1E1795A1-275B-2841-B172-746DDCA247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3" y="1"/>
            <a:ext cx="7196668" cy="6858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B415E9A-AC84-2144-B41E-13BC12C94EB8}"/>
              </a:ext>
            </a:extLst>
          </p:cNvPr>
          <p:cNvSpPr/>
          <p:nvPr/>
        </p:nvSpPr>
        <p:spPr>
          <a:xfrm rot="8733391">
            <a:off x="10982510" y="4759187"/>
            <a:ext cx="409317" cy="409317"/>
          </a:xfrm>
          <a:prstGeom prst="ellipse">
            <a:avLst/>
          </a:prstGeom>
          <a:gradFill>
            <a:gsLst>
              <a:gs pos="7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6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4267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B2F3F0-97D4-C619-83C2-C87B94BC05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C1A8C98-8770-A85D-C8F2-3E82CBA26606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BF3C8D-F444-4506-3176-283D7DDE1025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324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- Slat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green, computer, monitor, player&#10;&#10;Description automatically generated">
            <a:extLst>
              <a:ext uri="{FF2B5EF4-FFF2-40B4-BE49-F238E27FC236}">
                <a16:creationId xmlns:a16="http://schemas.microsoft.com/office/drawing/2014/main" id="{82D43B6B-66C9-4744-BF8E-47609004E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417"/>
          <a:stretch/>
        </p:blipFill>
        <p:spPr>
          <a:xfrm>
            <a:off x="0" y="685801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6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4267" i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81A389-B429-4C46-BBD5-103B36767E4A}"/>
              </a:ext>
            </a:extLst>
          </p:cNvPr>
          <p:cNvSpPr/>
          <p:nvPr userDrawn="1"/>
        </p:nvSpPr>
        <p:spPr>
          <a:xfrm rot="20168741">
            <a:off x="7123980" y="1936388"/>
            <a:ext cx="409317" cy="409317"/>
          </a:xfrm>
          <a:prstGeom prst="ellipse">
            <a:avLst/>
          </a:prstGeom>
          <a:gradFill>
            <a:gsLst>
              <a:gs pos="2000">
                <a:schemeClr val="accent3">
                  <a:alpha val="0"/>
                </a:schemeClr>
              </a:gs>
              <a:gs pos="100000">
                <a:srgbClr val="CE009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1B4B8-2E90-C8FB-5B8A-E12F54E8C8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533310-1551-1956-0A1E-95139C80430B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8F9FDB-01A1-3CF5-19E7-57CDCB70D607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416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- Slat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5248990-E3CD-B143-898F-7F5EB6BA5E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3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6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4267" i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8DF345-3A34-D94D-A706-074BAD670DFF}"/>
              </a:ext>
            </a:extLst>
          </p:cNvPr>
          <p:cNvSpPr/>
          <p:nvPr userDrawn="1"/>
        </p:nvSpPr>
        <p:spPr>
          <a:xfrm rot="8733391">
            <a:off x="10982510" y="4759187"/>
            <a:ext cx="409317" cy="409317"/>
          </a:xfrm>
          <a:prstGeom prst="ellipse">
            <a:avLst/>
          </a:prstGeom>
          <a:gradFill>
            <a:gsLst>
              <a:gs pos="700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4E0CD-16C4-B227-63F4-92CD51AB07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50A5491-DB01-EAC2-8FB4-BBFE9F0FBA13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B2AE7F-A674-7CC5-6C1A-40FAAAE27092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947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5" y="1251353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20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758C5-AB51-D148-BBC9-BD62FA5E27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0" y="1251354"/>
            <a:ext cx="7112000" cy="4666847"/>
          </a:xfrm>
        </p:spPr>
        <p:txBody>
          <a:bodyPr/>
          <a:lstStyle>
            <a:lvl1pPr marL="0" indent="0">
              <a:buNone/>
              <a:defRPr sz="1867" b="1">
                <a:solidFill>
                  <a:schemeClr val="tx2"/>
                </a:solidFill>
                <a:latin typeface="+mj-lt"/>
              </a:defRPr>
            </a:lvl1pPr>
            <a:lvl2pPr marL="230710" indent="0">
              <a:buNone/>
              <a:defRPr sz="1600" b="1">
                <a:solidFill>
                  <a:schemeClr val="tx2"/>
                </a:solidFill>
                <a:latin typeface="+mj-lt"/>
              </a:defRPr>
            </a:lvl2pPr>
            <a:lvl3pPr marL="461422" indent="0">
              <a:buNone/>
              <a:defRPr sz="1600" b="1">
                <a:solidFill>
                  <a:schemeClr val="tx2"/>
                </a:solidFill>
                <a:latin typeface="+mj-lt"/>
              </a:defRPr>
            </a:lvl3pPr>
            <a:lvl4pPr marL="700598" indent="0">
              <a:buNone/>
              <a:defRPr sz="1600" b="1">
                <a:solidFill>
                  <a:schemeClr val="tx2"/>
                </a:solidFill>
                <a:latin typeface="+mj-lt"/>
              </a:defRPr>
            </a:lvl4pPr>
            <a:lvl5pPr marL="990575" indent="0">
              <a:buNone/>
              <a:defRPr sz="1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EA1D22-FA98-8D4B-95EA-C7868299E5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BC5E32-B028-A64E-B372-C50E6A4D0C1A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61159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Teal">
    <p:bg>
      <p:bgPr>
        <a:gradFill>
          <a:gsLst>
            <a:gs pos="0">
              <a:schemeClr val="accent2">
                <a:lumMod val="75000"/>
              </a:schemeClr>
            </a:gs>
            <a:gs pos="80000">
              <a:schemeClr val="accent2">
                <a:lumMod val="90000"/>
                <a:lumOff val="10000"/>
              </a:schemeClr>
            </a:gs>
            <a:gs pos="60000">
              <a:schemeClr val="accent2"/>
            </a:gs>
            <a:gs pos="100000">
              <a:schemeClr val="accent2">
                <a:lumMod val="80000"/>
                <a:lumOff val="20000"/>
                <a:alpha val="5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424F1F-C733-8F4A-ABA5-97506231B9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5" y="1251353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2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2B9D9DB-43D9-F744-B0FC-ADD14D48F2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0" y="1251354"/>
            <a:ext cx="7112000" cy="4666847"/>
          </a:xfrm>
        </p:spPr>
        <p:txBody>
          <a:bodyPr/>
          <a:lstStyle>
            <a:lvl1pPr marL="0" indent="0">
              <a:buNone/>
              <a:defRPr sz="1867" b="1">
                <a:solidFill>
                  <a:schemeClr val="tx2"/>
                </a:solidFill>
                <a:latin typeface="+mj-lt"/>
              </a:defRPr>
            </a:lvl1pPr>
            <a:lvl2pPr marL="230710" indent="0">
              <a:buNone/>
              <a:defRPr sz="1600" b="1">
                <a:solidFill>
                  <a:schemeClr val="tx2"/>
                </a:solidFill>
                <a:latin typeface="+mj-lt"/>
              </a:defRPr>
            </a:lvl2pPr>
            <a:lvl3pPr marL="461422" indent="0">
              <a:buNone/>
              <a:defRPr sz="1600" b="1">
                <a:solidFill>
                  <a:schemeClr val="tx2"/>
                </a:solidFill>
                <a:latin typeface="+mj-lt"/>
              </a:defRPr>
            </a:lvl3pPr>
            <a:lvl4pPr marL="700598" indent="0">
              <a:buNone/>
              <a:defRPr sz="1600" b="1">
                <a:solidFill>
                  <a:schemeClr val="tx2"/>
                </a:solidFill>
                <a:latin typeface="+mj-lt"/>
              </a:defRPr>
            </a:lvl4pPr>
            <a:lvl5pPr marL="990575" indent="0">
              <a:buNone/>
              <a:defRPr sz="1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50F5D0-A8DD-1142-9601-DFC23ADCF2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6078688-8F0E-3646-AC2C-89D0EB56363F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10368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 Section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5" y="1722967"/>
            <a:ext cx="5486396" cy="4195233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5067"/>
              </a:lnSpc>
              <a:defRPr sz="4267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3A37057-0263-E045-8D56-D7A4B8BDBF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000" b="0" i="0">
                <a:solidFill>
                  <a:schemeClr val="accent2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14907E0-7CB6-FD46-B02C-127347F887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72301C-A7A7-2B4F-A0F1-A3C379B77368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71930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 Section - Teal">
    <p:bg>
      <p:bgPr>
        <a:gradFill>
          <a:gsLst>
            <a:gs pos="0">
              <a:schemeClr val="accent2">
                <a:lumMod val="75000"/>
              </a:schemeClr>
            </a:gs>
            <a:gs pos="80000">
              <a:schemeClr val="accent2">
                <a:lumMod val="90000"/>
                <a:lumOff val="10000"/>
              </a:schemeClr>
            </a:gs>
            <a:gs pos="60000">
              <a:schemeClr val="accent2"/>
            </a:gs>
            <a:gs pos="100000">
              <a:schemeClr val="accent2">
                <a:alpha val="50000"/>
                <a:lumMod val="80000"/>
                <a:lumOff val="2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5" y="1722967"/>
            <a:ext cx="5486396" cy="4195233"/>
          </a:xfrm>
          <a:prstGeom prst="rect">
            <a:avLst/>
          </a:prstGeom>
        </p:spPr>
        <p:txBody>
          <a:bodyPr bIns="0" anchor="t">
            <a:noAutofit/>
          </a:bodyPr>
          <a:lstStyle>
            <a:lvl1pPr marL="0" indent="0" algn="l">
              <a:lnSpc>
                <a:spcPts val="5067"/>
              </a:lnSpc>
              <a:tabLst>
                <a:tab pos="3723124" algn="l"/>
              </a:tabLst>
              <a:defRPr sz="4267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3A37057-0263-E045-8D56-D7A4B8BDBF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C2141F9-4F12-A94F-88BF-11E1017071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A3ACB9-EA68-6C4F-BF10-B17D9D9001DD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4980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2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23E77-B6D9-B142-A722-81D5A068C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2A9864-449F-8748-90EF-F9766D162C39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D62254-A741-B288-ED9C-4A58102CA597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1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2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23E77-B6D9-B142-A722-81D5A068C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D62254-A741-B288-ED9C-4A58102CA597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316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2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D62254-A741-B288-ED9C-4A58102CA597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924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2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4D7C3-F452-6FDE-F120-B59FE7F0BC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7430BDB-699B-1CC2-B098-AA8DAC824AA5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5288CA-A682-4DFB-F6C8-11C8618A9956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956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2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71A911-0F4A-31B5-FDED-F4F2AFFDB3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7A88D6-731B-9D1D-EAED-118D0F0E7735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5EF0EA-5408-48E2-2078-61B732539251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816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+ 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7" y="1549402"/>
            <a:ext cx="5484284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21D2CC-D3E9-9A4C-B5D8-037AACD06E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02027" y="1544320"/>
            <a:ext cx="4483947" cy="437388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Pictogram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B44B10-48E7-E8E0-0E64-F75E9759AB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CC23F-03FB-A91A-9D2C-3AF7B55C6220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96C94E-2A64-0958-0B11-0114EBE8D87C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502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 Title - Image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685800"/>
            <a:ext cx="3466353" cy="5232400"/>
          </a:xfrm>
        </p:spPr>
        <p:txBody>
          <a:bodyPr anchor="ctr"/>
          <a:lstStyle>
            <a:lvl1pPr algn="ctr">
              <a:defRPr sz="426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44E271D-6E3B-DF47-A881-F1A8A74567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0AA4C0-4829-934D-99D0-28EA9BDC88CE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6902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Emer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8" y="685800"/>
            <a:ext cx="3466353" cy="5232400"/>
          </a:xfrm>
        </p:spPr>
        <p:txBody>
          <a:bodyPr anchor="ctr"/>
          <a:lstStyle>
            <a:lvl1pPr algn="ctr">
              <a:defRPr sz="4267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555B385-8235-8941-AA61-FB996875A1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9F0E18-FD90-D541-9AFD-41F40C60A71D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56920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ogram/RConten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D5D9E0-599C-2349-8044-80C5B5F561B5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0" y="2147563"/>
            <a:ext cx="6807191" cy="377063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89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8F9B58-5AF6-A625-AB65-69E183E84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985FEFF-814A-7D3D-4562-747F4D637095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E038C6-4E71-1BF8-EB57-898EF0177FE2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492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Left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F2E3F0-354B-E24B-8D2C-FCEFA6C576AD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8" y="685800"/>
            <a:ext cx="3466353" cy="5232400"/>
          </a:xfrm>
        </p:spPr>
        <p:txBody>
          <a:bodyPr anchor="ctr"/>
          <a:lstStyle>
            <a:lvl1pPr algn="ctr">
              <a:defRPr sz="42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AE1FAA7A-321D-3C49-B28B-27257B7725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0" y="685800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A16B89-38FE-FE29-48F1-1DECCEF75D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E6C0B0C-1F58-ED00-566C-89C8D842E997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2D7EBA-32B1-F17E-9764-641BE1E5552B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0310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pli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2"/>
            <a:ext cx="7515105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3"/>
            <a:ext cx="7515105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015042-7082-C826-E9B8-671A427AF4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E401A9D-71A0-A11C-104A-4463C4241003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34FAC7-E2CE-9BFD-38AE-CCCD7E65FEBC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59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plit - 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D9CB7D-5AA5-CA4F-9C8D-1D524C80A281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049AECA-5AB8-4E4D-A474-D76F7A6167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4"/>
            <a:ext cx="3484221" cy="57044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1"/>
            <a:ext cx="7515105" cy="4470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3"/>
            <a:ext cx="7515105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0D4A24-38B9-7687-81C1-01A26B59A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6660A-2029-CC31-EEB5-D124F6252D75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93C63B-FFCD-BFC4-42C6-E84E9457FDAB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6749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pli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FD1C66-F192-6644-874C-A4EE554B71AD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040262B-723D-504A-8CD2-E04378BCE1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4"/>
            <a:ext cx="3484221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2"/>
            <a:ext cx="7515105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3"/>
            <a:ext cx="7515105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A4039E-0E29-7AC7-3352-8CF25F1DD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6B68AD-0D84-BE2B-AD87-3765509D90B4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4F261A-58AE-334C-A5BD-AEB21999EA9D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1300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split - Slat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D85254-7236-674D-96A7-CC7CBF8FC818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9F59BDF-9559-B647-8E56-7F60C9EB16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4"/>
            <a:ext cx="3484221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2"/>
            <a:ext cx="7515105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3"/>
            <a:ext cx="7515105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DB0ACA-BFE0-A04A-1468-BE8B822E81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8897C2-ACF5-0769-B0B1-97F885D17AB8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E85C1F-9ACA-6191-5151-E98AD1FD11D8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41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5" cy="4368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3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B4103C-EEFD-8CFF-E6C6-9A594F9979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58302A5-FF74-DAB3-3AE1-A0394223B561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1B76E3-677C-FD97-FE98-56ED2BC10900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766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lumn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2"/>
            <a:ext cx="5484285" cy="4368799"/>
          </a:xfrm>
          <a:prstGeom prst="rect">
            <a:avLst/>
          </a:prstGeom>
        </p:spPr>
        <p:txBody>
          <a:bodyPr numCol="1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4116C044-0167-624C-855C-2DEC21B95A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02915" y="1549402"/>
            <a:ext cx="5484285" cy="4368799"/>
          </a:xfrm>
          <a:prstGeom prst="rect">
            <a:avLst/>
          </a:prstGeom>
        </p:spPr>
        <p:txBody>
          <a:bodyPr numCol="1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606ECD-A6B6-FE3D-02B0-C76817BA4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CF36A2-4345-9350-1454-3ED0251F4616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EACC75-BAFE-153F-FD9E-B127A205F343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45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/>
        </p:nvSpPr>
        <p:spPr>
          <a:xfrm>
            <a:off x="6098142" y="0"/>
            <a:ext cx="610194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5" cy="4368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3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667" b="1">
                <a:solidFill>
                  <a:schemeClr val="accent6"/>
                </a:solidFill>
                <a:latin typeface="+mj-lt"/>
              </a:defRPr>
            </a:lvl1pPr>
            <a:lvl2pPr marL="23071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7C5C29-79C7-F667-2911-4CC69C6115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1E3850-B9A7-F24B-525E-CF0BF4F20E64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481CC6-8F84-1832-E99E-8B94A2312F7C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4723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691D56-1518-8344-B783-495A8E74137F}"/>
              </a:ext>
            </a:extLst>
          </p:cNvPr>
          <p:cNvSpPr/>
          <p:nvPr/>
        </p:nvSpPr>
        <p:spPr>
          <a:xfrm>
            <a:off x="6098142" y="0"/>
            <a:ext cx="6101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5" cy="43688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3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667" b="1">
                <a:solidFill>
                  <a:schemeClr val="accent1"/>
                </a:solidFill>
                <a:latin typeface="+mj-lt"/>
              </a:defRPr>
            </a:lvl1pPr>
            <a:lvl2pPr marL="23071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C396BF-E876-25E7-3C40-80DAEC42A9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B5993AF-5776-080B-744E-7C26CABE6A25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0786CD-3C75-0BA3-A21D-FD05510BEBC1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234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E6A8C7-2E83-2A44-A1D6-35D670D8EF94}"/>
              </a:ext>
            </a:extLst>
          </p:cNvPr>
          <p:cNvSpPr/>
          <p:nvPr/>
        </p:nvSpPr>
        <p:spPr>
          <a:xfrm>
            <a:off x="0" y="0"/>
            <a:ext cx="6101949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2"/>
            <a:ext cx="5484285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3"/>
            <a:ext cx="5484284" cy="10059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7" y="1549401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7" y="238653"/>
            <a:ext cx="5486400" cy="1026583"/>
          </a:xfrm>
        </p:spPr>
        <p:txBody>
          <a:bodyPr/>
          <a:lstStyle>
            <a:lvl1pPr marL="0" indent="0">
              <a:buNone/>
              <a:defRPr sz="2667" b="1">
                <a:solidFill>
                  <a:schemeClr val="accent6"/>
                </a:solidFill>
                <a:latin typeface="+mj-lt"/>
              </a:defRPr>
            </a:lvl1pPr>
            <a:lvl2pPr marL="23071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F8F914C-2823-8046-85A7-6424FA30A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020EB72-E693-4042-A295-F6FCB9FD2A49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43988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spli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9F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1" y="0"/>
            <a:ext cx="4064000" cy="6858000"/>
          </a:xfrm>
          <a:prstGeom prst="rect">
            <a:avLst/>
          </a:prstGeom>
          <a:solidFill>
            <a:srgbClr val="F2E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2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3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3544" y="1549401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5684" y="1549401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3565" y="238653"/>
            <a:ext cx="3450336" cy="1026583"/>
          </a:xfrm>
        </p:spPr>
        <p:txBody>
          <a:bodyPr/>
          <a:lstStyle>
            <a:lvl1pPr marL="0" indent="0">
              <a:buNone/>
              <a:defRPr sz="2667" b="1">
                <a:latin typeface="+mj-lt"/>
              </a:defRPr>
            </a:lvl1pPr>
            <a:lvl2pPr marL="23071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5684" y="238653"/>
            <a:ext cx="3450336" cy="1026583"/>
          </a:xfrm>
        </p:spPr>
        <p:txBody>
          <a:bodyPr/>
          <a:lstStyle>
            <a:lvl1pPr marL="0" indent="0">
              <a:buNone/>
              <a:defRPr sz="2667" b="1">
                <a:latin typeface="+mj-lt"/>
              </a:defRPr>
            </a:lvl1pPr>
            <a:lvl2pPr marL="23071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6A1CC3-53BB-28AF-EB5C-58BF966ABD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6CE0007-AC43-1046-80CD-A9AB83B5270E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39648C-C89D-7141-3B7F-9CC291E60AB0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04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4" pos="19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E8EE7EF-653B-2843-81F2-D8D0B2F2E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859124-3AD2-B245-A9FE-B76EA285D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B0492E-CFF8-1546-D4E2-98E0763A8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742F5B-B433-3741-B9BD-F6374A3DC99A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9C44DB-CD35-49A8-8BFF-BF565E8EF18A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225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0AEF579-1847-264C-B453-30760E5F17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DC82BE6-7B58-474F-A7CB-5F6B48EA2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7" y="238653"/>
            <a:ext cx="11578167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072C13D-201E-D041-A0B1-93C356D4EA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207784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4E8E47C-355E-F047-8B91-C8BEE0FEFB04}"/>
              </a:ext>
            </a:extLst>
          </p:cNvPr>
          <p:cNvSpPr txBox="1">
            <a:spLocks/>
          </p:cNvSpPr>
          <p:nvPr userDrawn="1"/>
        </p:nvSpPr>
        <p:spPr>
          <a:xfrm>
            <a:off x="9210907" y="6285423"/>
            <a:ext cx="2654191" cy="185604"/>
          </a:xfrm>
          <a:prstGeom prst="rect">
            <a:avLst/>
          </a:prstGeom>
          <a:noFill/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0484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1C811B-FA16-898B-E348-73C7512103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424338"/>
            <a:ext cx="548640" cy="219456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5A1A00-D8CF-53C8-DB70-A05970E2E206}"/>
              </a:ext>
            </a:extLst>
          </p:cNvPr>
          <p:cNvSpPr txBox="1">
            <a:spLocks/>
          </p:cNvSpPr>
          <p:nvPr userDrawn="1"/>
        </p:nvSpPr>
        <p:spPr>
          <a:xfrm>
            <a:off x="9210907" y="6503017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B722AE-4B91-DE64-A78C-B6007C950176}"/>
              </a:ext>
            </a:extLst>
          </p:cNvPr>
          <p:cNvCxnSpPr/>
          <p:nvPr userDrawn="1"/>
        </p:nvCxnSpPr>
        <p:spPr>
          <a:xfrm>
            <a:off x="987425" y="6367569"/>
            <a:ext cx="0" cy="3524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5852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64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A325AF6-4C02-9043-A6C0-53AE0B4AACEE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VIDEO ONLY</a:t>
            </a:r>
          </a:p>
        </p:txBody>
      </p:sp>
    </p:spTree>
    <p:extLst>
      <p:ext uri="{BB962C8B-B14F-4D97-AF65-F5344CB8AC3E}">
        <p14:creationId xmlns:p14="http://schemas.microsoft.com/office/powerpoint/2010/main" val="590666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58925"/>
            <a:ext cx="904752" cy="367275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531AC482-2C1D-DC4D-81D0-C5A539366BE6}"/>
              </a:ext>
            </a:extLst>
          </p:cNvPr>
          <p:cNvSpPr txBox="1">
            <a:spLocks/>
          </p:cNvSpPr>
          <p:nvPr/>
        </p:nvSpPr>
        <p:spPr>
          <a:xfrm>
            <a:off x="1016001" y="2329162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667"/>
              </a:lnSpc>
            </a:pPr>
            <a:r>
              <a:rPr lang="en-US" sz="720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720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7D6C0F-E4BE-3941-8133-C92D92739F20}"/>
              </a:ext>
            </a:extLst>
          </p:cNvPr>
          <p:cNvSpPr txBox="1">
            <a:spLocks/>
          </p:cNvSpPr>
          <p:nvPr userDrawn="1"/>
        </p:nvSpPr>
        <p:spPr>
          <a:xfrm>
            <a:off x="1016001" y="2329162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667"/>
              </a:lnSpc>
            </a:pPr>
            <a:r>
              <a:rPr lang="en-US" sz="720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720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4894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reak/Quote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0" y="685800"/>
            <a:ext cx="10160000" cy="53340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333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7898CB1-DB10-2840-8D6A-843DD9CD2E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323161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747DBAC-9E26-2D42-9CCB-DC36ABD56487}"/>
              </a:ext>
            </a:extLst>
          </p:cNvPr>
          <p:cNvSpPr txBox="1">
            <a:spLocks/>
          </p:cNvSpPr>
          <p:nvPr/>
        </p:nvSpPr>
        <p:spPr>
          <a:xfrm>
            <a:off x="9210907" y="640080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55469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 Stud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7"/>
            <a:ext cx="5181600" cy="40661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0">
                <a:solidFill>
                  <a:schemeClr val="accent6"/>
                </a:solidFill>
              </a:defRPr>
            </a:lvl1pPr>
            <a:lvl2pPr marL="230710" indent="0">
              <a:lnSpc>
                <a:spcPct val="100000"/>
              </a:lnSpc>
              <a:buNone/>
              <a:defRPr sz="1467" b="0">
                <a:solidFill>
                  <a:schemeClr val="accent6"/>
                </a:solidFill>
              </a:defRPr>
            </a:lvl2pPr>
            <a:lvl3pPr marL="461422" indent="0">
              <a:lnSpc>
                <a:spcPct val="100000"/>
              </a:lnSpc>
              <a:buNone/>
              <a:defRPr sz="1467" b="0">
                <a:solidFill>
                  <a:schemeClr val="accent6"/>
                </a:solidFill>
              </a:defRPr>
            </a:lvl3pPr>
            <a:lvl4pPr marL="700598" indent="0">
              <a:lnSpc>
                <a:spcPct val="100000"/>
              </a:lnSpc>
              <a:buNone/>
              <a:defRPr sz="1467" b="0">
                <a:solidFill>
                  <a:schemeClr val="accent6"/>
                </a:solidFill>
              </a:defRPr>
            </a:lvl4pPr>
            <a:lvl5pPr marL="990575" indent="0">
              <a:lnSpc>
                <a:spcPct val="100000"/>
              </a:lnSpc>
              <a:buNone/>
              <a:defRPr sz="1467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7" y="238653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1" y="1549400"/>
            <a:ext cx="4876799" cy="44704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1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E41EA5E-C05D-5345-94C4-E409862D7D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1067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</p:spTree>
    <p:extLst>
      <p:ext uri="{BB962C8B-B14F-4D97-AF65-F5344CB8AC3E}">
        <p14:creationId xmlns:p14="http://schemas.microsoft.com/office/powerpoint/2010/main" val="25068641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448130" y="1392769"/>
            <a:ext cx="11298767" cy="4474633"/>
          </a:xfrm>
        </p:spPr>
        <p:txBody>
          <a:bodyPr>
            <a:noAutofit/>
          </a:bodyPr>
          <a:lstStyle>
            <a:lvl1pPr>
              <a:defRPr sz="2133">
                <a:solidFill>
                  <a:srgbClr val="313131"/>
                </a:solidFill>
              </a:defRPr>
            </a:lvl1pPr>
            <a:lvl2pPr>
              <a:defRPr sz="1867">
                <a:solidFill>
                  <a:srgbClr val="313131"/>
                </a:solidFill>
              </a:defRPr>
            </a:lvl2pPr>
            <a:lvl3pPr>
              <a:defRPr sz="1600">
                <a:solidFill>
                  <a:srgbClr val="313131"/>
                </a:solidFill>
              </a:defRPr>
            </a:lvl3pPr>
            <a:lvl4pPr>
              <a:defRPr sz="1467">
                <a:solidFill>
                  <a:srgbClr val="313131"/>
                </a:solidFill>
              </a:defRPr>
            </a:lvl4pPr>
            <a:lvl5pPr>
              <a:defRPr sz="1467">
                <a:solidFill>
                  <a:srgbClr val="313131"/>
                </a:solidFill>
              </a:defRPr>
            </a:lvl5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48130" y="450851"/>
            <a:ext cx="11298767" cy="722389"/>
          </a:xfrm>
        </p:spPr>
        <p:txBody>
          <a:bodyPr>
            <a:noAutofit/>
          </a:bodyPr>
          <a:lstStyle>
            <a:lvl1pPr>
              <a:defRPr sz="2933">
                <a:solidFill>
                  <a:schemeClr val="tx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CA"/>
              <a:t>Click to edit Master title style</a:t>
            </a:r>
            <a:br>
              <a:rPr lang="en-CA"/>
            </a:br>
            <a:r>
              <a:rPr lang="en-CA"/>
              <a:t>–</a:t>
            </a:r>
            <a:endParaRPr lang="en-US"/>
          </a:p>
        </p:txBody>
      </p:sp>
      <p:sp>
        <p:nvSpPr>
          <p:cNvPr id="9" name="Shape 314">
            <a:extLst>
              <a:ext uri="{FF2B5EF4-FFF2-40B4-BE49-F238E27FC236}">
                <a16:creationId xmlns:a16="http://schemas.microsoft.com/office/drawing/2014/main" id="{10965286-C646-4BA1-BF95-FB0F9EA9B1F9}"/>
              </a:ext>
            </a:extLst>
          </p:cNvPr>
          <p:cNvSpPr/>
          <p:nvPr userDrawn="1"/>
        </p:nvSpPr>
        <p:spPr>
          <a:xfrm>
            <a:off x="309789" y="6279463"/>
            <a:ext cx="2316017" cy="25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60959" rIns="60959">
            <a:spAutoFit/>
          </a:bodyPr>
          <a:lstStyle>
            <a:lvl1pPr>
              <a:defRPr sz="800"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sz="1067"/>
              <a:t>© Proprietary + Confidential  |  ￼</a:t>
            </a:r>
            <a:r>
              <a:rPr lang="en-US" sz="1067"/>
              <a:t>  </a:t>
            </a:r>
            <a:fld id="{CCEE9270-B711-4777-8F35-05FA9E8C2EEC}" type="slidenum">
              <a:rPr lang="en-US" sz="1067" smtClean="0"/>
              <a:t>‹#›</a:t>
            </a:fld>
            <a:endParaRPr sz="1067"/>
          </a:p>
        </p:txBody>
      </p:sp>
      <p:pic>
        <p:nvPicPr>
          <p:cNvPr id="14" name="image3.pdf" descr="Picture 7">
            <a:extLst>
              <a:ext uri="{FF2B5EF4-FFF2-40B4-BE49-F238E27FC236}">
                <a16:creationId xmlns:a16="http://schemas.microsoft.com/office/drawing/2014/main" id="{D978FC20-60EC-444F-8895-E9347BF36D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5494" y="6266689"/>
            <a:ext cx="518161" cy="2072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2" descr="Scotiabank Logo">
            <a:extLst>
              <a:ext uri="{FF2B5EF4-FFF2-40B4-BE49-F238E27FC236}">
                <a16:creationId xmlns:a16="http://schemas.microsoft.com/office/drawing/2014/main" id="{55369883-4446-4618-B3C4-0B4EF7BE1C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684"/>
                    </a14:imgEffect>
                    <a14:imgEffect>
                      <a14:saturation sat="1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4703" y="6283973"/>
            <a:ext cx="1270676" cy="18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751CF2-E0EE-4E19-92B2-D4BA753309B6}"/>
              </a:ext>
            </a:extLst>
          </p:cNvPr>
          <p:cNvCxnSpPr/>
          <p:nvPr userDrawn="1"/>
        </p:nvCxnSpPr>
        <p:spPr>
          <a:xfrm>
            <a:off x="11170327" y="6232313"/>
            <a:ext cx="0" cy="28278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4482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BB1D253-F45C-CF40-A300-E53D613E0B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6152770"/>
              </p:ext>
            </p:ext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BB1D253-F45C-CF40-A300-E53D613E0B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4484" y="1365251"/>
            <a:ext cx="8439417" cy="455294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E592B2B-5ABF-C349-A7E5-294FC8649EA3}"/>
              </a:ext>
            </a:extLst>
          </p:cNvPr>
          <p:cNvSpPr txBox="1">
            <a:spLocks/>
          </p:cNvSpPr>
          <p:nvPr userDrawn="1"/>
        </p:nvSpPr>
        <p:spPr>
          <a:xfrm>
            <a:off x="9173902" y="636639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Proprietary and Confidential  </a:t>
            </a:r>
            <a:r>
              <a:rPr kumimoji="0" lang="en-US" sz="1333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</a:t>
            </a:r>
            <a:fld id="{F2B112D8-F56F-8E4D-9C16-40CB48F3BE41}" type="slidenum">
              <a:rPr kumimoji="0" lang="en-US" sz="1333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33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B7887E-1432-4042-9772-0E4FF63F100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609" y="6308817"/>
            <a:ext cx="548640" cy="219456"/>
          </a:xfrm>
          <a:prstGeom prst="rect">
            <a:avLst/>
          </a:prstGeom>
        </p:spPr>
      </p:pic>
      <p:sp>
        <p:nvSpPr>
          <p:cNvPr id="10" name="Triángulo rectángulo 31">
            <a:extLst>
              <a:ext uri="{FF2B5EF4-FFF2-40B4-BE49-F238E27FC236}">
                <a16:creationId xmlns:a16="http://schemas.microsoft.com/office/drawing/2014/main" id="{87137FBC-DD47-4544-80CF-72F8A089EB8B}"/>
              </a:ext>
            </a:extLst>
          </p:cNvPr>
          <p:cNvSpPr/>
          <p:nvPr userDrawn="1"/>
        </p:nvSpPr>
        <p:spPr>
          <a:xfrm>
            <a:off x="1" y="-1"/>
            <a:ext cx="543697" cy="543697"/>
          </a:xfrm>
          <a:prstGeom prst="rtTriangle">
            <a:avLst/>
          </a:prstGeom>
          <a:solidFill>
            <a:srgbClr val="CE0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>
              <a:solidFill>
                <a:srgbClr val="09291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41DAA-39B1-614C-AEC9-69C5D2C7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66023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Left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521C99-9BE9-BF46-9D58-97D097F2F900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8" y="685800"/>
            <a:ext cx="3466353" cy="5334000"/>
          </a:xfrm>
        </p:spPr>
        <p:txBody>
          <a:bodyPr anchor="ctr"/>
          <a:lstStyle>
            <a:lvl1pPr algn="ctr">
              <a:defRPr sz="4267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2D9B7D67-1155-9244-84E6-D2E466A498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0" y="685800"/>
            <a:ext cx="6807191" cy="533538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1014834-AA33-0B4D-A755-39F389C974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323161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9AE7C1D-FE4B-B44A-BED2-749733A877C2}"/>
              </a:ext>
            </a:extLst>
          </p:cNvPr>
          <p:cNvSpPr txBox="1">
            <a:spLocks/>
          </p:cNvSpPr>
          <p:nvPr/>
        </p:nvSpPr>
        <p:spPr>
          <a:xfrm>
            <a:off x="9210907" y="640080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7D0E844-298A-D84E-9F86-C7DCD54CEF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300" y="6353318"/>
            <a:ext cx="1257977" cy="18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08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1"/>
            <a:ext cx="9753600" cy="4470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23E77-B6D9-B142-A722-81D5A068C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323159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B155BAF6-37B4-6340-B85A-257CEFBD9AA6}"/>
              </a:ext>
            </a:extLst>
          </p:cNvPr>
          <p:cNvSpPr txBox="1">
            <a:spLocks/>
          </p:cNvSpPr>
          <p:nvPr/>
        </p:nvSpPr>
        <p:spPr>
          <a:xfrm>
            <a:off x="9210907" y="640080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658362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E8EE7EF-653B-2843-81F2-D8D0B2F2E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859124-3AD2-B245-A9FE-B76EA285D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A27D9C3-3B44-1C43-9CFB-313394F6E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40B94D-CEF1-AB46-A95A-BDAFF827810F}"/>
              </a:ext>
            </a:extLst>
          </p:cNvPr>
          <p:cNvSpPr txBox="1">
            <a:spLocks/>
          </p:cNvSpPr>
          <p:nvPr userDrawn="1"/>
        </p:nvSpPr>
        <p:spPr>
          <a:xfrm>
            <a:off x="9210907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933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20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20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20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800" b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2C8533A-A7B3-0E4E-8CE7-1D4200485A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62475" y="6197033"/>
            <a:ext cx="773508" cy="219456"/>
          </a:xfrm>
          <a:noFill/>
        </p:spPr>
        <p:txBody>
          <a:bodyPr anchor="ctr"/>
          <a:lstStyle>
            <a:lvl1pPr marL="0" indent="0" algn="ctr">
              <a:buNone/>
              <a:defRPr sz="1067">
                <a:solidFill>
                  <a:schemeClr val="accent6"/>
                </a:solidFill>
              </a:defRPr>
            </a:lvl1pPr>
          </a:lstStyle>
          <a:p>
            <a:r>
              <a:rPr lang="en-CA"/>
              <a:t>Client Logo</a:t>
            </a:r>
          </a:p>
        </p:txBody>
      </p:sp>
    </p:spTree>
    <p:extLst>
      <p:ext uri="{BB962C8B-B14F-4D97-AF65-F5344CB8AC3E}">
        <p14:creationId xmlns:p14="http://schemas.microsoft.com/office/powerpoint/2010/main" val="421508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6CE6180-DC0A-4F0C-8B14-DF6F9299B0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264585140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395" imgH="394" progId="TCLayout.ActiveDocument.1">
                  <p:embed/>
                </p:oleObj>
              </mc:Choice>
              <mc:Fallback>
                <p:oleObj name="think-cell Slide" r:id="rId45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6CE6180-DC0A-4F0C-8B14-DF6F9299B0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951C71-18B6-1C45-A95E-18F41509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7" y="238653"/>
            <a:ext cx="11578167" cy="1005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E06FF-9947-A64A-BBEA-43E1E5426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916" y="1553260"/>
            <a:ext cx="9753600" cy="43640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5">
            <a:extLst>
              <a:ext uri="{FF2B5EF4-FFF2-40B4-BE49-F238E27FC236}">
                <a16:creationId xmlns:a16="http://schemas.microsoft.com/office/drawing/2014/main" id="{C921594D-1D54-2241-8AEE-7C5254D4D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917" y="6100515"/>
            <a:ext cx="2743200" cy="3661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333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</p:spTree>
    <p:extLst>
      <p:ext uri="{BB962C8B-B14F-4D97-AF65-F5344CB8AC3E}">
        <p14:creationId xmlns:p14="http://schemas.microsoft.com/office/powerpoint/2010/main" val="2168320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9" r:id="rId38"/>
    <p:sldLayoutId id="2147483700" r:id="rId39"/>
    <p:sldLayoutId id="2147483701" r:id="rId40"/>
    <p:sldLayoutId id="2147483702" r:id="rId41"/>
    <p:sldLayoutId id="2147483703" r:id="rId42"/>
  </p:sldLayoutIdLst>
  <p:hf sldNum="0" hdr="0" ft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667" b="1" i="0" kern="1200">
          <a:solidFill>
            <a:schemeClr val="accent6"/>
          </a:solidFill>
          <a:latin typeface="+mj-lt"/>
          <a:ea typeface="Constantia" charset="0"/>
          <a:cs typeface="Constantia" charset="0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/>
        <a:buChar char="•"/>
        <a:defRPr sz="1867" b="0" i="0" kern="1200">
          <a:solidFill>
            <a:schemeClr val="accent6"/>
          </a:solidFill>
          <a:latin typeface="+mn-lt"/>
          <a:ea typeface="+mn-ea"/>
          <a:cs typeface="+mn-cs"/>
        </a:defRPr>
      </a:lvl1pPr>
      <a:lvl2pPr marL="461422" indent="-230712" algn="l" defTabSz="914377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/>
        <a:buChar char="•"/>
        <a:tabLst/>
        <a:defRPr sz="1600" b="0" i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692133" indent="-230712" algn="l" defTabSz="914377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/>
        <a:buChar char="•"/>
        <a:tabLst/>
        <a:defRPr sz="1600" b="0" i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922844" indent="-222245" algn="l" defTabSz="914377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/>
        <a:buChar char="•"/>
        <a:tabLst/>
        <a:defRPr sz="1600" b="0" i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221287" indent="-230712" algn="l" defTabSz="914377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/>
        <a:buChar char="•"/>
        <a:tabLst/>
        <a:defRPr sz="1600" b="0" i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2880">
          <p15:clr>
            <a:srgbClr val="F26B43"/>
          </p15:clr>
        </p15:guide>
        <p15:guide id="12" orient="horz" pos="1620">
          <p15:clr>
            <a:srgbClr val="F26B43"/>
          </p15:clr>
        </p15:guide>
        <p15:guide id="16" orient="horz" pos="149">
          <p15:clr>
            <a:srgbClr val="F26B43"/>
          </p15:clr>
        </p15:guide>
        <p15:guide id="17" orient="horz" pos="3036">
          <p15:clr>
            <a:srgbClr val="F26B43"/>
          </p15:clr>
        </p15:guide>
        <p15:guide id="22" orient="horz" pos="2796">
          <p15:clr>
            <a:srgbClr val="F26B43"/>
          </p15:clr>
        </p15:guide>
        <p15:guide id="23" pos="288">
          <p15:clr>
            <a:srgbClr val="F26B43"/>
          </p15:clr>
        </p15:guide>
        <p15:guide id="24" pos="5472">
          <p15:clr>
            <a:srgbClr val="F26B43"/>
          </p15:clr>
        </p15:guide>
        <p15:guide id="26" orient="horz" pos="324">
          <p15:clr>
            <a:srgbClr val="F26B43"/>
          </p15:clr>
        </p15:guide>
        <p15:guide id="34" pos="144">
          <p15:clr>
            <a:srgbClr val="F26B43"/>
          </p15:clr>
        </p15:guide>
        <p15:guide id="35" pos="5616">
          <p15:clr>
            <a:srgbClr val="F26B43"/>
          </p15:clr>
        </p15:guide>
        <p15:guide id="36" orient="horz" pos="727">
          <p15:clr>
            <a:srgbClr val="F26B43"/>
          </p15:clr>
        </p15:guide>
        <p15:guide id="37" orient="horz" pos="592">
          <p15:clr>
            <a:srgbClr val="F26B43"/>
          </p15:clr>
        </p15:guide>
        <p15:guide id="38" pos="3840">
          <p15:clr>
            <a:srgbClr val="F26B43"/>
          </p15:clr>
        </p15:guide>
        <p15:guide id="39" pos="480">
          <p15:clr>
            <a:srgbClr val="F26B43"/>
          </p15:clr>
        </p15:guide>
        <p15:guide id="40" pos="5280">
          <p15:clr>
            <a:srgbClr val="F26B43"/>
          </p15:clr>
        </p15:guide>
        <p15:guide id="41" pos="1920">
          <p15:clr>
            <a:srgbClr val="F26B43"/>
          </p15:clr>
        </p15:guide>
        <p15:guide id="42" pos="2736">
          <p15:clr>
            <a:srgbClr val="F26B43"/>
          </p15:clr>
        </p15:guide>
        <p15:guide id="43" pos="30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emf"/><Relationship Id="rId18" Type="http://schemas.openxmlformats.org/officeDocument/2006/relationships/image" Target="../media/image38.emf"/><Relationship Id="rId26" Type="http://schemas.openxmlformats.org/officeDocument/2006/relationships/image" Target="../media/image46.jpeg"/><Relationship Id="rId39" Type="http://schemas.openxmlformats.org/officeDocument/2006/relationships/image" Target="../media/image59.emf"/><Relationship Id="rId21" Type="http://schemas.openxmlformats.org/officeDocument/2006/relationships/image" Target="../media/image41.emf"/><Relationship Id="rId34" Type="http://schemas.openxmlformats.org/officeDocument/2006/relationships/image" Target="../media/image54.emf"/><Relationship Id="rId42" Type="http://schemas.openxmlformats.org/officeDocument/2006/relationships/image" Target="../media/image62.emf"/><Relationship Id="rId47" Type="http://schemas.openxmlformats.org/officeDocument/2006/relationships/image" Target="../media/image67.emf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6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emf"/><Relationship Id="rId37" Type="http://schemas.openxmlformats.org/officeDocument/2006/relationships/image" Target="../media/image57.emf"/><Relationship Id="rId40" Type="http://schemas.openxmlformats.org/officeDocument/2006/relationships/image" Target="../media/image60.png"/><Relationship Id="rId45" Type="http://schemas.openxmlformats.org/officeDocument/2006/relationships/image" Target="../media/image65.png"/><Relationship Id="rId5" Type="http://schemas.openxmlformats.org/officeDocument/2006/relationships/image" Target="../media/image25.png"/><Relationship Id="rId15" Type="http://schemas.openxmlformats.org/officeDocument/2006/relationships/image" Target="../media/image35.emf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9.emf"/><Relationship Id="rId31" Type="http://schemas.openxmlformats.org/officeDocument/2006/relationships/image" Target="../media/image51.png"/><Relationship Id="rId44" Type="http://schemas.openxmlformats.org/officeDocument/2006/relationships/image" Target="../media/image64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emf"/><Relationship Id="rId22" Type="http://schemas.openxmlformats.org/officeDocument/2006/relationships/image" Target="../media/image42.emf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emf"/><Relationship Id="rId43" Type="http://schemas.openxmlformats.org/officeDocument/2006/relationships/image" Target="../media/image63.emf"/><Relationship Id="rId48" Type="http://schemas.openxmlformats.org/officeDocument/2006/relationships/image" Target="../media/image68.emf"/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12" Type="http://schemas.openxmlformats.org/officeDocument/2006/relationships/image" Target="../media/image32.emf"/><Relationship Id="rId17" Type="http://schemas.openxmlformats.org/officeDocument/2006/relationships/image" Target="../media/image37.emf"/><Relationship Id="rId25" Type="http://schemas.openxmlformats.org/officeDocument/2006/relationships/image" Target="../media/image45.png"/><Relationship Id="rId33" Type="http://schemas.openxmlformats.org/officeDocument/2006/relationships/image" Target="../media/image53.emf"/><Relationship Id="rId38" Type="http://schemas.openxmlformats.org/officeDocument/2006/relationships/image" Target="../media/image58.emf"/><Relationship Id="rId46" Type="http://schemas.openxmlformats.org/officeDocument/2006/relationships/image" Target="../media/image66.png"/><Relationship Id="rId20" Type="http://schemas.openxmlformats.org/officeDocument/2006/relationships/image" Target="../media/image40.emf"/><Relationship Id="rId41" Type="http://schemas.openxmlformats.org/officeDocument/2006/relationships/image" Target="../media/image61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emf"/><Relationship Id="rId18" Type="http://schemas.openxmlformats.org/officeDocument/2006/relationships/image" Target="../media/image38.emf"/><Relationship Id="rId26" Type="http://schemas.openxmlformats.org/officeDocument/2006/relationships/image" Target="../media/image46.jpeg"/><Relationship Id="rId3" Type="http://schemas.openxmlformats.org/officeDocument/2006/relationships/image" Target="../media/image23.png"/><Relationship Id="rId21" Type="http://schemas.openxmlformats.org/officeDocument/2006/relationships/image" Target="../media/image41.emf"/><Relationship Id="rId34" Type="http://schemas.openxmlformats.org/officeDocument/2006/relationships/image" Target="../media/image50.png"/><Relationship Id="rId7" Type="http://schemas.openxmlformats.org/officeDocument/2006/relationships/image" Target="../media/image27.png"/><Relationship Id="rId12" Type="http://schemas.openxmlformats.org/officeDocument/2006/relationships/image" Target="../media/image32.emf"/><Relationship Id="rId17" Type="http://schemas.openxmlformats.org/officeDocument/2006/relationships/image" Target="../media/image37.emf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6.png"/><Relationship Id="rId20" Type="http://schemas.openxmlformats.org/officeDocument/2006/relationships/image" Target="../media/image40.emf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60.png"/><Relationship Id="rId5" Type="http://schemas.openxmlformats.org/officeDocument/2006/relationships/image" Target="../media/image25.png"/><Relationship Id="rId15" Type="http://schemas.openxmlformats.org/officeDocument/2006/relationships/image" Target="../media/image35.emf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10" Type="http://schemas.openxmlformats.org/officeDocument/2006/relationships/image" Target="../media/image30.png"/><Relationship Id="rId19" Type="http://schemas.openxmlformats.org/officeDocument/2006/relationships/image" Target="../media/image39.emf"/><Relationship Id="rId31" Type="http://schemas.openxmlformats.org/officeDocument/2006/relationships/image" Target="../media/image6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emf"/><Relationship Id="rId22" Type="http://schemas.openxmlformats.org/officeDocument/2006/relationships/image" Target="../media/image42.emf"/><Relationship Id="rId27" Type="http://schemas.openxmlformats.org/officeDocument/2006/relationships/image" Target="../media/image47.png"/><Relationship Id="rId30" Type="http://schemas.openxmlformats.org/officeDocument/2006/relationships/image" Target="../media/image64.png"/><Relationship Id="rId35" Type="http://schemas.openxmlformats.org/officeDocument/2006/relationships/image" Target="../media/image66.png"/><Relationship Id="rId8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image" Target="../media/image63.emf"/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12" Type="http://schemas.openxmlformats.org/officeDocument/2006/relationships/image" Target="../media/image4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0.emf"/><Relationship Id="rId11" Type="http://schemas.openxmlformats.org/officeDocument/2006/relationships/image" Target="../media/image62.emf"/><Relationship Id="rId5" Type="http://schemas.openxmlformats.org/officeDocument/2006/relationships/image" Target="../media/image39.emf"/><Relationship Id="rId10" Type="http://schemas.openxmlformats.org/officeDocument/2006/relationships/image" Target="../media/image61.emf"/><Relationship Id="rId4" Type="http://schemas.openxmlformats.org/officeDocument/2006/relationships/image" Target="../media/image38.emf"/><Relationship Id="rId9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image" Target="../media/image56.png"/><Relationship Id="rId18" Type="http://schemas.openxmlformats.org/officeDocument/2006/relationships/image" Target="../media/image69.emf"/><Relationship Id="rId3" Type="http://schemas.openxmlformats.org/officeDocument/2006/relationships/image" Target="../media/image36.png"/><Relationship Id="rId7" Type="http://schemas.openxmlformats.org/officeDocument/2006/relationships/image" Target="../media/image40.emf"/><Relationship Id="rId12" Type="http://schemas.openxmlformats.org/officeDocument/2006/relationships/image" Target="../media/image54.emf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2.emf"/><Relationship Id="rId20" Type="http://schemas.openxmlformats.org/officeDocument/2006/relationships/image" Target="../media/image68.emf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emf"/><Relationship Id="rId11" Type="http://schemas.openxmlformats.org/officeDocument/2006/relationships/image" Target="../media/image53.emf"/><Relationship Id="rId5" Type="http://schemas.openxmlformats.org/officeDocument/2006/relationships/image" Target="../media/image38.emf"/><Relationship Id="rId15" Type="http://schemas.openxmlformats.org/officeDocument/2006/relationships/image" Target="../media/image51.png"/><Relationship Id="rId10" Type="http://schemas.openxmlformats.org/officeDocument/2006/relationships/image" Target="../media/image52.emf"/><Relationship Id="rId19" Type="http://schemas.openxmlformats.org/officeDocument/2006/relationships/image" Target="../media/image50.png"/><Relationship Id="rId4" Type="http://schemas.openxmlformats.org/officeDocument/2006/relationships/image" Target="../media/image37.emf"/><Relationship Id="rId9" Type="http://schemas.openxmlformats.org/officeDocument/2006/relationships/image" Target="../media/image42.emf"/><Relationship Id="rId14" Type="http://schemas.openxmlformats.org/officeDocument/2006/relationships/image" Target="../media/image5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13" Type="http://schemas.openxmlformats.org/officeDocument/2006/relationships/image" Target="../media/image56.png"/><Relationship Id="rId3" Type="http://schemas.openxmlformats.org/officeDocument/2006/relationships/image" Target="../media/image52.emf"/><Relationship Id="rId7" Type="http://schemas.openxmlformats.org/officeDocument/2006/relationships/image" Target="../media/image58.emf"/><Relationship Id="rId12" Type="http://schemas.openxmlformats.org/officeDocument/2006/relationships/image" Target="../media/image5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emf"/><Relationship Id="rId11" Type="http://schemas.openxmlformats.org/officeDocument/2006/relationships/image" Target="../media/image49.png"/><Relationship Id="rId5" Type="http://schemas.openxmlformats.org/officeDocument/2006/relationships/image" Target="../media/image54.emf"/><Relationship Id="rId10" Type="http://schemas.openxmlformats.org/officeDocument/2006/relationships/image" Target="../media/image68.emf"/><Relationship Id="rId4" Type="http://schemas.openxmlformats.org/officeDocument/2006/relationships/image" Target="../media/image53.emf"/><Relationship Id="rId9" Type="http://schemas.openxmlformats.org/officeDocument/2006/relationships/image" Target="../media/image67.emf"/><Relationship Id="rId14" Type="http://schemas.openxmlformats.org/officeDocument/2006/relationships/image" Target="../media/image5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9BC75AE-38E2-0B4F-07B9-3F4119E755E5}"/>
              </a:ext>
            </a:extLst>
          </p:cNvPr>
          <p:cNvCxnSpPr>
            <a:cxnSpLocks/>
          </p:cNvCxnSpPr>
          <p:nvPr/>
        </p:nvCxnSpPr>
        <p:spPr>
          <a:xfrm>
            <a:off x="5337025" y="1456522"/>
            <a:ext cx="2441728" cy="0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6B99CEC-A75D-B87B-111A-8E44EF095E5C}"/>
              </a:ext>
            </a:extLst>
          </p:cNvPr>
          <p:cNvSpPr/>
          <p:nvPr/>
        </p:nvSpPr>
        <p:spPr>
          <a:xfrm>
            <a:off x="5820697" y="3966312"/>
            <a:ext cx="1053129" cy="177144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274E9-F8EE-A33F-7D61-F76D3FDDC03A}"/>
              </a:ext>
            </a:extLst>
          </p:cNvPr>
          <p:cNvSpPr/>
          <p:nvPr/>
        </p:nvSpPr>
        <p:spPr>
          <a:xfrm>
            <a:off x="5951711" y="4922688"/>
            <a:ext cx="803725" cy="74215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AC5EB9-7905-EDA3-F5BB-BCD679AD7526}"/>
              </a:ext>
            </a:extLst>
          </p:cNvPr>
          <p:cNvSpPr/>
          <p:nvPr/>
        </p:nvSpPr>
        <p:spPr>
          <a:xfrm>
            <a:off x="6030106" y="2260439"/>
            <a:ext cx="663438" cy="626099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645F37-A588-43F9-15F7-F82BFC518660}"/>
              </a:ext>
            </a:extLst>
          </p:cNvPr>
          <p:cNvSpPr/>
          <p:nvPr/>
        </p:nvSpPr>
        <p:spPr>
          <a:xfrm>
            <a:off x="378651" y="4081649"/>
            <a:ext cx="720324" cy="71418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D8529E-79BC-1B7D-ADC1-B201F75B6107}"/>
              </a:ext>
            </a:extLst>
          </p:cNvPr>
          <p:cNvSpPr/>
          <p:nvPr/>
        </p:nvSpPr>
        <p:spPr>
          <a:xfrm>
            <a:off x="7249054" y="3253300"/>
            <a:ext cx="2789073" cy="258134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C7D45-22A8-70BA-13F1-C3567B0AB3EE}"/>
              </a:ext>
            </a:extLst>
          </p:cNvPr>
          <p:cNvSpPr/>
          <p:nvPr/>
        </p:nvSpPr>
        <p:spPr>
          <a:xfrm>
            <a:off x="5957337" y="4065145"/>
            <a:ext cx="803725" cy="74215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426B51-537A-CF41-F770-A61987D5D3CA}"/>
              </a:ext>
            </a:extLst>
          </p:cNvPr>
          <p:cNvSpPr/>
          <p:nvPr/>
        </p:nvSpPr>
        <p:spPr>
          <a:xfrm>
            <a:off x="2184061" y="1729971"/>
            <a:ext cx="900614" cy="3079330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E860F-E49F-16F7-9B7C-60A068DBA874}"/>
              </a:ext>
            </a:extLst>
          </p:cNvPr>
          <p:cNvSpPr/>
          <p:nvPr/>
        </p:nvSpPr>
        <p:spPr>
          <a:xfrm>
            <a:off x="3569452" y="1358734"/>
            <a:ext cx="1751205" cy="353259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4D9C984-2FE5-78C4-06B4-E0F42E932BF0}"/>
              </a:ext>
            </a:extLst>
          </p:cNvPr>
          <p:cNvGrpSpPr/>
          <p:nvPr/>
        </p:nvGrpSpPr>
        <p:grpSpPr>
          <a:xfrm>
            <a:off x="194293" y="162565"/>
            <a:ext cx="1423732" cy="6070983"/>
            <a:chOff x="217250" y="1130043"/>
            <a:chExt cx="1786064" cy="6069911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129E13A4-9A62-B12F-959B-D9710C044FE4}"/>
                </a:ext>
              </a:extLst>
            </p:cNvPr>
            <p:cNvSpPr/>
            <p:nvPr/>
          </p:nvSpPr>
          <p:spPr>
            <a:xfrm>
              <a:off x="1585690" y="1130043"/>
              <a:ext cx="417624" cy="6069911"/>
            </a:xfrm>
            <a:prstGeom prst="rightBrac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EE6AAF6-5AD6-2736-560B-C6E1C5A62927}"/>
                </a:ext>
              </a:extLst>
            </p:cNvPr>
            <p:cNvGrpSpPr/>
            <p:nvPr/>
          </p:nvGrpSpPr>
          <p:grpSpPr>
            <a:xfrm>
              <a:off x="217250" y="1145199"/>
              <a:ext cx="1554571" cy="3717079"/>
              <a:chOff x="224292" y="578994"/>
              <a:chExt cx="1554571" cy="3717079"/>
            </a:xfrm>
          </p:grpSpPr>
          <p:pic>
            <p:nvPicPr>
              <p:cNvPr id="19" name="Picture 2" descr="Scotiabank to mobilize $100 billion by 2025 to support the transition to a  lower-carbon and more resilient economy">
                <a:extLst>
                  <a:ext uri="{FF2B5EF4-FFF2-40B4-BE49-F238E27FC236}">
                    <a16:creationId xmlns:a16="http://schemas.microsoft.com/office/drawing/2014/main" id="{77BCD84A-E7DD-8CAC-2B1E-DFEA4F661B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292" y="578994"/>
                <a:ext cx="1554571" cy="669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4" descr="Cineplex Entertainment - Wikipedia">
                <a:extLst>
                  <a:ext uri="{FF2B5EF4-FFF2-40B4-BE49-F238E27FC236}">
                    <a16:creationId xmlns:a16="http://schemas.microsoft.com/office/drawing/2014/main" id="{D67DA40A-B6A6-40A8-AF4E-63B93804A6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7520" y="1066459"/>
                <a:ext cx="1174432" cy="44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4">
                <a:extLst>
                  <a:ext uri="{FF2B5EF4-FFF2-40B4-BE49-F238E27FC236}">
                    <a16:creationId xmlns:a16="http://schemas.microsoft.com/office/drawing/2014/main" id="{35F19410-C2DB-99B4-2C51-C14B379BD7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4337" y="4032429"/>
                <a:ext cx="980426" cy="2636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6" descr="Recipe Unlimited - Wikipedia">
                <a:extLst>
                  <a:ext uri="{FF2B5EF4-FFF2-40B4-BE49-F238E27FC236}">
                    <a16:creationId xmlns:a16="http://schemas.microsoft.com/office/drawing/2014/main" id="{25C88864-3134-2DE4-4B74-AC9EF372C5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7592" y="1638902"/>
                <a:ext cx="1230340" cy="4870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F0E3E6D-2BBE-600A-173A-7E2FDA12A4EA}"/>
                  </a:ext>
                </a:extLst>
              </p:cNvPr>
              <p:cNvGrpSpPr/>
              <p:nvPr/>
            </p:nvGrpSpPr>
            <p:grpSpPr>
              <a:xfrm>
                <a:off x="384847" y="2250404"/>
                <a:ext cx="1230340" cy="698615"/>
                <a:chOff x="375713" y="3421578"/>
                <a:chExt cx="1230340" cy="698615"/>
              </a:xfrm>
            </p:grpSpPr>
            <p:pic>
              <p:nvPicPr>
                <p:cNvPr id="26" name="Picture 6" descr="Image result for bakkt logo">
                  <a:extLst>
                    <a:ext uri="{FF2B5EF4-FFF2-40B4-BE49-F238E27FC236}">
                      <a16:creationId xmlns:a16="http://schemas.microsoft.com/office/drawing/2014/main" id="{E43DA48F-E5AC-71F5-9348-5C17331157C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75713" y="3421578"/>
                  <a:ext cx="1230340" cy="4870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7" name="Picture 8" descr="Image result for apple logo">
                  <a:extLst>
                    <a:ext uri="{FF2B5EF4-FFF2-40B4-BE49-F238E27FC236}">
                      <a16:creationId xmlns:a16="http://schemas.microsoft.com/office/drawing/2014/main" id="{D0829E7D-57FC-03DE-E84E-85ABC500EE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9077" y="3784475"/>
                  <a:ext cx="264385" cy="3255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Picture 10" descr="Image result for best buy logo">
                  <a:extLst>
                    <a:ext uri="{FF2B5EF4-FFF2-40B4-BE49-F238E27FC236}">
                      <a16:creationId xmlns:a16="http://schemas.microsoft.com/office/drawing/2014/main" id="{FEA657FB-1685-A2D1-70AB-AB153F72B65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883" y="3878307"/>
                  <a:ext cx="413222" cy="2418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24" name="Picture 12" descr="Image result for expedia logo">
                <a:extLst>
                  <a:ext uri="{FF2B5EF4-FFF2-40B4-BE49-F238E27FC236}">
                    <a16:creationId xmlns:a16="http://schemas.microsoft.com/office/drawing/2014/main" id="{2FF2EDD9-809D-E480-F0EE-3D7C632AEF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2427" y="3032161"/>
                <a:ext cx="1374166" cy="492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14" descr="Image result for Rakuten logo">
                <a:extLst>
                  <a:ext uri="{FF2B5EF4-FFF2-40B4-BE49-F238E27FC236}">
                    <a16:creationId xmlns:a16="http://schemas.microsoft.com/office/drawing/2014/main" id="{F46011EB-F41E-C65D-26EA-0BC94770E3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266" y="3577108"/>
                <a:ext cx="1287746" cy="321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332996-14CA-C0B4-21B0-8E2410201ABA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1618025" y="3198059"/>
            <a:ext cx="582016" cy="826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8D5BA4-9345-785F-7D9A-B3E9AE1E7728}"/>
              </a:ext>
            </a:extLst>
          </p:cNvPr>
          <p:cNvCxnSpPr>
            <a:cxnSpLocks/>
          </p:cNvCxnSpPr>
          <p:nvPr/>
        </p:nvCxnSpPr>
        <p:spPr>
          <a:xfrm flipH="1" flipV="1">
            <a:off x="2589750" y="3044756"/>
            <a:ext cx="1472" cy="24287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4F778419-1E33-2CE8-B10A-CCB7D26443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0646" y="2486692"/>
            <a:ext cx="695389" cy="5671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6F490C0-CB9E-FEF0-803B-0589485D60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3325" y="3302915"/>
            <a:ext cx="492849" cy="47259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D6768DB-38CD-2B90-20FD-F884BE7F2B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06392" y="1846354"/>
            <a:ext cx="553611" cy="472595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F2D02AB-8317-31D7-AFB0-F21E5ADE5A56}"/>
              </a:ext>
            </a:extLst>
          </p:cNvPr>
          <p:cNvCxnSpPr>
            <a:cxnSpLocks/>
          </p:cNvCxnSpPr>
          <p:nvPr/>
        </p:nvCxnSpPr>
        <p:spPr>
          <a:xfrm flipV="1">
            <a:off x="2583609" y="2264301"/>
            <a:ext cx="0" cy="23108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5D918E-CCB1-2FB5-0C20-A741DF8F6C63}"/>
              </a:ext>
            </a:extLst>
          </p:cNvPr>
          <p:cNvCxnSpPr>
            <a:cxnSpLocks/>
          </p:cNvCxnSpPr>
          <p:nvPr/>
        </p:nvCxnSpPr>
        <p:spPr>
          <a:xfrm flipV="1">
            <a:off x="3086697" y="3176370"/>
            <a:ext cx="464371" cy="687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A0F774DF-EB99-1F06-C26C-61652565C4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69159" y="3821021"/>
            <a:ext cx="557194" cy="26920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C2AB53E-73C9-93FE-AE3B-69FF1557D740}"/>
              </a:ext>
            </a:extLst>
          </p:cNvPr>
          <p:cNvSpPr/>
          <p:nvPr/>
        </p:nvSpPr>
        <p:spPr>
          <a:xfrm>
            <a:off x="3644212" y="1529870"/>
            <a:ext cx="1536957" cy="2215731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Picture 37" descr="Bond Synapze LX Platform">
            <a:extLst>
              <a:ext uri="{FF2B5EF4-FFF2-40B4-BE49-F238E27FC236}">
                <a16:creationId xmlns:a16="http://schemas.microsoft.com/office/drawing/2014/main" id="{85E8B739-A7A0-F184-10EF-7A5993425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9" b="37253"/>
          <a:stretch/>
        </p:blipFill>
        <p:spPr bwMode="auto">
          <a:xfrm>
            <a:off x="3756142" y="1584388"/>
            <a:ext cx="1187147" cy="36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1DBB181-B702-F722-E21B-87EC15A86715}"/>
              </a:ext>
            </a:extLst>
          </p:cNvPr>
          <p:cNvSpPr txBox="1"/>
          <p:nvPr/>
        </p:nvSpPr>
        <p:spPr>
          <a:xfrm>
            <a:off x="3763514" y="2010616"/>
            <a:ext cx="15159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 Point Calculation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POS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E-Commerce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Points Bank &amp; Liability Management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2C9629-0DAB-A2C9-A262-5A054B1E15C8}"/>
              </a:ext>
            </a:extLst>
          </p:cNvPr>
          <p:cNvSpPr/>
          <p:nvPr/>
        </p:nvSpPr>
        <p:spPr>
          <a:xfrm>
            <a:off x="3670649" y="3824067"/>
            <a:ext cx="1536957" cy="875492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59A1ABF-78AD-841F-8B47-D89A7DE965F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1687" y="3846119"/>
            <a:ext cx="469771" cy="3868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0C87744-39F0-9D45-8E81-C8ED3939C16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1055" y="4238674"/>
            <a:ext cx="399447" cy="3748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CDBA4F8-E23D-4102-0589-7791D00669F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07686" y="4219526"/>
            <a:ext cx="399447" cy="39382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28C5199-C17E-E755-A77F-2D7224DB724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94363" y="4238881"/>
            <a:ext cx="467011" cy="38618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EBDC0B4-2F2E-7026-D5E5-6419E0DEFB6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81271" y="3897759"/>
            <a:ext cx="350499" cy="28456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A502D9-7453-11B6-F1FD-9A7D6BA7379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07632" y="3861455"/>
            <a:ext cx="440602" cy="38687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93E501C-93CF-3BFC-63D8-A2B3898B0095}"/>
              </a:ext>
            </a:extLst>
          </p:cNvPr>
          <p:cNvSpPr txBox="1"/>
          <p:nvPr/>
        </p:nvSpPr>
        <p:spPr>
          <a:xfrm>
            <a:off x="3742412" y="542763"/>
            <a:ext cx="1368000" cy="4308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all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Processing Engine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0BF381-13B1-2032-EC14-5B5BCFE3CB22}"/>
              </a:ext>
            </a:extLst>
          </p:cNvPr>
          <p:cNvSpPr txBox="1"/>
          <p:nvPr/>
        </p:nvSpPr>
        <p:spPr>
          <a:xfrm>
            <a:off x="1867343" y="542763"/>
            <a:ext cx="1368000" cy="4308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all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Firewall &amp; Authentication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153F8A2-BBDE-A8C5-8D9B-CC6B43F3FA17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6681466" y="1939491"/>
            <a:ext cx="1108605" cy="8416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D081435-F36C-B039-A044-929AC59659E4}"/>
              </a:ext>
            </a:extLst>
          </p:cNvPr>
          <p:cNvSpPr txBox="1"/>
          <p:nvPr/>
        </p:nvSpPr>
        <p:spPr>
          <a:xfrm>
            <a:off x="304678" y="4399292"/>
            <a:ext cx="880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Manager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6F74EAB-CCE8-DB8A-4E20-3E2EEA9DFA4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1267" y="3978373"/>
            <a:ext cx="352558" cy="368706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CA0D8BEF-DD4D-819F-8284-66490801FC36}"/>
              </a:ext>
            </a:extLst>
          </p:cNvPr>
          <p:cNvGrpSpPr/>
          <p:nvPr/>
        </p:nvGrpSpPr>
        <p:grpSpPr>
          <a:xfrm>
            <a:off x="545768" y="5078578"/>
            <a:ext cx="940913" cy="1109391"/>
            <a:chOff x="4112315" y="1289601"/>
            <a:chExt cx="2213941" cy="2213941"/>
          </a:xfrm>
        </p:grpSpPr>
        <p:pic>
          <p:nvPicPr>
            <p:cNvPr id="53" name="Picture 20" descr="Rent Microsoft Surface Laptop 3 from €59.90 per month">
              <a:extLst>
                <a:ext uri="{FF2B5EF4-FFF2-40B4-BE49-F238E27FC236}">
                  <a16:creationId xmlns:a16="http://schemas.microsoft.com/office/drawing/2014/main" id="{47B3F422-B5CF-327F-3B4E-13387E729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2315" y="1289601"/>
              <a:ext cx="2213941" cy="2213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890CA1AA-9B2D-DAC6-A6D8-7FC59DEE72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/>
            <a:srcRect b="45954"/>
            <a:stretch/>
          </p:blipFill>
          <p:spPr>
            <a:xfrm>
              <a:off x="4432851" y="1746709"/>
              <a:ext cx="1590261" cy="1066065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7B5A225-5414-8BDA-3296-B325805E4941}"/>
              </a:ext>
            </a:extLst>
          </p:cNvPr>
          <p:cNvGrpSpPr/>
          <p:nvPr/>
        </p:nvGrpSpPr>
        <p:grpSpPr>
          <a:xfrm>
            <a:off x="105710" y="4952027"/>
            <a:ext cx="543901" cy="1066139"/>
            <a:chOff x="973414" y="1212573"/>
            <a:chExt cx="3283901" cy="4969566"/>
          </a:xfrm>
        </p:grpSpPr>
        <p:pic>
          <p:nvPicPr>
            <p:cNvPr id="56" name="c4b4666d-5106-4497-86b3-b394c918d9b9" descr="Image">
              <a:extLst>
                <a:ext uri="{FF2B5EF4-FFF2-40B4-BE49-F238E27FC236}">
                  <a16:creationId xmlns:a16="http://schemas.microsoft.com/office/drawing/2014/main" id="{6DBB5EA9-F204-B03C-DF88-09B30E747C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64"/>
            <a:stretch/>
          </p:blipFill>
          <p:spPr bwMode="auto">
            <a:xfrm>
              <a:off x="1568588" y="1346752"/>
              <a:ext cx="2125917" cy="4532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" name="Picture 25" descr="Pin by Meme Loverz on Инстаграм | Phone template, Iphone mockup, Png">
              <a:extLst>
                <a:ext uri="{FF2B5EF4-FFF2-40B4-BE49-F238E27FC236}">
                  <a16:creationId xmlns:a16="http://schemas.microsoft.com/office/drawing/2014/main" id="{81211536-2E60-BBD7-729C-7072B16B84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414" y="1212573"/>
              <a:ext cx="3283901" cy="4969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8" name="Picture 57">
            <a:extLst>
              <a:ext uri="{FF2B5EF4-FFF2-40B4-BE49-F238E27FC236}">
                <a16:creationId xmlns:a16="http://schemas.microsoft.com/office/drawing/2014/main" id="{02A2BF70-E3B1-A4BD-D771-A5000C246D3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3256" y="5306867"/>
            <a:ext cx="695476" cy="54273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C598241-BEBA-9D8E-C20D-B0E5AE0A067B}"/>
              </a:ext>
            </a:extLst>
          </p:cNvPr>
          <p:cNvSpPr txBox="1"/>
          <p:nvPr/>
        </p:nvSpPr>
        <p:spPr>
          <a:xfrm>
            <a:off x="1062344" y="6461621"/>
            <a:ext cx="61852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Legend</a:t>
            </a: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                 Real-time Integration            Batch (File) Integration	API Integration flow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1E3BE07-8518-56BE-1ED1-734C28F9B2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76154" y="6489414"/>
            <a:ext cx="199841" cy="1383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09477DA-90F6-49E7-AD60-BA179691043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45319" y="6453853"/>
            <a:ext cx="174227" cy="232303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AF6D70B-6E5B-1878-87FA-179E196C6755}"/>
              </a:ext>
            </a:extLst>
          </p:cNvPr>
          <p:cNvCxnSpPr>
            <a:cxnSpLocks/>
          </p:cNvCxnSpPr>
          <p:nvPr/>
        </p:nvCxnSpPr>
        <p:spPr>
          <a:xfrm>
            <a:off x="5327291" y="4093900"/>
            <a:ext cx="49340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6B2A51E5-4DB2-7093-297A-B1D106607B8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417086" y="4155120"/>
            <a:ext cx="403358" cy="39663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1AC087BF-97D6-5568-5C45-F9FA656F9766}"/>
              </a:ext>
            </a:extLst>
          </p:cNvPr>
          <p:cNvSpPr txBox="1"/>
          <p:nvPr/>
        </p:nvSpPr>
        <p:spPr>
          <a:xfrm>
            <a:off x="2389915" y="4545668"/>
            <a:ext cx="465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055AE5B-3263-C063-DD53-05B8DB285172}"/>
              </a:ext>
            </a:extLst>
          </p:cNvPr>
          <p:cNvSpPr/>
          <p:nvPr/>
        </p:nvSpPr>
        <p:spPr>
          <a:xfrm>
            <a:off x="7778752" y="805607"/>
            <a:ext cx="2509277" cy="1816893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668F779-1A4D-E371-53E3-8FB079422B8B}"/>
              </a:ext>
            </a:extLst>
          </p:cNvPr>
          <p:cNvSpPr/>
          <p:nvPr/>
        </p:nvSpPr>
        <p:spPr>
          <a:xfrm>
            <a:off x="7848818" y="909041"/>
            <a:ext cx="2345834" cy="1638788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ACFCD02-5D4D-A41D-7CDE-808274B7F71B}"/>
              </a:ext>
            </a:extLst>
          </p:cNvPr>
          <p:cNvGrpSpPr/>
          <p:nvPr/>
        </p:nvGrpSpPr>
        <p:grpSpPr>
          <a:xfrm>
            <a:off x="7874801" y="951019"/>
            <a:ext cx="1931291" cy="372099"/>
            <a:chOff x="4695666" y="3700702"/>
            <a:chExt cx="1946607" cy="520590"/>
          </a:xfrm>
        </p:grpSpPr>
        <p:pic>
          <p:nvPicPr>
            <p:cNvPr id="68" name="Picture 2" descr="Bond Synapze LX Platform">
              <a:extLst>
                <a:ext uri="{FF2B5EF4-FFF2-40B4-BE49-F238E27FC236}">
                  <a16:creationId xmlns:a16="http://schemas.microsoft.com/office/drawing/2014/main" id="{6B140409-67F5-C9E6-0EB8-C651EBBD38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59" t="31695" r="-371" b="36659"/>
            <a:stretch/>
          </p:blipFill>
          <p:spPr bwMode="auto">
            <a:xfrm>
              <a:off x="6253104" y="3700702"/>
              <a:ext cx="389169" cy="520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624B4F0-797A-DD2A-D113-9661EBC512D0}"/>
                </a:ext>
              </a:extLst>
            </p:cNvPr>
            <p:cNvSpPr txBox="1"/>
            <p:nvPr/>
          </p:nvSpPr>
          <p:spPr>
            <a:xfrm>
              <a:off x="4695666" y="3730235"/>
              <a:ext cx="1701710" cy="430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Loyalty Engine</a:t>
              </a: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49C5464-3A9F-DD1B-EA9D-3C2844BEF590}"/>
              </a:ext>
            </a:extLst>
          </p:cNvPr>
          <p:cNvSpPr txBox="1"/>
          <p:nvPr/>
        </p:nvSpPr>
        <p:spPr>
          <a:xfrm>
            <a:off x="7924559" y="1298921"/>
            <a:ext cx="2168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Campaign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Base, Accelerated </a:t>
            </a:r>
            <a:r>
              <a:rPr lang="en-CA" sz="1200">
                <a:solidFill>
                  <a:prstClr val="black"/>
                </a:solidFill>
                <a:latin typeface="+mj-lt"/>
              </a:rPr>
              <a:t>&amp; 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Bonus Point Issuance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Manual Offer Prioritization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DF7407A-867B-89CE-FC14-BB644F472632}"/>
              </a:ext>
            </a:extLst>
          </p:cNvPr>
          <p:cNvCxnSpPr>
            <a:cxnSpLocks/>
          </p:cNvCxnSpPr>
          <p:nvPr/>
        </p:nvCxnSpPr>
        <p:spPr>
          <a:xfrm>
            <a:off x="6870292" y="4472068"/>
            <a:ext cx="40044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AB3ADC57-18F1-8499-312F-42FF3AC1B7C0}"/>
              </a:ext>
            </a:extLst>
          </p:cNvPr>
          <p:cNvSpPr/>
          <p:nvPr/>
        </p:nvSpPr>
        <p:spPr>
          <a:xfrm>
            <a:off x="6052176" y="1713049"/>
            <a:ext cx="629290" cy="46971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E39903E1-98FE-0D83-3719-8977BE0C51D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9417" y="1763862"/>
            <a:ext cx="399447" cy="393821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8D234EB-05CB-41BF-A014-60121D2608AD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5327291" y="1947907"/>
            <a:ext cx="724885" cy="0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262AF668-E541-EB85-3CF1-175959716C57}"/>
              </a:ext>
            </a:extLst>
          </p:cNvPr>
          <p:cNvSpPr txBox="1"/>
          <p:nvPr/>
        </p:nvSpPr>
        <p:spPr>
          <a:xfrm>
            <a:off x="10544870" y="2931248"/>
            <a:ext cx="1368000" cy="4308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all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Partner Streaming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5A8454F5-1B44-7BD0-40D1-F38AC570E4E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009017" y="4143814"/>
            <a:ext cx="497280" cy="54872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BEAEAF7-8AA5-434A-FA0C-213FADCA1B5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37512" y="4122819"/>
            <a:ext cx="497280" cy="54872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B73E67F-F44D-448A-4657-5BC15DE06F2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363205" y="4129357"/>
            <a:ext cx="497280" cy="54872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9A92226-A69B-6D82-A80A-C390E57DE0BA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367114" y="4896724"/>
            <a:ext cx="495742" cy="564120"/>
          </a:xfrm>
          <a:prstGeom prst="rect">
            <a:avLst/>
          </a:prstGeom>
        </p:spPr>
      </p:pic>
      <p:pic>
        <p:nvPicPr>
          <p:cNvPr id="81" name="Picture 80" descr="A close up of a logo&#10;&#10;Description automatically generated">
            <a:extLst>
              <a:ext uri="{FF2B5EF4-FFF2-40B4-BE49-F238E27FC236}">
                <a16:creationId xmlns:a16="http://schemas.microsoft.com/office/drawing/2014/main" id="{1E6E3B82-EBB4-8C48-C1D7-AA906BE4C990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901545" y="6233552"/>
            <a:ext cx="849748" cy="36286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086A90CD-CF78-A24C-420B-D5405B73FDAF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444110" y="6167076"/>
            <a:ext cx="358435" cy="411994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F3EDB4E-308F-74B7-0F30-261260EF3D62}"/>
              </a:ext>
            </a:extLst>
          </p:cNvPr>
          <p:cNvCxnSpPr>
            <a:cxnSpLocks/>
            <a:stCxn id="79" idx="2"/>
            <a:endCxn id="82" idx="0"/>
          </p:cNvCxnSpPr>
          <p:nvPr/>
        </p:nvCxnSpPr>
        <p:spPr>
          <a:xfrm>
            <a:off x="9614985" y="5460844"/>
            <a:ext cx="8343" cy="70623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F091433-95C2-6A25-CB00-3FA88A65475C}"/>
              </a:ext>
            </a:extLst>
          </p:cNvPr>
          <p:cNvCxnSpPr>
            <a:cxnSpLocks/>
          </p:cNvCxnSpPr>
          <p:nvPr/>
        </p:nvCxnSpPr>
        <p:spPr>
          <a:xfrm flipH="1">
            <a:off x="8751293" y="6418469"/>
            <a:ext cx="70959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84">
            <a:extLst>
              <a:ext uri="{FF2B5EF4-FFF2-40B4-BE49-F238E27FC236}">
                <a16:creationId xmlns:a16="http://schemas.microsoft.com/office/drawing/2014/main" id="{4A2EFECC-1BF6-B18B-6DB6-0E463EC44A2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53010" y="4993521"/>
            <a:ext cx="414924" cy="408009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A3587FFC-B17A-F5DE-1829-B5BC1ADCEB39}"/>
              </a:ext>
            </a:extLst>
          </p:cNvPr>
          <p:cNvSpPr txBox="1"/>
          <p:nvPr/>
        </p:nvSpPr>
        <p:spPr>
          <a:xfrm>
            <a:off x="6090638" y="5406727"/>
            <a:ext cx="5542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MFT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B4EA249-2AF6-8273-F2A7-E698B63B4AAD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7808743" y="4417145"/>
            <a:ext cx="200274" cy="103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5412415-57F3-283C-ECBA-67C5F7A95522}"/>
              </a:ext>
            </a:extLst>
          </p:cNvPr>
          <p:cNvCxnSpPr>
            <a:cxnSpLocks/>
          </p:cNvCxnSpPr>
          <p:nvPr/>
        </p:nvCxnSpPr>
        <p:spPr>
          <a:xfrm>
            <a:off x="8400477" y="4425407"/>
            <a:ext cx="255207" cy="103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9EB2077-6646-CA58-117D-707E1F95E230}"/>
              </a:ext>
            </a:extLst>
          </p:cNvPr>
          <p:cNvCxnSpPr>
            <a:cxnSpLocks/>
          </p:cNvCxnSpPr>
          <p:nvPr/>
        </p:nvCxnSpPr>
        <p:spPr>
          <a:xfrm>
            <a:off x="9134792" y="4414937"/>
            <a:ext cx="228413" cy="653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3413293-25BD-1632-6B6A-73D0A6797541}"/>
              </a:ext>
            </a:extLst>
          </p:cNvPr>
          <p:cNvCxnSpPr>
            <a:cxnSpLocks/>
            <a:endCxn id="95" idx="2"/>
          </p:cNvCxnSpPr>
          <p:nvPr/>
        </p:nvCxnSpPr>
        <p:spPr>
          <a:xfrm flipV="1">
            <a:off x="9607186" y="3914313"/>
            <a:ext cx="6667" cy="1982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2C9378A-C204-5250-BF68-5C3DF324F02A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9611845" y="4678080"/>
            <a:ext cx="3140" cy="2186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1695A53-4CD6-FD48-71CE-87F20A40FA2F}"/>
              </a:ext>
            </a:extLst>
          </p:cNvPr>
          <p:cNvCxnSpPr>
            <a:cxnSpLocks/>
          </p:cNvCxnSpPr>
          <p:nvPr/>
        </p:nvCxnSpPr>
        <p:spPr>
          <a:xfrm flipH="1">
            <a:off x="6678486" y="2497680"/>
            <a:ext cx="1064922" cy="159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B774BE5D-8A09-5BCC-6161-BFBAA8CE258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37810" y="5444475"/>
            <a:ext cx="2323630" cy="37064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5303590-23D1-1E84-0596-E624B3B0D43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45918" y="3378444"/>
            <a:ext cx="535869" cy="535869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BA2F1124-0ACE-B8CB-06BC-0F43A53CB5F6}"/>
              </a:ext>
            </a:extLst>
          </p:cNvPr>
          <p:cNvSpPr/>
          <p:nvPr/>
        </p:nvSpPr>
        <p:spPr>
          <a:xfrm>
            <a:off x="10534373" y="3371921"/>
            <a:ext cx="1440321" cy="2342522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82B9E20-97BC-C831-36FD-A2B0920A9456}"/>
              </a:ext>
            </a:extLst>
          </p:cNvPr>
          <p:cNvSpPr/>
          <p:nvPr/>
        </p:nvSpPr>
        <p:spPr>
          <a:xfrm>
            <a:off x="10654329" y="3503581"/>
            <a:ext cx="1183590" cy="2113131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8" name="Picture 12" descr="ETL your Salesforce Marketing Cloud data to your data warehouse | Stitch  Data Loader">
            <a:extLst>
              <a:ext uri="{FF2B5EF4-FFF2-40B4-BE49-F238E27FC236}">
                <a16:creationId xmlns:a16="http://schemas.microsoft.com/office/drawing/2014/main" id="{D8A01171-6001-7039-A7E6-CA2141CD2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0466" y="3635694"/>
            <a:ext cx="901166" cy="36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4">
            <a:extLst>
              <a:ext uri="{FF2B5EF4-FFF2-40B4-BE49-F238E27FC236}">
                <a16:creationId xmlns:a16="http://schemas.microsoft.com/office/drawing/2014/main" id="{F244CC26-CEA3-27C0-E425-61AEFDC9A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305" y="4093900"/>
            <a:ext cx="647670" cy="17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6" descr="Recipe Unlimited - Wikipedia">
            <a:extLst>
              <a:ext uri="{FF2B5EF4-FFF2-40B4-BE49-F238E27FC236}">
                <a16:creationId xmlns:a16="http://schemas.microsoft.com/office/drawing/2014/main" id="{DB7D3AE7-B740-B3AC-8466-B6D2F385A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756" y="4372213"/>
            <a:ext cx="810586" cy="3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" descr="Cineplex Entertainment - Wikipedia">
            <a:extLst>
              <a:ext uri="{FF2B5EF4-FFF2-40B4-BE49-F238E27FC236}">
                <a16:creationId xmlns:a16="http://schemas.microsoft.com/office/drawing/2014/main" id="{F4D61916-BD50-E5FC-B81D-F5B92B092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587" y="4809301"/>
            <a:ext cx="792045" cy="300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Scotiabank to mobilize $100 billion by 2025 to support the transition to a  lower-carbon and more resilient economy">
            <a:extLst>
              <a:ext uri="{FF2B5EF4-FFF2-40B4-BE49-F238E27FC236}">
                <a16:creationId xmlns:a16="http://schemas.microsoft.com/office/drawing/2014/main" id="{DEF2669F-0AB2-13A9-9551-9F0B94200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6445" y="5177133"/>
            <a:ext cx="947386" cy="439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63C3A8B-8816-3E09-4DB1-D08079BA1E8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296719" y="4320743"/>
            <a:ext cx="137203" cy="182938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D8AAE14E-05C2-1EF9-1C77-70B43A091A0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093497" y="4344874"/>
            <a:ext cx="194533" cy="134677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316B7DF6-7E72-AA61-86BA-6DC54E619F2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54619" y="3002414"/>
            <a:ext cx="194533" cy="134677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A2820EAD-521D-B60B-BB6A-F534F7739B5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38354" y="2966589"/>
            <a:ext cx="137203" cy="182938"/>
          </a:xfrm>
          <a:prstGeom prst="rect">
            <a:avLst/>
          </a:prstGeom>
        </p:spPr>
      </p:pic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C33B79-AB19-8A98-6167-448CAF1234EC}"/>
              </a:ext>
            </a:extLst>
          </p:cNvPr>
          <p:cNvCxnSpPr>
            <a:cxnSpLocks/>
          </p:cNvCxnSpPr>
          <p:nvPr/>
        </p:nvCxnSpPr>
        <p:spPr>
          <a:xfrm flipV="1">
            <a:off x="10025590" y="4543182"/>
            <a:ext cx="526539" cy="79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107">
            <a:extLst>
              <a:ext uri="{FF2B5EF4-FFF2-40B4-BE49-F238E27FC236}">
                <a16:creationId xmlns:a16="http://schemas.microsoft.com/office/drawing/2014/main" id="{7D9317F9-11B3-87D9-A273-99F67589C223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042024" y="2400333"/>
            <a:ext cx="636462" cy="53038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1C7380C1-B261-F38D-F3B7-E682BA7F114C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021438" y="4297363"/>
            <a:ext cx="699342" cy="509937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C90911D5-EF04-71F1-36CB-DEF4902536D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1778" y="3902413"/>
            <a:ext cx="194533" cy="134677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882DABB6-7608-A286-020A-CD7087BF9CC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21049" y="4255433"/>
            <a:ext cx="194533" cy="134677"/>
          </a:xfrm>
          <a:prstGeom prst="rect">
            <a:avLst/>
          </a:prstGeom>
        </p:spPr>
      </p:pic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A66D908-1816-F742-AB28-34B7BBA1930A}"/>
              </a:ext>
            </a:extLst>
          </p:cNvPr>
          <p:cNvCxnSpPr>
            <a:cxnSpLocks/>
          </p:cNvCxnSpPr>
          <p:nvPr/>
        </p:nvCxnSpPr>
        <p:spPr>
          <a:xfrm>
            <a:off x="6870292" y="5372832"/>
            <a:ext cx="377346" cy="575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15D03D0D-2CBF-B4CB-19CC-86877C9CEF2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1574" y="5158702"/>
            <a:ext cx="137203" cy="182938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FF500CB-24F8-D8DC-A715-6702ACF9156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50371" y="2321087"/>
            <a:ext cx="194533" cy="134677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1CC5BEDB-7D0F-A319-A4BE-652A2921AEA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05670" y="1745377"/>
            <a:ext cx="194533" cy="134677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C9AD203B-14AB-143B-1C25-5DB31CB826C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30106" y="2746075"/>
            <a:ext cx="137203" cy="18293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87543D33-05DB-DAA2-E89F-52AEEB317E2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522993" y="1773167"/>
            <a:ext cx="194533" cy="134677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500A10C3-982C-82F8-2204-0CB1CA7B331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42188" y="1302591"/>
            <a:ext cx="194533" cy="134677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4A3EE477-0628-DD1D-CAA9-3D8971DDAFD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57382" y="3202297"/>
            <a:ext cx="194533" cy="134677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ACADCDDC-2936-9A15-3EC6-3208D8F2742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080026" y="3226080"/>
            <a:ext cx="557264" cy="404822"/>
          </a:xfrm>
          <a:prstGeom prst="rect">
            <a:avLst/>
          </a:prstGeom>
        </p:spPr>
      </p:pic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697D092-4A49-9FD9-8345-ECD75D52E52B}"/>
              </a:ext>
            </a:extLst>
          </p:cNvPr>
          <p:cNvCxnSpPr>
            <a:cxnSpLocks/>
            <a:stCxn id="122" idx="2"/>
            <a:endCxn id="7" idx="0"/>
          </p:cNvCxnSpPr>
          <p:nvPr/>
        </p:nvCxnSpPr>
        <p:spPr>
          <a:xfrm flipH="1">
            <a:off x="6347262" y="3630902"/>
            <a:ext cx="11396" cy="33541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8DA646A-C405-C4FA-CB63-0E49B32B893D}"/>
              </a:ext>
            </a:extLst>
          </p:cNvPr>
          <p:cNvCxnSpPr>
            <a:cxnSpLocks/>
            <a:stCxn id="122" idx="1"/>
          </p:cNvCxnSpPr>
          <p:nvPr/>
        </p:nvCxnSpPr>
        <p:spPr>
          <a:xfrm flipH="1">
            <a:off x="5337025" y="3428491"/>
            <a:ext cx="74300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" name="Picture 124">
            <a:extLst>
              <a:ext uri="{FF2B5EF4-FFF2-40B4-BE49-F238E27FC236}">
                <a16:creationId xmlns:a16="http://schemas.microsoft.com/office/drawing/2014/main" id="{F58005C7-317B-F100-6346-57845EA8520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10196" y="3708171"/>
            <a:ext cx="194533" cy="134677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3D160DD9-3F68-BAB5-94CE-10C7CD655C7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05651" y="2978411"/>
            <a:ext cx="194533" cy="134677"/>
          </a:xfrm>
          <a:prstGeom prst="rect">
            <a:avLst/>
          </a:prstGeom>
        </p:spPr>
      </p:pic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5614472-939D-4673-39AB-60ADFB4D7E3C}"/>
              </a:ext>
            </a:extLst>
          </p:cNvPr>
          <p:cNvCxnSpPr>
            <a:cxnSpLocks/>
          </p:cNvCxnSpPr>
          <p:nvPr/>
        </p:nvCxnSpPr>
        <p:spPr>
          <a:xfrm>
            <a:off x="5110412" y="4891328"/>
            <a:ext cx="0" cy="922632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C37A81CB-9B07-DF32-7FA7-A5AE0198AD2D}"/>
              </a:ext>
            </a:extLst>
          </p:cNvPr>
          <p:cNvCxnSpPr>
            <a:cxnSpLocks/>
          </p:cNvCxnSpPr>
          <p:nvPr/>
        </p:nvCxnSpPr>
        <p:spPr>
          <a:xfrm>
            <a:off x="4420259" y="4897014"/>
            <a:ext cx="8023" cy="725157"/>
          </a:xfrm>
          <a:prstGeom prst="straightConnector1">
            <a:avLst/>
          </a:prstGeom>
          <a:ln>
            <a:solidFill>
              <a:schemeClr val="accent6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Picture 8" descr="Top Google Analytics Announcements From 2017 - Karooya">
            <a:extLst>
              <a:ext uri="{FF2B5EF4-FFF2-40B4-BE49-F238E27FC236}">
                <a16:creationId xmlns:a16="http://schemas.microsoft.com/office/drawing/2014/main" id="{21931B7D-99B8-FAAD-8469-823D95090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934" y="5612589"/>
            <a:ext cx="819454" cy="47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Picture 6" descr="Agility CMS Redefines The Headless CMS Industry with Unlimited Offerings">
            <a:extLst>
              <a:ext uri="{FF2B5EF4-FFF2-40B4-BE49-F238E27FC236}">
                <a16:creationId xmlns:a16="http://schemas.microsoft.com/office/drawing/2014/main" id="{A937A9EB-1EFE-8D7C-A743-6E1A84C92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637" y="6004305"/>
            <a:ext cx="733951" cy="18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7AAECD70-B183-E21D-7F0C-FD03085F3552}"/>
              </a:ext>
            </a:extLst>
          </p:cNvPr>
          <p:cNvCxnSpPr>
            <a:cxnSpLocks/>
          </p:cNvCxnSpPr>
          <p:nvPr/>
        </p:nvCxnSpPr>
        <p:spPr>
          <a:xfrm flipV="1">
            <a:off x="1449984" y="5788079"/>
            <a:ext cx="1099458" cy="1013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Picture 12" descr="ETL your Salesforce Marketing Cloud data to your data warehouse | Stitch  Data Loader">
            <a:extLst>
              <a:ext uri="{FF2B5EF4-FFF2-40B4-BE49-F238E27FC236}">
                <a16:creationId xmlns:a16="http://schemas.microsoft.com/office/drawing/2014/main" id="{C39B3EFC-A1E2-3C47-BAF6-40C196824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574" y="5615251"/>
            <a:ext cx="988483" cy="33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3A5BC54-1B41-9E71-8DC1-4B392E38ECBF}"/>
              </a:ext>
            </a:extLst>
          </p:cNvPr>
          <p:cNvCxnSpPr>
            <a:cxnSpLocks/>
          </p:cNvCxnSpPr>
          <p:nvPr/>
        </p:nvCxnSpPr>
        <p:spPr>
          <a:xfrm flipV="1">
            <a:off x="1474014" y="6162562"/>
            <a:ext cx="1994881" cy="732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D8A6AEF6-F73B-DF7D-30A3-5B42E4B5589C}"/>
              </a:ext>
            </a:extLst>
          </p:cNvPr>
          <p:cNvSpPr txBox="1"/>
          <p:nvPr/>
        </p:nvSpPr>
        <p:spPr>
          <a:xfrm>
            <a:off x="4789624" y="5192832"/>
            <a:ext cx="828000" cy="180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Integration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5A7F2CC-92F7-AEFB-38DC-7E9C3F974428}"/>
              </a:ext>
            </a:extLst>
          </p:cNvPr>
          <p:cNvSpPr txBox="1"/>
          <p:nvPr/>
        </p:nvSpPr>
        <p:spPr>
          <a:xfrm>
            <a:off x="4044079" y="5294393"/>
            <a:ext cx="817039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Integration </a:t>
            </a:r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7DE1DDBE-48ED-6A10-E45E-0257BA64A3E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57880" y="5069700"/>
            <a:ext cx="194533" cy="13467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2E2A57C2-A7CB-0376-8A2A-7AE091A54DA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71672" y="5068265"/>
            <a:ext cx="194533" cy="168413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345345B9-871E-36BE-610D-B3C5AAB3AF59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46456" y="5624718"/>
            <a:ext cx="194533" cy="134677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8B6299B0-1350-B9C2-5A07-5EEC16CC51F7}"/>
              </a:ext>
            </a:extLst>
          </p:cNvPr>
          <p:cNvSpPr txBox="1"/>
          <p:nvPr/>
        </p:nvSpPr>
        <p:spPr>
          <a:xfrm>
            <a:off x="0" y="-2248"/>
            <a:ext cx="12192000" cy="31575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High-Level Component Data Flow </a:t>
            </a: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AA79A698-BD0D-E6D5-9DF9-600E4AC25CD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28835" y="5954373"/>
            <a:ext cx="194533" cy="134677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5164B30E-D5A2-48A0-2FB5-0E941DA56C33}"/>
              </a:ext>
            </a:extLst>
          </p:cNvPr>
          <p:cNvSpPr txBox="1"/>
          <p:nvPr/>
        </p:nvSpPr>
        <p:spPr>
          <a:xfrm>
            <a:off x="7386359" y="3383518"/>
            <a:ext cx="1448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Data Lake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43BE52B-E689-8A06-7939-1678C76E9A17}"/>
              </a:ext>
            </a:extLst>
          </p:cNvPr>
          <p:cNvSpPr txBox="1"/>
          <p:nvPr/>
        </p:nvSpPr>
        <p:spPr>
          <a:xfrm>
            <a:off x="5709832" y="542763"/>
            <a:ext cx="1368000" cy="4308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all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Streaming</a:t>
            </a:r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E3BE0C08-44CE-61F9-8192-0D2B154CBFA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34776" y="4251729"/>
            <a:ext cx="108852" cy="145137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5253EE32-43B0-E7F2-A813-A28219DE4F85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46549" y="4262514"/>
            <a:ext cx="108852" cy="145137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234BB995-4588-C114-EA8A-8A8033C7C98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94375" y="4228159"/>
            <a:ext cx="108852" cy="145137"/>
          </a:xfrm>
          <a:prstGeom prst="rect">
            <a:avLst/>
          </a:prstGeom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11973CA6-62A6-D968-D8F0-7B750E200D69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67253" y="4699158"/>
            <a:ext cx="108852" cy="145137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6450DC15-8F52-52B7-358F-EF44667061C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75680" y="3963344"/>
            <a:ext cx="108852" cy="145137"/>
          </a:xfrm>
          <a:prstGeom prst="rect">
            <a:avLst/>
          </a:prstGeom>
        </p:spPr>
      </p:pic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68DF8D8-8FF5-FC19-33E2-2ADB2DA7DBBA}"/>
              </a:ext>
            </a:extLst>
          </p:cNvPr>
          <p:cNvGrpSpPr/>
          <p:nvPr/>
        </p:nvGrpSpPr>
        <p:grpSpPr>
          <a:xfrm>
            <a:off x="6673382" y="3533080"/>
            <a:ext cx="452950" cy="369333"/>
            <a:chOff x="1824968" y="592272"/>
            <a:chExt cx="622016" cy="656588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0BDC32CC-8036-896C-7683-7831EB4AFC92}"/>
                </a:ext>
              </a:extLst>
            </p:cNvPr>
            <p:cNvSpPr/>
            <p:nvPr/>
          </p:nvSpPr>
          <p:spPr>
            <a:xfrm>
              <a:off x="2043953" y="774551"/>
              <a:ext cx="360000" cy="360000"/>
            </a:xfrm>
            <a:prstGeom prst="ellipse">
              <a:avLst/>
            </a:prstGeom>
            <a:solidFill>
              <a:schemeClr val="accent5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CA" sz="1013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A651687-AA35-D3AA-70C5-B16D92A3429C}"/>
                </a:ext>
              </a:extLst>
            </p:cNvPr>
            <p:cNvSpPr txBox="1"/>
            <p:nvPr/>
          </p:nvSpPr>
          <p:spPr>
            <a:xfrm>
              <a:off x="1824968" y="592272"/>
              <a:ext cx="622016" cy="656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189"/>
              <a:r>
                <a:rPr lang="en-US" b="1">
                  <a:solidFill>
                    <a:srgbClr val="CE009F"/>
                  </a:solidFill>
                  <a:latin typeface="Palatino Linotype" panose="02040502050505030304"/>
                </a:rPr>
                <a:t>3.</a:t>
              </a:r>
              <a:endParaRPr lang="en-CA" b="1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E7FCC4E9-C36A-CBB5-42D0-73619712AF35}"/>
              </a:ext>
            </a:extLst>
          </p:cNvPr>
          <p:cNvGrpSpPr/>
          <p:nvPr/>
        </p:nvGrpSpPr>
        <p:grpSpPr>
          <a:xfrm>
            <a:off x="8863107" y="2727967"/>
            <a:ext cx="390790" cy="369333"/>
            <a:chOff x="1824968" y="592272"/>
            <a:chExt cx="694738" cy="656588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6ED32F2B-BFE7-74F8-1108-E22B31801C5E}"/>
                </a:ext>
              </a:extLst>
            </p:cNvPr>
            <p:cNvSpPr/>
            <p:nvPr/>
          </p:nvSpPr>
          <p:spPr>
            <a:xfrm>
              <a:off x="2043953" y="774551"/>
              <a:ext cx="360000" cy="360000"/>
            </a:xfrm>
            <a:prstGeom prst="ellipse">
              <a:avLst/>
            </a:prstGeom>
            <a:solidFill>
              <a:schemeClr val="accent5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CA" sz="1013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4B3D1D52-1036-814B-C401-58E1778FBD41}"/>
                </a:ext>
              </a:extLst>
            </p:cNvPr>
            <p:cNvSpPr txBox="1"/>
            <p:nvPr/>
          </p:nvSpPr>
          <p:spPr>
            <a:xfrm>
              <a:off x="1824968" y="592272"/>
              <a:ext cx="694738" cy="656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189"/>
              <a:r>
                <a:rPr lang="en-US" b="1">
                  <a:solidFill>
                    <a:srgbClr val="CE009F"/>
                  </a:solidFill>
                  <a:latin typeface="Palatino Linotype" panose="02040502050505030304"/>
                </a:rPr>
                <a:t>4.</a:t>
              </a:r>
              <a:endParaRPr lang="en-CA" b="1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C828E50-B0EB-2743-3C17-81E5CBFE5E80}"/>
              </a:ext>
            </a:extLst>
          </p:cNvPr>
          <p:cNvGrpSpPr/>
          <p:nvPr/>
        </p:nvGrpSpPr>
        <p:grpSpPr>
          <a:xfrm>
            <a:off x="6269867" y="883669"/>
            <a:ext cx="371674" cy="369333"/>
            <a:chOff x="1824968" y="592272"/>
            <a:chExt cx="660754" cy="656589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8990615-5DFA-6849-A256-4D3437D03A31}"/>
                </a:ext>
              </a:extLst>
            </p:cNvPr>
            <p:cNvSpPr/>
            <p:nvPr/>
          </p:nvSpPr>
          <p:spPr>
            <a:xfrm>
              <a:off x="2043953" y="774551"/>
              <a:ext cx="360000" cy="360000"/>
            </a:xfrm>
            <a:prstGeom prst="ellipse">
              <a:avLst/>
            </a:prstGeom>
            <a:solidFill>
              <a:schemeClr val="accent5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CA" sz="1013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E1028588-09FE-5702-A156-BA487B80012F}"/>
                </a:ext>
              </a:extLst>
            </p:cNvPr>
            <p:cNvSpPr txBox="1"/>
            <p:nvPr/>
          </p:nvSpPr>
          <p:spPr>
            <a:xfrm>
              <a:off x="1824968" y="592272"/>
              <a:ext cx="660754" cy="656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189"/>
              <a:r>
                <a:rPr lang="en-US" b="1">
                  <a:solidFill>
                    <a:srgbClr val="CE009F"/>
                  </a:solidFill>
                  <a:latin typeface="Palatino Linotype" panose="02040502050505030304"/>
                </a:rPr>
                <a:t>2.</a:t>
              </a:r>
              <a:endParaRPr lang="en-CA" b="1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D50FC2CA-CC1A-63F3-13A8-6569EF459558}"/>
              </a:ext>
            </a:extLst>
          </p:cNvPr>
          <p:cNvGrpSpPr/>
          <p:nvPr/>
        </p:nvGrpSpPr>
        <p:grpSpPr>
          <a:xfrm>
            <a:off x="1605089" y="2514851"/>
            <a:ext cx="384939" cy="369333"/>
            <a:chOff x="1824966" y="592272"/>
            <a:chExt cx="684336" cy="656588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D208FAB6-575A-BC7E-0436-0A20E2D4457D}"/>
                </a:ext>
              </a:extLst>
            </p:cNvPr>
            <p:cNvSpPr/>
            <p:nvPr/>
          </p:nvSpPr>
          <p:spPr>
            <a:xfrm>
              <a:off x="2043953" y="774551"/>
              <a:ext cx="360000" cy="360000"/>
            </a:xfrm>
            <a:prstGeom prst="ellipse">
              <a:avLst/>
            </a:prstGeom>
            <a:solidFill>
              <a:schemeClr val="accent5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CA" sz="1013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CF1C15C-3A6D-A5A9-3ADB-2C0DAADDA398}"/>
                </a:ext>
              </a:extLst>
            </p:cNvPr>
            <p:cNvSpPr txBox="1"/>
            <p:nvPr/>
          </p:nvSpPr>
          <p:spPr>
            <a:xfrm>
              <a:off x="1824966" y="592272"/>
              <a:ext cx="684336" cy="656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189"/>
              <a:r>
                <a:rPr lang="en-US" b="1">
                  <a:solidFill>
                    <a:srgbClr val="CE009F"/>
                  </a:solidFill>
                  <a:latin typeface="Palatino Linotype" panose="02040502050505030304"/>
                </a:rPr>
                <a:t>1.</a:t>
              </a:r>
              <a:endParaRPr lang="en-CA" b="1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</p:grp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EC8A89A4-F0F3-E894-02F7-049C0D72A4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354203" y="2940252"/>
            <a:ext cx="626099" cy="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DE54A2D7-C532-03FB-2CA5-50AC3777E848}"/>
              </a:ext>
            </a:extLst>
          </p:cNvPr>
          <p:cNvSpPr txBox="1"/>
          <p:nvPr/>
        </p:nvSpPr>
        <p:spPr>
          <a:xfrm>
            <a:off x="25977" y="5963855"/>
            <a:ext cx="1549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Scene+ Website and App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5CB7825-4961-9C00-6EC3-D4519B1147BB}"/>
              </a:ext>
            </a:extLst>
          </p:cNvPr>
          <p:cNvCxnSpPr>
            <a:cxnSpLocks/>
            <a:stCxn id="108" idx="2"/>
            <a:endCxn id="122" idx="0"/>
          </p:cNvCxnSpPr>
          <p:nvPr/>
        </p:nvCxnSpPr>
        <p:spPr>
          <a:xfrm flipH="1">
            <a:off x="6358658" y="2930718"/>
            <a:ext cx="1597" cy="29536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2ACEFF64-6491-5124-486D-FE38A6CD33E7}"/>
              </a:ext>
            </a:extLst>
          </p:cNvPr>
          <p:cNvSpPr txBox="1"/>
          <p:nvPr/>
        </p:nvSpPr>
        <p:spPr>
          <a:xfrm>
            <a:off x="6110606" y="1258199"/>
            <a:ext cx="87712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API Integration 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F9D579D-BE6C-55E5-38CE-1744A78ACB0E}"/>
              </a:ext>
            </a:extLst>
          </p:cNvPr>
          <p:cNvCxnSpPr>
            <a:cxnSpLocks/>
          </p:cNvCxnSpPr>
          <p:nvPr/>
        </p:nvCxnSpPr>
        <p:spPr>
          <a:xfrm>
            <a:off x="3810118" y="4898062"/>
            <a:ext cx="0" cy="951536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6" name="Picture 155">
            <a:extLst>
              <a:ext uri="{FF2B5EF4-FFF2-40B4-BE49-F238E27FC236}">
                <a16:creationId xmlns:a16="http://schemas.microsoft.com/office/drawing/2014/main" id="{1FE6F9F1-4159-2F08-539F-6DEEFF5E307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49602" y="4988363"/>
            <a:ext cx="194533" cy="134677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E6F53A1F-F0A0-E471-FC35-2E4EB9F08B19}"/>
              </a:ext>
            </a:extLst>
          </p:cNvPr>
          <p:cNvSpPr txBox="1"/>
          <p:nvPr/>
        </p:nvSpPr>
        <p:spPr>
          <a:xfrm>
            <a:off x="3435602" y="5138039"/>
            <a:ext cx="828000" cy="180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API Integration </a:t>
            </a:r>
          </a:p>
        </p:txBody>
      </p:sp>
      <p:pic>
        <p:nvPicPr>
          <p:cNvPr id="178" name="Picture 177">
            <a:extLst>
              <a:ext uri="{FF2B5EF4-FFF2-40B4-BE49-F238E27FC236}">
                <a16:creationId xmlns:a16="http://schemas.microsoft.com/office/drawing/2014/main" id="{75C2D002-D1CB-B22D-0624-4588CAA93B9D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596888" y="5999857"/>
            <a:ext cx="1005228" cy="247263"/>
          </a:xfrm>
          <a:prstGeom prst="rect">
            <a:avLst/>
          </a:prstGeom>
        </p:spPr>
      </p:pic>
      <p:pic>
        <p:nvPicPr>
          <p:cNvPr id="184" name="Picture 183">
            <a:extLst>
              <a:ext uri="{FF2B5EF4-FFF2-40B4-BE49-F238E27FC236}">
                <a16:creationId xmlns:a16="http://schemas.microsoft.com/office/drawing/2014/main" id="{EB716F38-4C5D-A520-B6A7-041EF9C027FE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259045" y="4203643"/>
            <a:ext cx="552450" cy="600075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A03AD85E-57F5-20F7-41F2-A49C264A8432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345918" y="4890052"/>
            <a:ext cx="552450" cy="62865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0E7B965-A7C2-E745-DE2D-03E80E8D2A8F}"/>
              </a:ext>
            </a:extLst>
          </p:cNvPr>
          <p:cNvCxnSpPr>
            <a:cxnSpLocks/>
          </p:cNvCxnSpPr>
          <p:nvPr/>
        </p:nvCxnSpPr>
        <p:spPr>
          <a:xfrm flipV="1">
            <a:off x="4321377" y="6558590"/>
            <a:ext cx="339678" cy="582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964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F9F82D5-B250-3057-2C3D-A78D3B5EE9F2}"/>
              </a:ext>
            </a:extLst>
          </p:cNvPr>
          <p:cNvCxnSpPr>
            <a:cxnSpLocks/>
          </p:cNvCxnSpPr>
          <p:nvPr/>
        </p:nvCxnSpPr>
        <p:spPr>
          <a:xfrm>
            <a:off x="2038756" y="693321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EF73E9DC-97E5-4743-7890-A903218700EA}"/>
              </a:ext>
            </a:extLst>
          </p:cNvPr>
          <p:cNvSpPr/>
          <p:nvPr/>
        </p:nvSpPr>
        <p:spPr>
          <a:xfrm>
            <a:off x="927590" y="4011318"/>
            <a:ext cx="810784" cy="58434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20E1807-1FAA-B899-813D-FCDA33F0E304}"/>
              </a:ext>
            </a:extLst>
          </p:cNvPr>
          <p:cNvSpPr/>
          <p:nvPr/>
        </p:nvSpPr>
        <p:spPr>
          <a:xfrm>
            <a:off x="6159838" y="560768"/>
            <a:ext cx="976885" cy="4662826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BE6FD1C-9EC8-7416-4B42-BFE2BDD6482C}"/>
              </a:ext>
            </a:extLst>
          </p:cNvPr>
          <p:cNvSpPr/>
          <p:nvPr/>
        </p:nvSpPr>
        <p:spPr>
          <a:xfrm>
            <a:off x="7859424" y="725501"/>
            <a:ext cx="3738259" cy="2535468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A272F84-C40C-DE8F-4543-1C2AEBF3B567}"/>
              </a:ext>
            </a:extLst>
          </p:cNvPr>
          <p:cNvGrpSpPr/>
          <p:nvPr/>
        </p:nvGrpSpPr>
        <p:grpSpPr>
          <a:xfrm>
            <a:off x="781475" y="419267"/>
            <a:ext cx="1423731" cy="5669159"/>
            <a:chOff x="217250" y="966675"/>
            <a:chExt cx="1786064" cy="6213377"/>
          </a:xfrm>
        </p:grpSpPr>
        <p:sp>
          <p:nvSpPr>
            <p:cNvPr id="76" name="Right Brace 75">
              <a:extLst>
                <a:ext uri="{FF2B5EF4-FFF2-40B4-BE49-F238E27FC236}">
                  <a16:creationId xmlns:a16="http://schemas.microsoft.com/office/drawing/2014/main" id="{0B3C96B1-00E0-608C-A087-E35985F53A99}"/>
                </a:ext>
              </a:extLst>
            </p:cNvPr>
            <p:cNvSpPr/>
            <p:nvPr/>
          </p:nvSpPr>
          <p:spPr>
            <a:xfrm>
              <a:off x="1585690" y="986014"/>
              <a:ext cx="417624" cy="6194038"/>
            </a:xfrm>
            <a:prstGeom prst="rightBrac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DD01982-957D-F616-D627-8AC2E1776A32}"/>
                </a:ext>
              </a:extLst>
            </p:cNvPr>
            <p:cNvGrpSpPr/>
            <p:nvPr/>
          </p:nvGrpSpPr>
          <p:grpSpPr>
            <a:xfrm>
              <a:off x="217250" y="966675"/>
              <a:ext cx="1516231" cy="3701087"/>
              <a:chOff x="224292" y="400470"/>
              <a:chExt cx="1516231" cy="3701087"/>
            </a:xfrm>
          </p:grpSpPr>
          <p:pic>
            <p:nvPicPr>
              <p:cNvPr id="78" name="Picture 2" descr="Scotiabank to mobilize $100 billion by 2025 to support the transition to a  lower-carbon and more resilient economy">
                <a:extLst>
                  <a:ext uri="{FF2B5EF4-FFF2-40B4-BE49-F238E27FC236}">
                    <a16:creationId xmlns:a16="http://schemas.microsoft.com/office/drawing/2014/main" id="{26A5659F-92C0-C490-CDA3-4B660788D4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292" y="400470"/>
                <a:ext cx="1516231" cy="6697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9" name="Picture 4" descr="Cineplex Entertainment - Wikipedia">
                <a:extLst>
                  <a:ext uri="{FF2B5EF4-FFF2-40B4-BE49-F238E27FC236}">
                    <a16:creationId xmlns:a16="http://schemas.microsoft.com/office/drawing/2014/main" id="{D74B9E37-34E6-8720-FDA9-5CD604AD4F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7520" y="941191"/>
                <a:ext cx="1174431" cy="445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0" name="Picture 4">
                <a:extLst>
                  <a:ext uri="{FF2B5EF4-FFF2-40B4-BE49-F238E27FC236}">
                    <a16:creationId xmlns:a16="http://schemas.microsoft.com/office/drawing/2014/main" id="{6A0B0884-BC9D-11DB-2005-759E4D635F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6524" y="3837913"/>
                <a:ext cx="980426" cy="2636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1" name="Picture 6" descr="Recipe Unlimited - Wikipedia">
                <a:extLst>
                  <a:ext uri="{FF2B5EF4-FFF2-40B4-BE49-F238E27FC236}">
                    <a16:creationId xmlns:a16="http://schemas.microsoft.com/office/drawing/2014/main" id="{DEE4DFA5-E15D-E99B-1825-FFFBE81AC9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7592" y="1513634"/>
                <a:ext cx="1230340" cy="4870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3CF859E6-1FA5-6E3B-1557-505FE970A44C}"/>
                  </a:ext>
                </a:extLst>
              </p:cNvPr>
              <p:cNvGrpSpPr/>
              <p:nvPr/>
            </p:nvGrpSpPr>
            <p:grpSpPr>
              <a:xfrm>
                <a:off x="384847" y="2034730"/>
                <a:ext cx="1230340" cy="698610"/>
                <a:chOff x="375713" y="3205904"/>
                <a:chExt cx="1230340" cy="698610"/>
              </a:xfrm>
            </p:grpSpPr>
            <p:pic>
              <p:nvPicPr>
                <p:cNvPr id="85" name="Picture 6" descr="Image result for bakkt logo">
                  <a:extLst>
                    <a:ext uri="{FF2B5EF4-FFF2-40B4-BE49-F238E27FC236}">
                      <a16:creationId xmlns:a16="http://schemas.microsoft.com/office/drawing/2014/main" id="{385DE440-6BAF-8126-349A-38D635368D4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75713" y="3205904"/>
                  <a:ext cx="1230340" cy="4870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6" name="Picture 8" descr="Image result for apple logo">
                  <a:extLst>
                    <a:ext uri="{FF2B5EF4-FFF2-40B4-BE49-F238E27FC236}">
                      <a16:creationId xmlns:a16="http://schemas.microsoft.com/office/drawing/2014/main" id="{E4BA2267-1C54-4923-9CB1-14460D04013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9077" y="3568801"/>
                  <a:ext cx="264385" cy="3255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87" name="Picture 10" descr="Image result for best buy logo">
                  <a:extLst>
                    <a:ext uri="{FF2B5EF4-FFF2-40B4-BE49-F238E27FC236}">
                      <a16:creationId xmlns:a16="http://schemas.microsoft.com/office/drawing/2014/main" id="{97B8E8EE-AF61-E0F4-C3D4-CBC1D03E4D7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90883" y="3662627"/>
                  <a:ext cx="413222" cy="241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83" name="Picture 12" descr="Image result for expedia logo">
                <a:extLst>
                  <a:ext uri="{FF2B5EF4-FFF2-40B4-BE49-F238E27FC236}">
                    <a16:creationId xmlns:a16="http://schemas.microsoft.com/office/drawing/2014/main" id="{1490A021-2D52-63FD-B5C1-EA2216E764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2427" y="2735801"/>
                <a:ext cx="1374166" cy="492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4" name="Picture 14" descr="Image result for Rakuten logo">
                <a:extLst>
                  <a:ext uri="{FF2B5EF4-FFF2-40B4-BE49-F238E27FC236}">
                    <a16:creationId xmlns:a16="http://schemas.microsoft.com/office/drawing/2014/main" id="{7AA6D29A-8FD4-BE03-D3AA-B8656FA42F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266" y="3309944"/>
                <a:ext cx="1287746" cy="3219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DEB71F9-0C56-9A2E-1D6D-17446C992CCF}"/>
              </a:ext>
            </a:extLst>
          </p:cNvPr>
          <p:cNvCxnSpPr>
            <a:cxnSpLocks/>
          </p:cNvCxnSpPr>
          <p:nvPr/>
        </p:nvCxnSpPr>
        <p:spPr>
          <a:xfrm flipV="1">
            <a:off x="6654703" y="2721498"/>
            <a:ext cx="2218" cy="39613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FB7BC364-0A27-DB03-31C2-9BCA2D65CA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0518" y="2014525"/>
            <a:ext cx="801010" cy="65325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7155B539-8BA3-A7B2-2C80-0F0A1EDA5B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3680" y="3110470"/>
            <a:ext cx="567705" cy="544375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996EA331-58CB-D045-74E3-195B2F135CC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2375" y="1025505"/>
            <a:ext cx="637697" cy="544375"/>
          </a:xfrm>
          <a:prstGeom prst="rect">
            <a:avLst/>
          </a:prstGeom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EC7C50-4255-751E-7C9F-F7770D5855F2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6621023" y="1626293"/>
            <a:ext cx="0" cy="38823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D77213A-4A74-7C6A-0FF9-96954C01FA67}"/>
              </a:ext>
            </a:extLst>
          </p:cNvPr>
          <p:cNvCxnSpPr>
            <a:cxnSpLocks/>
          </p:cNvCxnSpPr>
          <p:nvPr/>
        </p:nvCxnSpPr>
        <p:spPr>
          <a:xfrm>
            <a:off x="7137878" y="2094905"/>
            <a:ext cx="72154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76BBE261-4CA6-6DC1-00AC-837F9842132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3603" y="3796183"/>
            <a:ext cx="757524" cy="365995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E7FAB6A2-6E2F-360B-EAC9-4055980D2D3D}"/>
              </a:ext>
            </a:extLst>
          </p:cNvPr>
          <p:cNvSpPr/>
          <p:nvPr/>
        </p:nvSpPr>
        <p:spPr>
          <a:xfrm>
            <a:off x="7934185" y="880621"/>
            <a:ext cx="3546062" cy="1518586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7" name="Picture 96" descr="Bond Synapze LX Platform">
            <a:extLst>
              <a:ext uri="{FF2B5EF4-FFF2-40B4-BE49-F238E27FC236}">
                <a16:creationId xmlns:a16="http://schemas.microsoft.com/office/drawing/2014/main" id="{97F42767-B21A-4F4D-77F7-5C0049FDE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9" b="37253"/>
          <a:stretch/>
        </p:blipFill>
        <p:spPr bwMode="auto">
          <a:xfrm>
            <a:off x="8046115" y="935138"/>
            <a:ext cx="1187147" cy="36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208BC1B8-FECF-9164-6A05-459555B99EC8}"/>
              </a:ext>
            </a:extLst>
          </p:cNvPr>
          <p:cNvSpPr txBox="1"/>
          <p:nvPr/>
        </p:nvSpPr>
        <p:spPr>
          <a:xfrm>
            <a:off x="8053487" y="1361366"/>
            <a:ext cx="2127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Point Calculation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POS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E-Commerce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Points Bank &amp; Liability Management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81CC9E9-24FA-BE06-F9D4-47FECFAF75BF}"/>
              </a:ext>
            </a:extLst>
          </p:cNvPr>
          <p:cNvSpPr/>
          <p:nvPr/>
        </p:nvSpPr>
        <p:spPr>
          <a:xfrm>
            <a:off x="7956326" y="2539013"/>
            <a:ext cx="3523921" cy="571408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A31FE9FB-D6E8-6742-8339-FF401775366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00576" y="2580531"/>
            <a:ext cx="536583" cy="441892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55D24628-5CA3-3DFE-83D6-A667D8C4753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39716" y="2597177"/>
            <a:ext cx="456258" cy="42818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2842C87C-E76B-907C-EA81-C6881EB36D6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95179" y="2598270"/>
            <a:ext cx="456258" cy="44983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2873FED5-B897-9794-F711-AD9D68E8D14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58967" y="2562315"/>
            <a:ext cx="533431" cy="441106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2D361F3-F613-AF70-3CE3-D38F37C3CBB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28724" y="2633617"/>
            <a:ext cx="400349" cy="325035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DBCE45D2-1BC8-B62A-3E9C-463735AC511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13072" y="2606210"/>
            <a:ext cx="503266" cy="441892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EC33352C-00CC-3FC8-003A-CC1E3EEEE4F6}"/>
              </a:ext>
            </a:extLst>
          </p:cNvPr>
          <p:cNvSpPr txBox="1"/>
          <p:nvPr/>
        </p:nvSpPr>
        <p:spPr>
          <a:xfrm>
            <a:off x="909744" y="4256952"/>
            <a:ext cx="8835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Manager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196B86BC-D07D-CCF5-CA07-91F8EB2B330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6443" y="3909877"/>
            <a:ext cx="352558" cy="368706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8D6C388-E7AF-73FB-B2A8-C278D38FA953}"/>
              </a:ext>
            </a:extLst>
          </p:cNvPr>
          <p:cNvGrpSpPr/>
          <p:nvPr/>
        </p:nvGrpSpPr>
        <p:grpSpPr>
          <a:xfrm>
            <a:off x="1150799" y="4779529"/>
            <a:ext cx="825995" cy="964430"/>
            <a:chOff x="4112315" y="1289601"/>
            <a:chExt cx="2213941" cy="2213941"/>
          </a:xfrm>
        </p:grpSpPr>
        <p:pic>
          <p:nvPicPr>
            <p:cNvPr id="111" name="Picture 20" descr="Rent Microsoft Surface Laptop 3 from €59.90 per month">
              <a:extLst>
                <a:ext uri="{FF2B5EF4-FFF2-40B4-BE49-F238E27FC236}">
                  <a16:creationId xmlns:a16="http://schemas.microsoft.com/office/drawing/2014/main" id="{C07602CC-F100-1A1C-06E1-D430199075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2315" y="1289601"/>
              <a:ext cx="2213941" cy="2213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A4F4E23C-66E8-D7F6-730E-0002198B36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/>
            <a:srcRect b="45954"/>
            <a:stretch/>
          </p:blipFill>
          <p:spPr>
            <a:xfrm>
              <a:off x="4432851" y="1746709"/>
              <a:ext cx="1590261" cy="1066065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B244F90-9B4F-8594-65DE-2CCE664C2061}"/>
              </a:ext>
            </a:extLst>
          </p:cNvPr>
          <p:cNvGrpSpPr/>
          <p:nvPr/>
        </p:nvGrpSpPr>
        <p:grpSpPr>
          <a:xfrm>
            <a:off x="705297" y="4789973"/>
            <a:ext cx="447966" cy="819009"/>
            <a:chOff x="973414" y="1212573"/>
            <a:chExt cx="3283901" cy="4969566"/>
          </a:xfrm>
        </p:grpSpPr>
        <p:pic>
          <p:nvPicPr>
            <p:cNvPr id="114" name="c4b4666d-5106-4497-86b3-b394c918d9b9" descr="Image">
              <a:extLst>
                <a:ext uri="{FF2B5EF4-FFF2-40B4-BE49-F238E27FC236}">
                  <a16:creationId xmlns:a16="http://schemas.microsoft.com/office/drawing/2014/main" id="{8B819AA2-1DBE-F16F-C7DB-E49D5C9616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64"/>
            <a:stretch/>
          </p:blipFill>
          <p:spPr bwMode="auto">
            <a:xfrm>
              <a:off x="1568588" y="1346752"/>
              <a:ext cx="2125917" cy="4532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5" name="Picture 25" descr="Pin by Meme Loverz on Инстаграм | Phone template, Iphone mockup, Png">
              <a:extLst>
                <a:ext uri="{FF2B5EF4-FFF2-40B4-BE49-F238E27FC236}">
                  <a16:creationId xmlns:a16="http://schemas.microsoft.com/office/drawing/2014/main" id="{90CD6A17-2B79-9ECD-A85D-82C1A579C2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414" y="1212573"/>
              <a:ext cx="3283901" cy="4969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876B29C-8D1B-1754-FED0-61B624D88EA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53160" y="4978653"/>
            <a:ext cx="610534" cy="476445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095521CD-76CD-748C-76F6-0D8AC5390B4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24610" y="4377743"/>
            <a:ext cx="464623" cy="456879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B249D083-14A4-A16E-99F0-9FC92075E3D0}"/>
              </a:ext>
            </a:extLst>
          </p:cNvPr>
          <p:cNvSpPr txBox="1"/>
          <p:nvPr/>
        </p:nvSpPr>
        <p:spPr>
          <a:xfrm>
            <a:off x="6420430" y="4834622"/>
            <a:ext cx="465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MFT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0B88A1A-0AC3-9C99-6988-34B6B5DE8702}"/>
              </a:ext>
            </a:extLst>
          </p:cNvPr>
          <p:cNvCxnSpPr>
            <a:cxnSpLocks/>
            <a:endCxn id="127" idx="0"/>
          </p:cNvCxnSpPr>
          <p:nvPr/>
        </p:nvCxnSpPr>
        <p:spPr>
          <a:xfrm>
            <a:off x="8323644" y="3348761"/>
            <a:ext cx="0" cy="2467851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7E32BF2-7186-34D1-E80E-2B410BCE579B}"/>
              </a:ext>
            </a:extLst>
          </p:cNvPr>
          <p:cNvCxnSpPr>
            <a:cxnSpLocks/>
          </p:cNvCxnSpPr>
          <p:nvPr/>
        </p:nvCxnSpPr>
        <p:spPr>
          <a:xfrm>
            <a:off x="9475739" y="3268859"/>
            <a:ext cx="13443" cy="952686"/>
          </a:xfrm>
          <a:prstGeom prst="straightConnector1">
            <a:avLst/>
          </a:prstGeom>
          <a:ln>
            <a:solidFill>
              <a:schemeClr val="accent6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Picture 8" descr="Top Google Analytics Announcements From 2017 - Karooya">
            <a:extLst>
              <a:ext uri="{FF2B5EF4-FFF2-40B4-BE49-F238E27FC236}">
                <a16:creationId xmlns:a16="http://schemas.microsoft.com/office/drawing/2014/main" id="{98579BCD-5A62-0B27-4203-3FA26101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5717" y="5280813"/>
            <a:ext cx="1325125" cy="57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6" descr="Agility CMS Redefines The Headless CMS Industry with Unlimited Offerings">
            <a:extLst>
              <a:ext uri="{FF2B5EF4-FFF2-40B4-BE49-F238E27FC236}">
                <a16:creationId xmlns:a16="http://schemas.microsoft.com/office/drawing/2014/main" id="{7F8AD14A-5D44-B16F-24CC-5EF4EBE74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780" y="5816612"/>
            <a:ext cx="1191727" cy="305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D7A28C9-6B3D-FA7F-E0BE-C46F8C63B23B}"/>
              </a:ext>
            </a:extLst>
          </p:cNvPr>
          <p:cNvCxnSpPr>
            <a:cxnSpLocks/>
          </p:cNvCxnSpPr>
          <p:nvPr/>
        </p:nvCxnSpPr>
        <p:spPr>
          <a:xfrm flipV="1">
            <a:off x="2050464" y="5597000"/>
            <a:ext cx="4045536" cy="1051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Picture 12" descr="ETL your Salesforce Marketing Cloud data to your data warehouse | Stitch  Data Loader">
            <a:extLst>
              <a:ext uri="{FF2B5EF4-FFF2-40B4-BE49-F238E27FC236}">
                <a16:creationId xmlns:a16="http://schemas.microsoft.com/office/drawing/2014/main" id="{6ABAD076-5F4A-6DD7-B508-6438E0D9C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1280" y="4275112"/>
            <a:ext cx="1445573" cy="45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F5488B9B-8289-3641-1F07-6AEAF395FD0A}"/>
              </a:ext>
            </a:extLst>
          </p:cNvPr>
          <p:cNvCxnSpPr>
            <a:cxnSpLocks/>
          </p:cNvCxnSpPr>
          <p:nvPr/>
        </p:nvCxnSpPr>
        <p:spPr>
          <a:xfrm flipV="1">
            <a:off x="2050464" y="5954383"/>
            <a:ext cx="5677316" cy="19686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Picture 132">
            <a:extLst>
              <a:ext uri="{FF2B5EF4-FFF2-40B4-BE49-F238E27FC236}">
                <a16:creationId xmlns:a16="http://schemas.microsoft.com/office/drawing/2014/main" id="{1344E7F5-1255-7037-06BC-3AB6B95BF46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72403" y="4712480"/>
            <a:ext cx="194533" cy="134677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58A69D08-6827-5222-2826-9A9371D6894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47634" y="3378663"/>
            <a:ext cx="194533" cy="1684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F339B6-4172-2F06-FFC7-FA13BD32F9E8}"/>
              </a:ext>
            </a:extLst>
          </p:cNvPr>
          <p:cNvSpPr txBox="1"/>
          <p:nvPr/>
        </p:nvSpPr>
        <p:spPr>
          <a:xfrm>
            <a:off x="0" y="-2248"/>
            <a:ext cx="12192000" cy="31575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Data Flow #1:</a:t>
            </a: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Partner Integration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DDEC5C-7798-064D-5798-16422BB1E4FE}"/>
              </a:ext>
            </a:extLst>
          </p:cNvPr>
          <p:cNvSpPr/>
          <p:nvPr/>
        </p:nvSpPr>
        <p:spPr>
          <a:xfrm>
            <a:off x="2323357" y="529949"/>
            <a:ext cx="253439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New Member Demographic data/updates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Transactional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data for points calculation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0E75BE-63B9-E7DA-A9AE-CEC29594460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06663" y="409951"/>
            <a:ext cx="194533" cy="134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C7EFA8-616C-A90E-2766-7DF804870945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34963" y="689835"/>
            <a:ext cx="137203" cy="182938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948C8105-00AA-39D6-7E08-B95F7EC6F6C2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06663" y="560767"/>
            <a:ext cx="194533" cy="13467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5FEEF8-D382-1A04-103C-C6254E9BC4CC}"/>
              </a:ext>
            </a:extLst>
          </p:cNvPr>
          <p:cNvCxnSpPr>
            <a:cxnSpLocks/>
          </p:cNvCxnSpPr>
          <p:nvPr/>
        </p:nvCxnSpPr>
        <p:spPr>
          <a:xfrm>
            <a:off x="2040798" y="1164246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09DCADB-D3E3-7741-16CD-CB732694439A}"/>
              </a:ext>
            </a:extLst>
          </p:cNvPr>
          <p:cNvSpPr/>
          <p:nvPr/>
        </p:nvSpPr>
        <p:spPr>
          <a:xfrm>
            <a:off x="2323359" y="1027182"/>
            <a:ext cx="236564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Transactional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data for transaction association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6699E7-D25B-7062-C698-494A0E071BF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4470" y="985818"/>
            <a:ext cx="194533" cy="1346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16E902-F27C-EEF1-0F18-CFE3C3D5BC5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32331" y="1127232"/>
            <a:ext cx="137203" cy="18293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1A70C3-26AA-E59E-FF49-21917DAE377A}"/>
              </a:ext>
            </a:extLst>
          </p:cNvPr>
          <p:cNvCxnSpPr>
            <a:cxnSpLocks/>
          </p:cNvCxnSpPr>
          <p:nvPr/>
        </p:nvCxnSpPr>
        <p:spPr>
          <a:xfrm>
            <a:off x="2052992" y="1626293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D1D64FD-EE27-E08D-BC30-33C7F3FD43C1}"/>
              </a:ext>
            </a:extLst>
          </p:cNvPr>
          <p:cNvSpPr/>
          <p:nvPr/>
        </p:nvSpPr>
        <p:spPr>
          <a:xfrm>
            <a:off x="2335553" y="1489229"/>
            <a:ext cx="236564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Transactional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data for transaction association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D78704-2533-619C-4A71-2AE125B0E2E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06664" y="1447865"/>
            <a:ext cx="194533" cy="1346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725F58-510C-666C-5F82-50F0EFB1E1F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44525" y="1589279"/>
            <a:ext cx="137203" cy="182938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F20E440-97D1-3C72-C07F-E4EFC8EE364D}"/>
              </a:ext>
            </a:extLst>
          </p:cNvPr>
          <p:cNvCxnSpPr>
            <a:cxnSpLocks/>
          </p:cNvCxnSpPr>
          <p:nvPr/>
        </p:nvCxnSpPr>
        <p:spPr>
          <a:xfrm>
            <a:off x="2036762" y="2151589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40F2E8E-69A2-DD86-7448-3619BEC11318}"/>
              </a:ext>
            </a:extLst>
          </p:cNvPr>
          <p:cNvSpPr/>
          <p:nvPr/>
        </p:nvSpPr>
        <p:spPr>
          <a:xfrm>
            <a:off x="2319323" y="2014525"/>
            <a:ext cx="236564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Order data and status updates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234269A-BD3B-B001-894F-B1B3C201F82A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0434" y="2065176"/>
            <a:ext cx="194533" cy="13467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949D1F-27B8-3889-566A-EA1B1FD816DE}"/>
              </a:ext>
            </a:extLst>
          </p:cNvPr>
          <p:cNvCxnSpPr>
            <a:cxnSpLocks/>
          </p:cNvCxnSpPr>
          <p:nvPr/>
        </p:nvCxnSpPr>
        <p:spPr>
          <a:xfrm>
            <a:off x="2056111" y="2727927"/>
            <a:ext cx="4082455" cy="1233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12C7043-CD87-898A-289F-D6C859502EC1}"/>
              </a:ext>
            </a:extLst>
          </p:cNvPr>
          <p:cNvSpPr/>
          <p:nvPr/>
        </p:nvSpPr>
        <p:spPr>
          <a:xfrm>
            <a:off x="2319295" y="2603193"/>
            <a:ext cx="236564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Order data and status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Point issuance transactional data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B9A66DA-8B2F-1B35-A438-AFFA0B757A2D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0406" y="2552304"/>
            <a:ext cx="194533" cy="13467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E41817F-E8C0-638F-2D99-477CDB342616}"/>
              </a:ext>
            </a:extLst>
          </p:cNvPr>
          <p:cNvCxnSpPr>
            <a:cxnSpLocks/>
          </p:cNvCxnSpPr>
          <p:nvPr/>
        </p:nvCxnSpPr>
        <p:spPr>
          <a:xfrm>
            <a:off x="2036734" y="3211717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51D44-E7F3-4DCA-6271-B9B16EDAA2C7}"/>
              </a:ext>
            </a:extLst>
          </p:cNvPr>
          <p:cNvSpPr/>
          <p:nvPr/>
        </p:nvSpPr>
        <p:spPr>
          <a:xfrm>
            <a:off x="2319295" y="3074653"/>
            <a:ext cx="236564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 linking/de-linking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Point issuance transactional data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2149615-8CCC-F9E0-C140-C5E1F2C419E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0406" y="3134182"/>
            <a:ext cx="194533" cy="134677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E7A67C3-997A-1B77-C282-9CD266835497}"/>
              </a:ext>
            </a:extLst>
          </p:cNvPr>
          <p:cNvCxnSpPr>
            <a:cxnSpLocks/>
          </p:cNvCxnSpPr>
          <p:nvPr/>
        </p:nvCxnSpPr>
        <p:spPr>
          <a:xfrm>
            <a:off x="2056111" y="3683722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1BE01DE-C87E-D7CC-1FA8-6ADEE6C9FC6C}"/>
              </a:ext>
            </a:extLst>
          </p:cNvPr>
          <p:cNvSpPr/>
          <p:nvPr/>
        </p:nvSpPr>
        <p:spPr>
          <a:xfrm>
            <a:off x="2338672" y="3546658"/>
            <a:ext cx="2365643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 linking/de-linking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Points redemption transactional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Points issuance transactional data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B188910F-EAAF-209F-F27F-2F713EEDE780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09783" y="3472370"/>
            <a:ext cx="194533" cy="134677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FE70D8C-8E90-FB1A-B31E-DBA37A09D1C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09453" y="3622920"/>
            <a:ext cx="194533" cy="134677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210608A-004B-1D54-12A4-C26C8FA0FAF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48666" y="3756782"/>
            <a:ext cx="137203" cy="182938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221A5DC-B23F-1F43-7A27-32D0EAFA281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528267" y="2693718"/>
            <a:ext cx="137203" cy="182938"/>
          </a:xfrm>
          <a:prstGeom prst="rect">
            <a:avLst/>
          </a:prstGeom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CD1FBFA-6731-8BD5-FBE3-270C52DBC592}"/>
              </a:ext>
            </a:extLst>
          </p:cNvPr>
          <p:cNvCxnSpPr>
            <a:cxnSpLocks/>
          </p:cNvCxnSpPr>
          <p:nvPr/>
        </p:nvCxnSpPr>
        <p:spPr>
          <a:xfrm>
            <a:off x="2040798" y="4299080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E3904B4-A8F4-B75B-44B9-7852504FCE69}"/>
              </a:ext>
            </a:extLst>
          </p:cNvPr>
          <p:cNvSpPr/>
          <p:nvPr/>
        </p:nvSpPr>
        <p:spPr>
          <a:xfrm>
            <a:off x="2324673" y="4162016"/>
            <a:ext cx="2347494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New Member Demographic data/updates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Order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Scene+ Account and card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Adjustments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Disposition history</a:t>
            </a: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888FB758-D93F-FC8D-0641-28AD946A82A8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4470" y="4221545"/>
            <a:ext cx="194533" cy="134677"/>
          </a:xfrm>
          <a:prstGeom prst="rect">
            <a:avLst/>
          </a:prstGeom>
        </p:spPr>
      </p:pic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A475D6C-BAC9-D616-12A8-5E64BB37F9CC}"/>
              </a:ext>
            </a:extLst>
          </p:cNvPr>
          <p:cNvCxnSpPr>
            <a:cxnSpLocks/>
          </p:cNvCxnSpPr>
          <p:nvPr/>
        </p:nvCxnSpPr>
        <p:spPr>
          <a:xfrm>
            <a:off x="2043204" y="4969117"/>
            <a:ext cx="410183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E8256A0-9443-EE92-DCAF-11217E84EC75}"/>
              </a:ext>
            </a:extLst>
          </p:cNvPr>
          <p:cNvSpPr/>
          <p:nvPr/>
        </p:nvSpPr>
        <p:spPr>
          <a:xfrm>
            <a:off x="2329386" y="4889203"/>
            <a:ext cx="2315554" cy="2684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New Member Demographic data/updates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New Orders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Communication preferences/SMS Opt-in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Offer Opt-in/Opt-out</a:t>
            </a:r>
          </a:p>
          <a:p>
            <a:endParaRPr lang="en-CA" sz="800">
              <a:solidFill>
                <a:schemeClr val="accent6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220D97F4-4A10-CB28-B717-0470F22B9EA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6876" y="4891582"/>
            <a:ext cx="194533" cy="134677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A75F162C-37B6-8E89-8D0C-FC5D38BEE7DD}"/>
              </a:ext>
            </a:extLst>
          </p:cNvPr>
          <p:cNvSpPr txBox="1"/>
          <p:nvPr/>
        </p:nvSpPr>
        <p:spPr>
          <a:xfrm>
            <a:off x="570591" y="5639261"/>
            <a:ext cx="15491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Scene+ Website and App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0AD9D48B-4BC8-F5B4-F9EC-60C5CDDA9F6F}"/>
              </a:ext>
            </a:extLst>
          </p:cNvPr>
          <p:cNvSpPr/>
          <p:nvPr/>
        </p:nvSpPr>
        <p:spPr>
          <a:xfrm>
            <a:off x="2329386" y="5362899"/>
            <a:ext cx="2189881" cy="359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Offers, reward, events, spotlights, points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And order history impressions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Ecommerce impressions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Registration and profile updates</a:t>
            </a: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27513B4E-1B82-9BE3-0300-6C04E53A810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091841" y="5530470"/>
            <a:ext cx="194533" cy="134677"/>
          </a:xfrm>
          <a:prstGeom prst="rect">
            <a:avLst/>
          </a:prstGeom>
        </p:spPr>
      </p:pic>
      <p:sp>
        <p:nvSpPr>
          <p:cNvPr id="156" name="Rectangle 155">
            <a:extLst>
              <a:ext uri="{FF2B5EF4-FFF2-40B4-BE49-F238E27FC236}">
                <a16:creationId xmlns:a16="http://schemas.microsoft.com/office/drawing/2014/main" id="{3FFBCB29-DAF1-70BD-F090-B535F903E708}"/>
              </a:ext>
            </a:extLst>
          </p:cNvPr>
          <p:cNvSpPr/>
          <p:nvPr/>
        </p:nvSpPr>
        <p:spPr>
          <a:xfrm>
            <a:off x="4092609" y="5861631"/>
            <a:ext cx="2202973" cy="359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Content for website and app in </a:t>
            </a:r>
            <a:r>
              <a:rPr lang="en-CA" sz="800" err="1">
                <a:solidFill>
                  <a:schemeClr val="accent6">
                    <a:lumMod val="65000"/>
                    <a:lumOff val="35000"/>
                  </a:schemeClr>
                </a:solidFill>
              </a:rPr>
              <a:t>eng</a:t>
            </a: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 and </a:t>
            </a:r>
            <a:r>
              <a:rPr lang="en-CA" sz="800" err="1">
                <a:solidFill>
                  <a:schemeClr val="accent6">
                    <a:lumMod val="65000"/>
                    <a:lumOff val="35000"/>
                  </a:schemeClr>
                </a:solidFill>
              </a:rPr>
              <a:t>fr</a:t>
            </a: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 including images 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4852ED58-E6A4-F309-B94E-5395D48777C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61392" y="5933283"/>
            <a:ext cx="194533" cy="134677"/>
          </a:xfrm>
          <a:prstGeom prst="rect">
            <a:avLst/>
          </a:prstGeom>
        </p:spPr>
      </p:pic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1F73BDE-07BA-7B42-AA67-474D6B1A6FA8}"/>
              </a:ext>
            </a:extLst>
          </p:cNvPr>
          <p:cNvCxnSpPr>
            <a:cxnSpLocks/>
          </p:cNvCxnSpPr>
          <p:nvPr/>
        </p:nvCxnSpPr>
        <p:spPr>
          <a:xfrm>
            <a:off x="10810437" y="3268859"/>
            <a:ext cx="0" cy="2370402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" name="Picture 159">
            <a:extLst>
              <a:ext uri="{FF2B5EF4-FFF2-40B4-BE49-F238E27FC236}">
                <a16:creationId xmlns:a16="http://schemas.microsoft.com/office/drawing/2014/main" id="{FA90E137-4E0A-4CEF-90B8-2B427D348D3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8888" y="4645455"/>
            <a:ext cx="194533" cy="175641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6028EFC1-B00E-1968-3FA0-5FEE684AFFA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97970" y="5715360"/>
            <a:ext cx="1483155" cy="364822"/>
          </a:xfrm>
          <a:prstGeom prst="rect">
            <a:avLst/>
          </a:prstGeom>
        </p:spPr>
      </p:pic>
      <p:sp>
        <p:nvSpPr>
          <p:cNvPr id="176" name="Rectangle 175">
            <a:extLst>
              <a:ext uri="{FF2B5EF4-FFF2-40B4-BE49-F238E27FC236}">
                <a16:creationId xmlns:a16="http://schemas.microsoft.com/office/drawing/2014/main" id="{7FEE4D4C-B8F6-CDE5-1404-98914E10E345}"/>
              </a:ext>
            </a:extLst>
          </p:cNvPr>
          <p:cNvSpPr/>
          <p:nvPr/>
        </p:nvSpPr>
        <p:spPr>
          <a:xfrm>
            <a:off x="7439147" y="4925347"/>
            <a:ext cx="1972605" cy="359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API integration to fetch data and content leveraging Agility content fetch API to display on digital properties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AF8723C-7176-59C8-5086-32212892B81A}"/>
              </a:ext>
            </a:extLst>
          </p:cNvPr>
          <p:cNvSpPr/>
          <p:nvPr/>
        </p:nvSpPr>
        <p:spPr>
          <a:xfrm>
            <a:off x="8579454" y="3607827"/>
            <a:ext cx="1972605" cy="359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API integration  with SFMC marketing cloud to trigger operational emails and SMS opt-in/opt-out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4ADF09-80DD-B059-29E6-0C55FE30730C}"/>
              </a:ext>
            </a:extLst>
          </p:cNvPr>
          <p:cNvSpPr/>
          <p:nvPr/>
        </p:nvSpPr>
        <p:spPr>
          <a:xfrm>
            <a:off x="9790095" y="4896430"/>
            <a:ext cx="1972605" cy="359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API integration  with BH to submit GC orders and receive fulfillment and shipment updates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46EF0-4FB5-4697-0FB4-9768DE09CDE9}"/>
              </a:ext>
            </a:extLst>
          </p:cNvPr>
          <p:cNvSpPr txBox="1"/>
          <p:nvPr/>
        </p:nvSpPr>
        <p:spPr>
          <a:xfrm>
            <a:off x="1118831" y="6416675"/>
            <a:ext cx="867126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/>
              <a:t>Notes: </a:t>
            </a:r>
            <a:r>
              <a:rPr lang="en-US" sz="1050"/>
              <a:t>Detailed data elements available in swagger and can be made available upon request, GA4 data resides in Google Analytics platform</a:t>
            </a:r>
          </a:p>
        </p:txBody>
      </p:sp>
    </p:spTree>
    <p:extLst>
      <p:ext uri="{BB962C8B-B14F-4D97-AF65-F5344CB8AC3E}">
        <p14:creationId xmlns:p14="http://schemas.microsoft.com/office/powerpoint/2010/main" val="103800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14999A21-E8F5-4786-83F1-5E70CB7F6071}"/>
              </a:ext>
            </a:extLst>
          </p:cNvPr>
          <p:cNvCxnSpPr>
            <a:cxnSpLocks/>
            <a:endCxn id="197" idx="3"/>
          </p:cNvCxnSpPr>
          <p:nvPr/>
        </p:nvCxnSpPr>
        <p:spPr>
          <a:xfrm flipH="1">
            <a:off x="4257050" y="2780423"/>
            <a:ext cx="21561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DDA77C-03BB-2202-6DAC-AD1FFC22D045}"/>
              </a:ext>
            </a:extLst>
          </p:cNvPr>
          <p:cNvCxnSpPr>
            <a:cxnSpLocks/>
          </p:cNvCxnSpPr>
          <p:nvPr/>
        </p:nvCxnSpPr>
        <p:spPr>
          <a:xfrm>
            <a:off x="2241614" y="1223257"/>
            <a:ext cx="7309577" cy="0"/>
          </a:xfrm>
          <a:prstGeom prst="straightConnector1">
            <a:avLst/>
          </a:prstGeom>
          <a:ln>
            <a:solidFill>
              <a:schemeClr val="accent6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92191C7-EF17-83BB-6316-E5478BE1C317}"/>
              </a:ext>
            </a:extLst>
          </p:cNvPr>
          <p:cNvGrpSpPr/>
          <p:nvPr/>
        </p:nvGrpSpPr>
        <p:grpSpPr>
          <a:xfrm>
            <a:off x="192642" y="602068"/>
            <a:ext cx="384939" cy="369332"/>
            <a:chOff x="1824966" y="592272"/>
            <a:chExt cx="684336" cy="656588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DC62FBA-DCCF-D2E5-491B-970EA77C9C8D}"/>
                </a:ext>
              </a:extLst>
            </p:cNvPr>
            <p:cNvSpPr/>
            <p:nvPr/>
          </p:nvSpPr>
          <p:spPr>
            <a:xfrm>
              <a:off x="2043953" y="774551"/>
              <a:ext cx="360000" cy="360000"/>
            </a:xfrm>
            <a:prstGeom prst="ellipse">
              <a:avLst/>
            </a:prstGeom>
            <a:solidFill>
              <a:schemeClr val="accent5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189"/>
              <a:endParaRPr lang="en-CA" sz="1013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7E6EBBE-67B4-FE1B-F33B-DCC59C2B88AC}"/>
                </a:ext>
              </a:extLst>
            </p:cNvPr>
            <p:cNvSpPr txBox="1"/>
            <p:nvPr/>
          </p:nvSpPr>
          <p:spPr>
            <a:xfrm>
              <a:off x="1824966" y="592272"/>
              <a:ext cx="684336" cy="6565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57189"/>
              <a:r>
                <a:rPr lang="en-US" b="1">
                  <a:solidFill>
                    <a:srgbClr val="CE009F"/>
                  </a:solidFill>
                  <a:latin typeface="Palatino Linotype" panose="02040502050505030304"/>
                </a:rPr>
                <a:t>2.</a:t>
              </a:r>
              <a:endParaRPr lang="en-CA" b="1">
                <a:solidFill>
                  <a:srgbClr val="CE009F"/>
                </a:solidFill>
                <a:latin typeface="Palatino Linotype" panose="02040502050505030304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BF339B6-4172-2F06-FFC7-FA13BD32F9E8}"/>
              </a:ext>
            </a:extLst>
          </p:cNvPr>
          <p:cNvSpPr txBox="1"/>
          <p:nvPr/>
        </p:nvSpPr>
        <p:spPr>
          <a:xfrm>
            <a:off x="0" y="-2248"/>
            <a:ext cx="12192000" cy="31575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Data Flow #2: </a:t>
            </a: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Loyalty Engine to </a:t>
            </a:r>
            <a:r>
              <a:rPr kumimoji="0" lang="en-CA" sz="18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Synapze</a:t>
            </a: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LX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498CB-B71D-74E2-FEC0-0CC4B705AA7C}"/>
              </a:ext>
            </a:extLst>
          </p:cNvPr>
          <p:cNvSpPr/>
          <p:nvPr/>
        </p:nvSpPr>
        <p:spPr>
          <a:xfrm>
            <a:off x="3023716" y="4404463"/>
            <a:ext cx="1946066" cy="957627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07B587-8757-46EB-CD6E-ED3E31A0F896}"/>
              </a:ext>
            </a:extLst>
          </p:cNvPr>
          <p:cNvSpPr/>
          <p:nvPr/>
        </p:nvSpPr>
        <p:spPr>
          <a:xfrm>
            <a:off x="4023617" y="4522882"/>
            <a:ext cx="803725" cy="74215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3608E4-6321-1AD8-8F04-A1DC2D12AE97}"/>
              </a:ext>
            </a:extLst>
          </p:cNvPr>
          <p:cNvSpPr/>
          <p:nvPr/>
        </p:nvSpPr>
        <p:spPr>
          <a:xfrm>
            <a:off x="4484902" y="2527374"/>
            <a:ext cx="663438" cy="626099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8450F3-AD13-8D66-85FC-B12DF221A224}"/>
              </a:ext>
            </a:extLst>
          </p:cNvPr>
          <p:cNvSpPr/>
          <p:nvPr/>
        </p:nvSpPr>
        <p:spPr>
          <a:xfrm>
            <a:off x="3151478" y="4503296"/>
            <a:ext cx="803725" cy="74215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CAED29-AEBB-6457-7DFE-8CC562779847}"/>
              </a:ext>
            </a:extLst>
          </p:cNvPr>
          <p:cNvSpPr/>
          <p:nvPr/>
        </p:nvSpPr>
        <p:spPr>
          <a:xfrm>
            <a:off x="490409" y="1019445"/>
            <a:ext cx="1751205" cy="353259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3FC637-2A23-1488-3D60-AEA987588586}"/>
              </a:ext>
            </a:extLst>
          </p:cNvPr>
          <p:cNvSpPr/>
          <p:nvPr/>
        </p:nvSpPr>
        <p:spPr>
          <a:xfrm>
            <a:off x="565169" y="1190581"/>
            <a:ext cx="1536957" cy="2215731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4" name="Picture 63" descr="Bond Synapze LX Platform">
            <a:extLst>
              <a:ext uri="{FF2B5EF4-FFF2-40B4-BE49-F238E27FC236}">
                <a16:creationId xmlns:a16="http://schemas.microsoft.com/office/drawing/2014/main" id="{39FD7658-7B4F-3EED-F786-9ACD10278C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9" b="37253"/>
          <a:stretch/>
        </p:blipFill>
        <p:spPr bwMode="auto">
          <a:xfrm>
            <a:off x="677099" y="1245099"/>
            <a:ext cx="1187147" cy="36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21A959A1-B75C-D5D1-1549-E4CC5C16DEBD}"/>
              </a:ext>
            </a:extLst>
          </p:cNvPr>
          <p:cNvSpPr txBox="1"/>
          <p:nvPr/>
        </p:nvSpPr>
        <p:spPr>
          <a:xfrm>
            <a:off x="684471" y="1671327"/>
            <a:ext cx="15159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 Point Calculation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POS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E-Commerce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Points Bank &amp; Liability Management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FCDE44F-5EE7-8F24-7AF0-D0B0656FF060}"/>
              </a:ext>
            </a:extLst>
          </p:cNvPr>
          <p:cNvSpPr/>
          <p:nvPr/>
        </p:nvSpPr>
        <p:spPr>
          <a:xfrm>
            <a:off x="591606" y="3484778"/>
            <a:ext cx="1536957" cy="875492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0C0B80F3-252C-FAB1-4C51-7B5E01C3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644" y="3506830"/>
            <a:ext cx="469771" cy="386870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1CE082E4-B14A-973A-9963-EAF472C08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012" y="3899385"/>
            <a:ext cx="399447" cy="374866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BA3A855-632C-2DE5-F702-1DBBABF04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3" y="3880237"/>
            <a:ext cx="399447" cy="393821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664BC2BA-6D88-3A32-841C-F618D6F05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20" y="3899592"/>
            <a:ext cx="467011" cy="386182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E69E6528-19AF-E8A7-2761-F385002856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228" y="3558470"/>
            <a:ext cx="350499" cy="284563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AE19A9D5-A785-1043-6873-0026D34175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589" y="3522166"/>
            <a:ext cx="440602" cy="386870"/>
          </a:xfrm>
          <a:prstGeom prst="rect">
            <a:avLst/>
          </a:prstGeom>
        </p:spPr>
      </p:pic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9B29DF7-315C-6CC4-E9ED-920084A42FB8}"/>
              </a:ext>
            </a:extLst>
          </p:cNvPr>
          <p:cNvCxnSpPr>
            <a:cxnSpLocks/>
            <a:stCxn id="162" idx="3"/>
          </p:cNvCxnSpPr>
          <p:nvPr/>
        </p:nvCxnSpPr>
        <p:spPr>
          <a:xfrm>
            <a:off x="5102601" y="1904290"/>
            <a:ext cx="4448590" cy="0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BBBF464-A07E-56CB-1166-3E27A2FB4027}"/>
              </a:ext>
            </a:extLst>
          </p:cNvPr>
          <p:cNvSpPr/>
          <p:nvPr/>
        </p:nvSpPr>
        <p:spPr>
          <a:xfrm>
            <a:off x="9554138" y="1094454"/>
            <a:ext cx="2266979" cy="210327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6A044B1-5FE2-D4F6-78F7-3ADFDEA2630D}"/>
              </a:ext>
            </a:extLst>
          </p:cNvPr>
          <p:cNvSpPr/>
          <p:nvPr/>
        </p:nvSpPr>
        <p:spPr>
          <a:xfrm>
            <a:off x="9661944" y="1190581"/>
            <a:ext cx="2087924" cy="1898848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EAEA4A1-1D0B-9624-F6BA-63C3EBF87163}"/>
              </a:ext>
            </a:extLst>
          </p:cNvPr>
          <p:cNvGrpSpPr/>
          <p:nvPr/>
        </p:nvGrpSpPr>
        <p:grpSpPr>
          <a:xfrm>
            <a:off x="9740260" y="1334667"/>
            <a:ext cx="1931291" cy="372099"/>
            <a:chOff x="4695666" y="3700702"/>
            <a:chExt cx="1946607" cy="520590"/>
          </a:xfrm>
        </p:grpSpPr>
        <p:pic>
          <p:nvPicPr>
            <p:cNvPr id="152" name="Picture 2" descr="Bond Synapze LX Platform">
              <a:extLst>
                <a:ext uri="{FF2B5EF4-FFF2-40B4-BE49-F238E27FC236}">
                  <a16:creationId xmlns:a16="http://schemas.microsoft.com/office/drawing/2014/main" id="{92EAE537-20A4-2906-7A81-E6BF321BD4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59" t="31695" r="-371" b="36659"/>
            <a:stretch/>
          </p:blipFill>
          <p:spPr bwMode="auto">
            <a:xfrm>
              <a:off x="6253104" y="3700702"/>
              <a:ext cx="389169" cy="520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08B1EB28-F401-11FA-3432-B333C345D9B1}"/>
                </a:ext>
              </a:extLst>
            </p:cNvPr>
            <p:cNvSpPr txBox="1"/>
            <p:nvPr/>
          </p:nvSpPr>
          <p:spPr>
            <a:xfrm>
              <a:off x="4695666" y="3730235"/>
              <a:ext cx="1701710" cy="430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Loyalty Engine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6C39599B-5913-6ADC-B921-72947A3606BA}"/>
              </a:ext>
            </a:extLst>
          </p:cNvPr>
          <p:cNvSpPr txBox="1"/>
          <p:nvPr/>
        </p:nvSpPr>
        <p:spPr>
          <a:xfrm>
            <a:off x="9896077" y="1693839"/>
            <a:ext cx="1901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Campaign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Base, Accelerated </a:t>
            </a:r>
            <a:r>
              <a:rPr lang="en-CA" sz="1200">
                <a:solidFill>
                  <a:prstClr val="black"/>
                </a:solidFill>
                <a:latin typeface="+mj-lt"/>
              </a:rPr>
              <a:t>&amp; 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Bonus Point Issuance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Manual Offer Prioritization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DA2D891-0E9C-BC5A-A58A-F655C09EE0F7}"/>
              </a:ext>
            </a:extLst>
          </p:cNvPr>
          <p:cNvSpPr/>
          <p:nvPr/>
        </p:nvSpPr>
        <p:spPr>
          <a:xfrm>
            <a:off x="4473311" y="1669432"/>
            <a:ext cx="629290" cy="46971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F06AB401-A752-49D1-7F92-F35238FE1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552" y="1720245"/>
            <a:ext cx="399447" cy="393821"/>
          </a:xfrm>
          <a:prstGeom prst="rect">
            <a:avLst/>
          </a:prstGeom>
        </p:spPr>
      </p:pic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AF1A4D8-34E3-A114-C260-369746118D4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241614" y="1904290"/>
            <a:ext cx="2231697" cy="0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Picture 170">
            <a:extLst>
              <a:ext uri="{FF2B5EF4-FFF2-40B4-BE49-F238E27FC236}">
                <a16:creationId xmlns:a16="http://schemas.microsoft.com/office/drawing/2014/main" id="{719C08B0-96C9-0C33-F9C5-1AC44B71AA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4916" y="4593715"/>
            <a:ext cx="414924" cy="408009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64942103-C20C-E3DD-CC1D-EB478866F1B8}"/>
              </a:ext>
            </a:extLst>
          </p:cNvPr>
          <p:cNvSpPr txBox="1"/>
          <p:nvPr/>
        </p:nvSpPr>
        <p:spPr>
          <a:xfrm>
            <a:off x="4162544" y="5006921"/>
            <a:ext cx="5542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MFT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B0CD0C6-F5F3-9126-A7CE-C0C4E27253AE}"/>
              </a:ext>
            </a:extLst>
          </p:cNvPr>
          <p:cNvCxnSpPr>
            <a:cxnSpLocks/>
          </p:cNvCxnSpPr>
          <p:nvPr/>
        </p:nvCxnSpPr>
        <p:spPr>
          <a:xfrm flipH="1">
            <a:off x="5160582" y="2727926"/>
            <a:ext cx="4390609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Picture 184">
            <a:extLst>
              <a:ext uri="{FF2B5EF4-FFF2-40B4-BE49-F238E27FC236}">
                <a16:creationId xmlns:a16="http://schemas.microsoft.com/office/drawing/2014/main" id="{E5433A66-B0B3-A49B-9599-6C96359204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820" y="2667268"/>
            <a:ext cx="636462" cy="530385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8D30D06F-7106-C9B4-A1C7-3A2FAA278B8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81835" y="4619404"/>
            <a:ext cx="699342" cy="509937"/>
          </a:xfrm>
          <a:prstGeom prst="rect">
            <a:avLst/>
          </a:prstGeom>
        </p:spPr>
      </p:pic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7B9AC327-E965-6003-EE5E-73ABD439C0D4}"/>
              </a:ext>
            </a:extLst>
          </p:cNvPr>
          <p:cNvCxnSpPr>
            <a:cxnSpLocks/>
            <a:stCxn id="197" idx="2"/>
            <a:endCxn id="4" idx="0"/>
          </p:cNvCxnSpPr>
          <p:nvPr/>
        </p:nvCxnSpPr>
        <p:spPr>
          <a:xfrm>
            <a:off x="3978418" y="3025580"/>
            <a:ext cx="18331" cy="137888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17918C74-7257-E55A-C98E-37ADC5ED98AB}"/>
              </a:ext>
            </a:extLst>
          </p:cNvPr>
          <p:cNvSpPr/>
          <p:nvPr/>
        </p:nvSpPr>
        <p:spPr>
          <a:xfrm>
            <a:off x="3997830" y="771204"/>
            <a:ext cx="2555833" cy="869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Campaign and member association data: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Mass and member targeted offers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 offer opt-in/opt-out</a:t>
            </a:r>
          </a:p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Transactional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Recipe earns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Empire redemptions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Home Hardware earn and redemptions (April)</a:t>
            </a:r>
          </a:p>
          <a:p>
            <a:endParaRPr lang="en-CA" sz="800">
              <a:solidFill>
                <a:schemeClr val="accent6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3CEC8D3B-2896-1A27-ECB6-307111BDF5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05364" y="1148622"/>
            <a:ext cx="215610" cy="149269"/>
          </a:xfrm>
          <a:prstGeom prst="rect">
            <a:avLst/>
          </a:prstGeom>
        </p:spPr>
      </p:pic>
      <p:sp>
        <p:nvSpPr>
          <p:cNvPr id="233" name="Rectangle 232">
            <a:extLst>
              <a:ext uri="{FF2B5EF4-FFF2-40B4-BE49-F238E27FC236}">
                <a16:creationId xmlns:a16="http://schemas.microsoft.com/office/drawing/2014/main" id="{E1C41B04-A89E-09D1-C436-2F05DD06E8B7}"/>
              </a:ext>
            </a:extLst>
          </p:cNvPr>
          <p:cNvSpPr/>
          <p:nvPr/>
        </p:nvSpPr>
        <p:spPr>
          <a:xfrm>
            <a:off x="6311094" y="1636705"/>
            <a:ext cx="1825153" cy="481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Transactional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Scotiabank earns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Cineplex earn and redemptions</a:t>
            </a:r>
          </a:p>
          <a:p>
            <a:endParaRPr lang="en-CA" sz="800">
              <a:solidFill>
                <a:schemeClr val="accent6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41" name="Table 5">
            <a:extLst>
              <a:ext uri="{FF2B5EF4-FFF2-40B4-BE49-F238E27FC236}">
                <a16:creationId xmlns:a16="http://schemas.microsoft.com/office/drawing/2014/main" id="{41965A94-E886-3352-56D3-C6289030E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07558"/>
              </p:ext>
            </p:extLst>
          </p:nvPr>
        </p:nvGraphicFramePr>
        <p:xfrm>
          <a:off x="7445589" y="2332124"/>
          <a:ext cx="1825154" cy="2841304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25154">
                  <a:extLst>
                    <a:ext uri="{9D8B030D-6E8A-4147-A177-3AD203B41FA5}">
                      <a16:colId xmlns:a16="http://schemas.microsoft.com/office/drawing/2014/main" val="2274255336"/>
                    </a:ext>
                  </a:extLst>
                </a:gridCol>
              </a:tblGrid>
              <a:tr h="163531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OfferIssuedEvent:</a:t>
                      </a:r>
                      <a:br>
                        <a:rPr lang="en-CA" sz="9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indicates that reward was issued. Contains metadata of a Campaign, Assignment details, Issuance details, Cancelation and Reward details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800" kern="1200">
                        <a:solidFill>
                          <a:schemeClr val="accent6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OfferOptedInEvent:</a:t>
                      </a:r>
                    </a:p>
                    <a:p>
                      <a:pPr marL="0" lvl="0" algn="l" defTabSz="914377" rtl="0" eaLnBrk="1" latinLnBrk="0" hangingPunct="1"/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indicates that member opted in/out from the eligible offer. Contains metadata of a Campaign Offer data, Opted In state, Opted In choice date.</a:t>
                      </a:r>
                    </a:p>
                    <a:p>
                      <a:pPr marL="0" lvl="0" algn="l" defTabSz="914377" rtl="0" eaLnBrk="1" latinLnBrk="0" hangingPunct="1"/>
                      <a:endParaRPr lang="en-CA" sz="800" kern="1200">
                        <a:solidFill>
                          <a:schemeClr val="accent6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OfferRedeemedEvent: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indicates that certain Voucher (Coupon) was used. Contains metadata of a Campaign, Offer data), Assignment details , Issuance Date, and Redemption details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800" kern="1200">
                        <a:solidFill>
                          <a:schemeClr val="accent6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651193"/>
                  </a:ext>
                </a:extLst>
              </a:tr>
              <a:tr h="1895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600" kern="1200">
                        <a:solidFill>
                          <a:schemeClr val="accent6">
                            <a:lumMod val="65000"/>
                            <a:lumOff val="35000"/>
                          </a:schemeClr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23968"/>
                  </a:ext>
                </a:extLst>
              </a:tr>
            </a:tbl>
          </a:graphicData>
        </a:graphic>
      </p:graphicFrame>
      <p:graphicFrame>
        <p:nvGraphicFramePr>
          <p:cNvPr id="242" name="Table 241">
            <a:extLst>
              <a:ext uri="{FF2B5EF4-FFF2-40B4-BE49-F238E27FC236}">
                <a16:creationId xmlns:a16="http://schemas.microsoft.com/office/drawing/2014/main" id="{983FC506-AB4D-F856-B75A-DBF202B2C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099385"/>
              </p:ext>
            </p:extLst>
          </p:nvPr>
        </p:nvGraphicFramePr>
        <p:xfrm>
          <a:off x="5494147" y="2254919"/>
          <a:ext cx="2010959" cy="284832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010959">
                  <a:extLst>
                    <a:ext uri="{9D8B030D-6E8A-4147-A177-3AD203B41FA5}">
                      <a16:colId xmlns:a16="http://schemas.microsoft.com/office/drawing/2014/main" val="2798807659"/>
                    </a:ext>
                  </a:extLst>
                </a:gridCol>
              </a:tblGrid>
              <a:tr h="366853">
                <a:tc>
                  <a:txBody>
                    <a:bodyPr/>
                    <a:lstStyle/>
                    <a:p>
                      <a:pPr algn="l"/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CampaignApprovedEvent:</a:t>
                      </a:r>
                      <a:br>
                        <a:rPr lang="en-CA" sz="10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j-lt"/>
                        </a:rPr>
                      </a:br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Event indicates that Campaign was Approved. Contains metadata of campaign, whether it's global and/or refreshable, Start/End date as well as information about selected audience and associated offers.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191532"/>
                  </a:ext>
                </a:extLst>
              </a:tr>
              <a:tr h="300152">
                <a:tc>
                  <a:txBody>
                    <a:bodyPr/>
                    <a:lstStyle/>
                    <a:p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CampaignStatusChangedEvent:</a:t>
                      </a:r>
                    </a:p>
                    <a:p>
                      <a:pPr marL="0" algn="l" defTabSz="914377" rtl="0" eaLnBrk="1" latinLnBrk="0" hangingPunct="1"/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indicates that status of Campaign changed. Contains information about Campaign Status and Campaign Approval status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2734"/>
                  </a:ext>
                </a:extLst>
              </a:tr>
              <a:tr h="433553">
                <a:tc>
                  <a:txBody>
                    <a:bodyPr/>
                    <a:lstStyle/>
                    <a:p>
                      <a:pPr marL="0" lvl="0" algn="l" defTabSz="914377" rtl="0" eaLnBrk="1" latinLnBrk="0" hangingPunct="1"/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OfferAssignedEvent:</a:t>
                      </a:r>
                    </a:p>
                    <a:p>
                      <a:pPr marL="0" lvl="0" algn="l" defTabSz="914377" rtl="0" eaLnBrk="1" latinLnBrk="0" hangingPunct="1"/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indicates that certain member is eligible for an offer. Contains metadata of a Campaign and Assignment details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164642"/>
                  </a:ext>
                </a:extLst>
              </a:tr>
              <a:tr h="433553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b="1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OfferIssuanceExpiredEvent: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800" kern="1200">
                          <a:solidFill>
                            <a:schemeClr val="accent6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indicates that the issuance expired. Contains metadata of a Campaign, Assignment detail, Issuance details, and Coupon details</a:t>
                      </a:r>
                    </a:p>
                  </a:txBody>
                  <a:tcPr marL="36000" marR="36000" marT="36000" marB="36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17217"/>
                  </a:ext>
                </a:extLst>
              </a:tr>
            </a:tbl>
          </a:graphicData>
        </a:graphic>
      </p:graphicFrame>
      <p:pic>
        <p:nvPicPr>
          <p:cNvPr id="244" name="Picture 243">
            <a:extLst>
              <a:ext uri="{FF2B5EF4-FFF2-40B4-BE49-F238E27FC236}">
                <a16:creationId xmlns:a16="http://schemas.microsoft.com/office/drawing/2014/main" id="{4224FDDD-74AB-62AE-344A-56DD09A22F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2938" y="2653291"/>
            <a:ext cx="215610" cy="149269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BF6F3B58-CBDD-5270-11DB-71453044DDE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9786" y="2535265"/>
            <a:ext cx="557264" cy="490315"/>
          </a:xfrm>
          <a:prstGeom prst="rect">
            <a:avLst/>
          </a:prstGeom>
        </p:spPr>
      </p:pic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D7ECEB5B-A4C1-7FB9-579F-51FA19494344}"/>
              </a:ext>
            </a:extLst>
          </p:cNvPr>
          <p:cNvCxnSpPr>
            <a:cxnSpLocks/>
            <a:stCxn id="197" idx="1"/>
            <a:endCxn id="24" idx="3"/>
          </p:cNvCxnSpPr>
          <p:nvPr/>
        </p:nvCxnSpPr>
        <p:spPr>
          <a:xfrm flipH="1">
            <a:off x="2241614" y="2780423"/>
            <a:ext cx="1458172" cy="531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ectangle 277">
            <a:extLst>
              <a:ext uri="{FF2B5EF4-FFF2-40B4-BE49-F238E27FC236}">
                <a16:creationId xmlns:a16="http://schemas.microsoft.com/office/drawing/2014/main" id="{752739CC-04CF-EE79-1349-8B0E9FCACE82}"/>
              </a:ext>
            </a:extLst>
          </p:cNvPr>
          <p:cNvSpPr/>
          <p:nvPr/>
        </p:nvSpPr>
        <p:spPr>
          <a:xfrm>
            <a:off x="2496285" y="2362054"/>
            <a:ext cx="948830" cy="921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Offer issuance event is leveraged to issue points for batch campaigns</a:t>
            </a:r>
          </a:p>
        </p:txBody>
      </p:sp>
      <p:pic>
        <p:nvPicPr>
          <p:cNvPr id="283" name="Picture 282">
            <a:extLst>
              <a:ext uri="{FF2B5EF4-FFF2-40B4-BE49-F238E27FC236}">
                <a16:creationId xmlns:a16="http://schemas.microsoft.com/office/drawing/2014/main" id="{5D7838C7-DB47-E931-F375-43B205AA51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6889" y="2712263"/>
            <a:ext cx="215610" cy="149269"/>
          </a:xfrm>
          <a:prstGeom prst="rect">
            <a:avLst/>
          </a:prstGeom>
        </p:spPr>
      </p:pic>
      <p:sp>
        <p:nvSpPr>
          <p:cNvPr id="292" name="Rectangle 291">
            <a:extLst>
              <a:ext uri="{FF2B5EF4-FFF2-40B4-BE49-F238E27FC236}">
                <a16:creationId xmlns:a16="http://schemas.microsoft.com/office/drawing/2014/main" id="{1CDA281B-047C-3FE2-C1F3-A723E88BD00F}"/>
              </a:ext>
            </a:extLst>
          </p:cNvPr>
          <p:cNvSpPr/>
          <p:nvPr/>
        </p:nvSpPr>
        <p:spPr>
          <a:xfrm>
            <a:off x="2978384" y="3777421"/>
            <a:ext cx="2216564" cy="343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Campaign and offer events are transformed for the purpose of partner streaming</a:t>
            </a:r>
          </a:p>
        </p:txBody>
      </p:sp>
      <p:pic>
        <p:nvPicPr>
          <p:cNvPr id="293" name="Picture 292">
            <a:extLst>
              <a:ext uri="{FF2B5EF4-FFF2-40B4-BE49-F238E27FC236}">
                <a16:creationId xmlns:a16="http://schemas.microsoft.com/office/drawing/2014/main" id="{60C60FDE-4A70-9C2E-7A41-8A20BC67A1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1440" y="3594725"/>
            <a:ext cx="215610" cy="149269"/>
          </a:xfrm>
          <a:prstGeom prst="rect">
            <a:avLst/>
          </a:prstGeom>
        </p:spPr>
      </p:pic>
      <p:sp>
        <p:nvSpPr>
          <p:cNvPr id="294" name="Rectangle 293">
            <a:extLst>
              <a:ext uri="{FF2B5EF4-FFF2-40B4-BE49-F238E27FC236}">
                <a16:creationId xmlns:a16="http://schemas.microsoft.com/office/drawing/2014/main" id="{68F6DBC1-CBD3-2927-9F48-C107025138E7}"/>
              </a:ext>
            </a:extLst>
          </p:cNvPr>
          <p:cNvSpPr/>
          <p:nvPr/>
        </p:nvSpPr>
        <p:spPr>
          <a:xfrm>
            <a:off x="315821" y="5470570"/>
            <a:ext cx="11340000" cy="837891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000" b="1">
              <a:solidFill>
                <a:schemeClr val="accent6"/>
              </a:solidFill>
            </a:endParaRPr>
          </a:p>
          <a:p>
            <a:r>
              <a:rPr lang="en-CA" sz="1000" b="1">
                <a:solidFill>
                  <a:schemeClr val="accent6"/>
                </a:solidFill>
              </a:rPr>
              <a:t>Data Integration Exclusions: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accent6"/>
                </a:solidFill>
              </a:rPr>
              <a:t>Transactional data from Synapze to 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accent6"/>
                </a:solidFill>
              </a:rPr>
              <a:t>Recipe redemptions, Empire issuance, Rakuten issuance and all order redemptions (BYOT, PFC, Gift Cards, Expedia, Apple and Best Buy)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accent6"/>
                </a:solidFill>
              </a:rPr>
              <a:t>Omni-channel integration </a:t>
            </a:r>
            <a:r>
              <a:rPr lang="en-CA" sz="1000">
                <a:solidFill>
                  <a:schemeClr val="tx1"/>
                </a:solidFill>
              </a:rPr>
              <a:t>from LE to Synapze LX (deferred from MVP scope)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tx1"/>
                </a:solidFill>
              </a:rPr>
              <a:t>Events triggering communication (emails/SMS) to members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1000">
              <a:solidFill>
                <a:schemeClr val="accent6"/>
              </a:solidFill>
            </a:endParaRPr>
          </a:p>
        </p:txBody>
      </p:sp>
      <p:pic>
        <p:nvPicPr>
          <p:cNvPr id="295" name="Picture 294">
            <a:extLst>
              <a:ext uri="{FF2B5EF4-FFF2-40B4-BE49-F238E27FC236}">
                <a16:creationId xmlns:a16="http://schemas.microsoft.com/office/drawing/2014/main" id="{DF6E045C-3E16-01C3-91A8-816937829C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2866" y="1829836"/>
            <a:ext cx="215610" cy="1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0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F339B6-4172-2F06-FFC7-FA13BD32F9E8}"/>
              </a:ext>
            </a:extLst>
          </p:cNvPr>
          <p:cNvSpPr txBox="1"/>
          <p:nvPr/>
        </p:nvSpPr>
        <p:spPr>
          <a:xfrm>
            <a:off x="0" y="-2248"/>
            <a:ext cx="12192000" cy="31575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Data Flow #3: </a:t>
            </a: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Synapze LX to Data Lake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38727-80F9-C5ED-C7B2-02166EDF43E2}"/>
              </a:ext>
            </a:extLst>
          </p:cNvPr>
          <p:cNvSpPr/>
          <p:nvPr/>
        </p:nvSpPr>
        <p:spPr>
          <a:xfrm>
            <a:off x="237552" y="4860490"/>
            <a:ext cx="2343145" cy="1058965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00" b="1">
                <a:solidFill>
                  <a:schemeClr val="accent6"/>
                </a:solidFill>
              </a:rPr>
              <a:t>1. Exclusions Core to Raw: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accent6"/>
                </a:solidFill>
              </a:rPr>
              <a:t>Data elements from transformed LE events (e.g. campaign status, mass offer assignment)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accent6"/>
                </a:solidFill>
              </a:rPr>
              <a:t>Email request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BF8FE-2D8D-5B58-6471-FBA6D2B99F7A}"/>
              </a:ext>
            </a:extLst>
          </p:cNvPr>
          <p:cNvSpPr/>
          <p:nvPr/>
        </p:nvSpPr>
        <p:spPr>
          <a:xfrm>
            <a:off x="4166294" y="1381488"/>
            <a:ext cx="1053129" cy="2581345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C28F48-1D56-11DC-5EF9-DE8E0D77DD31}"/>
              </a:ext>
            </a:extLst>
          </p:cNvPr>
          <p:cNvSpPr/>
          <p:nvPr/>
        </p:nvSpPr>
        <p:spPr>
          <a:xfrm>
            <a:off x="4293205" y="3090328"/>
            <a:ext cx="803725" cy="74215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7111D-EA74-8A34-008B-D75B045A2AC5}"/>
              </a:ext>
            </a:extLst>
          </p:cNvPr>
          <p:cNvSpPr/>
          <p:nvPr/>
        </p:nvSpPr>
        <p:spPr>
          <a:xfrm>
            <a:off x="8287805" y="447432"/>
            <a:ext cx="3732744" cy="5005547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5E1E52-97B0-5605-E346-329E2BAAD1E0}"/>
              </a:ext>
            </a:extLst>
          </p:cNvPr>
          <p:cNvSpPr/>
          <p:nvPr/>
        </p:nvSpPr>
        <p:spPr>
          <a:xfrm>
            <a:off x="4293205" y="1489522"/>
            <a:ext cx="803725" cy="742155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ABED9E-3F56-A270-ACB2-E10A603573E2}"/>
              </a:ext>
            </a:extLst>
          </p:cNvPr>
          <p:cNvSpPr/>
          <p:nvPr/>
        </p:nvSpPr>
        <p:spPr>
          <a:xfrm>
            <a:off x="259642" y="996073"/>
            <a:ext cx="1751205" cy="353259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291D9F9-3F42-0E4B-D3DF-7F62EDC93DEE}"/>
              </a:ext>
            </a:extLst>
          </p:cNvPr>
          <p:cNvSpPr/>
          <p:nvPr/>
        </p:nvSpPr>
        <p:spPr>
          <a:xfrm>
            <a:off x="334402" y="1167209"/>
            <a:ext cx="1536957" cy="2215731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6" name="Picture 65" descr="Bond Synapze LX Platform">
            <a:extLst>
              <a:ext uri="{FF2B5EF4-FFF2-40B4-BE49-F238E27FC236}">
                <a16:creationId xmlns:a16="http://schemas.microsoft.com/office/drawing/2014/main" id="{17388BA1-CF8D-A83F-A612-99DE940F14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09" b="37253"/>
          <a:stretch/>
        </p:blipFill>
        <p:spPr bwMode="auto">
          <a:xfrm>
            <a:off x="446332" y="1221727"/>
            <a:ext cx="1187147" cy="36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D230B271-7F21-94B0-A36A-DBF736FC6429}"/>
              </a:ext>
            </a:extLst>
          </p:cNvPr>
          <p:cNvSpPr txBox="1"/>
          <p:nvPr/>
        </p:nvSpPr>
        <p:spPr>
          <a:xfrm>
            <a:off x="453704" y="1647955"/>
            <a:ext cx="15159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 Point Calculation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POS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E-Commerce Redemption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Points Bank &amp; Liability Management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095D9DA-FE3C-9A03-3753-23CA82A8464F}"/>
              </a:ext>
            </a:extLst>
          </p:cNvPr>
          <p:cNvSpPr/>
          <p:nvPr/>
        </p:nvSpPr>
        <p:spPr>
          <a:xfrm>
            <a:off x="360839" y="3461406"/>
            <a:ext cx="1536957" cy="875492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DA78795E-EA31-88F1-23F5-70F3C081D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877" y="3483458"/>
            <a:ext cx="469771" cy="38687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0CC856CC-33D6-3D2D-7E0C-7009A15CE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45" y="3876013"/>
            <a:ext cx="399447" cy="374866"/>
          </a:xfrm>
          <a:prstGeom prst="rect">
            <a:avLst/>
          </a:prstGeom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EAC5D256-8356-7D9C-56C0-1F21C49FA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76" y="3856865"/>
            <a:ext cx="399447" cy="39382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092B1D0C-1301-FA97-0DBD-01B2AC6AD5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53" y="3876220"/>
            <a:ext cx="467011" cy="386182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AA8F63D8-75A7-C086-5D4C-C180517B65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461" y="3535098"/>
            <a:ext cx="350499" cy="284563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166501BC-F6A6-2E77-E5C7-0C3C1D7F31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822" y="3498794"/>
            <a:ext cx="440602" cy="386870"/>
          </a:xfrm>
          <a:prstGeom prst="rect">
            <a:avLst/>
          </a:prstGeom>
        </p:spPr>
      </p:pic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DC6E2C1-007F-5CC6-87B9-DE1270F95EE6}"/>
              </a:ext>
            </a:extLst>
          </p:cNvPr>
          <p:cNvCxnSpPr>
            <a:cxnSpLocks/>
          </p:cNvCxnSpPr>
          <p:nvPr/>
        </p:nvCxnSpPr>
        <p:spPr>
          <a:xfrm>
            <a:off x="1980716" y="2295257"/>
            <a:ext cx="2175896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674C4825-996D-B748-D241-3D3EF51E71AD}"/>
              </a:ext>
            </a:extLst>
          </p:cNvPr>
          <p:cNvCxnSpPr>
            <a:cxnSpLocks/>
          </p:cNvCxnSpPr>
          <p:nvPr/>
        </p:nvCxnSpPr>
        <p:spPr>
          <a:xfrm>
            <a:off x="5235288" y="2045156"/>
            <a:ext cx="307081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2" name="Picture 161">
            <a:extLst>
              <a:ext uri="{FF2B5EF4-FFF2-40B4-BE49-F238E27FC236}">
                <a16:creationId xmlns:a16="http://schemas.microsoft.com/office/drawing/2014/main" id="{76974A78-E59F-7AD3-434F-BD02CB50A9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5836" y="1675901"/>
            <a:ext cx="497280" cy="548723"/>
          </a:xfrm>
          <a:prstGeom prst="rect">
            <a:avLst/>
          </a:prstGeom>
        </p:spPr>
      </p:pic>
      <p:pic>
        <p:nvPicPr>
          <p:cNvPr id="163" name="Picture 162">
            <a:extLst>
              <a:ext uri="{FF2B5EF4-FFF2-40B4-BE49-F238E27FC236}">
                <a16:creationId xmlns:a16="http://schemas.microsoft.com/office/drawing/2014/main" id="{90885A04-FDCC-BC46-E701-C87CC24432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36176" y="2617255"/>
            <a:ext cx="497280" cy="548723"/>
          </a:xfrm>
          <a:prstGeom prst="rect">
            <a:avLst/>
          </a:prstGeom>
        </p:spPr>
      </p:pic>
      <p:pic>
        <p:nvPicPr>
          <p:cNvPr id="164" name="Picture 163">
            <a:extLst>
              <a:ext uri="{FF2B5EF4-FFF2-40B4-BE49-F238E27FC236}">
                <a16:creationId xmlns:a16="http://schemas.microsoft.com/office/drawing/2014/main" id="{12BF443C-6D43-9236-FAC7-6C4F328C62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7366" y="3473992"/>
            <a:ext cx="497280" cy="548723"/>
          </a:xfrm>
          <a:prstGeom prst="rect">
            <a:avLst/>
          </a:prstGeom>
        </p:spPr>
      </p:pic>
      <p:pic>
        <p:nvPicPr>
          <p:cNvPr id="167" name="Picture 166" descr="A close up of a logo&#10;&#10;Description automatically generated">
            <a:extLst>
              <a:ext uri="{FF2B5EF4-FFF2-40B4-BE49-F238E27FC236}">
                <a16:creationId xmlns:a16="http://schemas.microsoft.com/office/drawing/2014/main" id="{37B68C93-FEC8-E76A-002A-B30542E611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9806" y="5642925"/>
            <a:ext cx="987974" cy="421896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FCE1FC2C-1FA6-C567-2564-E3E3DD780EB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1387" y="5588856"/>
            <a:ext cx="497103" cy="571382"/>
          </a:xfrm>
          <a:prstGeom prst="rect">
            <a:avLst/>
          </a:prstGeom>
        </p:spPr>
      </p:pic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06A75AA-EF5E-1700-4527-EEE54AE40333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9168490" y="5874547"/>
            <a:ext cx="584494" cy="1032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1" name="Picture 170">
            <a:extLst>
              <a:ext uri="{FF2B5EF4-FFF2-40B4-BE49-F238E27FC236}">
                <a16:creationId xmlns:a16="http://schemas.microsoft.com/office/drawing/2014/main" id="{5F4BDA4B-8F67-CF97-5272-4DF15BDB1A0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4504" y="3161161"/>
            <a:ext cx="414924" cy="408009"/>
          </a:xfrm>
          <a:prstGeom prst="rect">
            <a:avLst/>
          </a:prstGeom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FB9C545C-911C-2FAB-2896-2BF3FD6FEE19}"/>
              </a:ext>
            </a:extLst>
          </p:cNvPr>
          <p:cNvSpPr txBox="1"/>
          <p:nvPr/>
        </p:nvSpPr>
        <p:spPr>
          <a:xfrm>
            <a:off x="4432132" y="3574367"/>
            <a:ext cx="5542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MFT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D139D5A5-EC8A-11DA-225D-26D6EA946BF3}"/>
              </a:ext>
            </a:extLst>
          </p:cNvPr>
          <p:cNvCxnSpPr>
            <a:cxnSpLocks/>
            <a:stCxn id="262" idx="2"/>
            <a:endCxn id="162" idx="0"/>
          </p:cNvCxnSpPr>
          <p:nvPr/>
        </p:nvCxnSpPr>
        <p:spPr>
          <a:xfrm flipH="1">
            <a:off x="8874476" y="1444250"/>
            <a:ext cx="2560" cy="23165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646905B-79BD-9792-0994-125AB7C274F3}"/>
              </a:ext>
            </a:extLst>
          </p:cNvPr>
          <p:cNvCxnSpPr>
            <a:cxnSpLocks/>
            <a:stCxn id="162" idx="2"/>
            <a:endCxn id="163" idx="0"/>
          </p:cNvCxnSpPr>
          <p:nvPr/>
        </p:nvCxnSpPr>
        <p:spPr>
          <a:xfrm>
            <a:off x="8874476" y="2224624"/>
            <a:ext cx="10340" cy="39263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EA04F0F3-D171-6093-B8C6-E910128F6272}"/>
              </a:ext>
            </a:extLst>
          </p:cNvPr>
          <p:cNvCxnSpPr>
            <a:cxnSpLocks/>
          </p:cNvCxnSpPr>
          <p:nvPr/>
        </p:nvCxnSpPr>
        <p:spPr>
          <a:xfrm flipH="1">
            <a:off x="8871685" y="3161161"/>
            <a:ext cx="2791" cy="30681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5" name="Picture 194">
            <a:extLst>
              <a:ext uri="{FF2B5EF4-FFF2-40B4-BE49-F238E27FC236}">
                <a16:creationId xmlns:a16="http://schemas.microsoft.com/office/drawing/2014/main" id="{C117324C-A253-D700-01D1-79EC24527E4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0311" y="1672294"/>
            <a:ext cx="699342" cy="509937"/>
          </a:xfrm>
          <a:prstGeom prst="rect">
            <a:avLst/>
          </a:prstGeom>
        </p:spPr>
      </p:pic>
      <p:sp>
        <p:nvSpPr>
          <p:cNvPr id="242" name="Rectangle 241">
            <a:extLst>
              <a:ext uri="{FF2B5EF4-FFF2-40B4-BE49-F238E27FC236}">
                <a16:creationId xmlns:a16="http://schemas.microsoft.com/office/drawing/2014/main" id="{E3863ACE-4412-5639-8AE8-02F61DD6ADBD}"/>
              </a:ext>
            </a:extLst>
          </p:cNvPr>
          <p:cNvSpPr/>
          <p:nvPr/>
        </p:nvSpPr>
        <p:spPr>
          <a:xfrm>
            <a:off x="5463642" y="923280"/>
            <a:ext cx="2538674" cy="21255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Members demographic data and profile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Scene+ account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scene cards, their status and GK cards with attributes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BNS member profile data and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BNS accounts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data for partners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look-up tables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Partner affiliation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Communication preferences for members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Azure B2C logs (login, password resets, profile updates)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LE transformed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 activities log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API 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partner earn and redemptions transactions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partners earn and redemption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order redemptions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account and portfolio point balances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FAA303B-1646-A06E-2CED-D54D2A95E25C}"/>
              </a:ext>
            </a:extLst>
          </p:cNvPr>
          <p:cNvSpPr/>
          <p:nvPr/>
        </p:nvSpPr>
        <p:spPr>
          <a:xfrm>
            <a:off x="2135737" y="1906061"/>
            <a:ext cx="1224665" cy="7988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SQL events through CDC streaming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Cosmos events through cosmos streaming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Azure B2C 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LE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CSM events</a:t>
            </a:r>
          </a:p>
        </p:txBody>
      </p:sp>
      <p:pic>
        <p:nvPicPr>
          <p:cNvPr id="197" name="Picture 196">
            <a:extLst>
              <a:ext uri="{FF2B5EF4-FFF2-40B4-BE49-F238E27FC236}">
                <a16:creationId xmlns:a16="http://schemas.microsoft.com/office/drawing/2014/main" id="{AFA3B7DC-FE28-BC19-2990-2075AF19230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40787" y="2217963"/>
            <a:ext cx="246799" cy="170861"/>
          </a:xfrm>
          <a:prstGeom prst="rect">
            <a:avLst/>
          </a:prstGeom>
        </p:spPr>
      </p:pic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333E4C54-5A50-EA05-9E70-43B2693DE09C}"/>
              </a:ext>
            </a:extLst>
          </p:cNvPr>
          <p:cNvCxnSpPr>
            <a:cxnSpLocks/>
          </p:cNvCxnSpPr>
          <p:nvPr/>
        </p:nvCxnSpPr>
        <p:spPr>
          <a:xfrm flipV="1">
            <a:off x="5235288" y="3595988"/>
            <a:ext cx="3070811" cy="1256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15A2BD6-79C3-8379-94D5-9EE1F0F192B8}"/>
              </a:ext>
            </a:extLst>
          </p:cNvPr>
          <p:cNvSpPr/>
          <p:nvPr/>
        </p:nvSpPr>
        <p:spPr>
          <a:xfrm>
            <a:off x="5665667" y="3434070"/>
            <a:ext cx="1907419" cy="348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SFMC Files daily load from WTD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file for Empire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Empire </a:t>
            </a:r>
            <a:r>
              <a:rPr lang="en-CA" sz="800" err="1">
                <a:solidFill>
                  <a:schemeClr val="accent6">
                    <a:lumMod val="65000"/>
                    <a:lumOff val="35000"/>
                  </a:schemeClr>
                </a:solidFill>
              </a:rPr>
              <a:t>Tlogs</a:t>
            </a:r>
            <a:endParaRPr lang="en-CA" sz="800">
              <a:solidFill>
                <a:schemeClr val="accent6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5383B75-9C96-66BF-CA1C-60CAD7FCD5E3}"/>
              </a:ext>
            </a:extLst>
          </p:cNvPr>
          <p:cNvSpPr txBox="1"/>
          <p:nvPr/>
        </p:nvSpPr>
        <p:spPr>
          <a:xfrm>
            <a:off x="4166293" y="2460730"/>
            <a:ext cx="1053130" cy="43088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100" b="0" i="0" u="none" strike="noStrike" kern="1200" cap="all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Streaming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241D704-3F36-7B78-BDF9-896410BAF0F0}"/>
              </a:ext>
            </a:extLst>
          </p:cNvPr>
          <p:cNvSpPr txBox="1"/>
          <p:nvPr/>
        </p:nvSpPr>
        <p:spPr>
          <a:xfrm>
            <a:off x="8327868" y="471741"/>
            <a:ext cx="1448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Data Lake</a:t>
            </a:r>
          </a:p>
        </p:txBody>
      </p:sp>
      <p:pic>
        <p:nvPicPr>
          <p:cNvPr id="262" name="Picture 261">
            <a:extLst>
              <a:ext uri="{FF2B5EF4-FFF2-40B4-BE49-F238E27FC236}">
                <a16:creationId xmlns:a16="http://schemas.microsoft.com/office/drawing/2014/main" id="{8EA6BD96-B770-EB97-6991-3D3ACA59B43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75650" y="789515"/>
            <a:ext cx="602772" cy="654735"/>
          </a:xfrm>
          <a:prstGeom prst="rect">
            <a:avLst/>
          </a:prstGeom>
        </p:spPr>
      </p:pic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D58AC5F8-5E5E-9125-357E-E7FDB6966171}"/>
              </a:ext>
            </a:extLst>
          </p:cNvPr>
          <p:cNvCxnSpPr>
            <a:cxnSpLocks/>
            <a:stCxn id="164" idx="2"/>
          </p:cNvCxnSpPr>
          <p:nvPr/>
        </p:nvCxnSpPr>
        <p:spPr>
          <a:xfrm>
            <a:off x="8886006" y="4022715"/>
            <a:ext cx="6259" cy="29036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3" name="Picture 272">
            <a:extLst>
              <a:ext uri="{FF2B5EF4-FFF2-40B4-BE49-F238E27FC236}">
                <a16:creationId xmlns:a16="http://schemas.microsoft.com/office/drawing/2014/main" id="{DCE876CE-0C70-8B28-6151-7F359734A4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78915" y="1959725"/>
            <a:ext cx="246799" cy="170861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102BC6C8-73A4-E25E-12AA-8ABB320FDA4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98946" y="3466470"/>
            <a:ext cx="185857" cy="247811"/>
          </a:xfrm>
          <a:prstGeom prst="rect">
            <a:avLst/>
          </a:prstGeom>
        </p:spPr>
      </p:pic>
      <p:sp>
        <p:nvSpPr>
          <p:cNvPr id="278" name="Rectangle 277">
            <a:extLst>
              <a:ext uri="{FF2B5EF4-FFF2-40B4-BE49-F238E27FC236}">
                <a16:creationId xmlns:a16="http://schemas.microsoft.com/office/drawing/2014/main" id="{2C75E03C-AE3B-8D99-3384-959851660368}"/>
              </a:ext>
            </a:extLst>
          </p:cNvPr>
          <p:cNvSpPr/>
          <p:nvPr/>
        </p:nvSpPr>
        <p:spPr>
          <a:xfrm>
            <a:off x="9275712" y="1362793"/>
            <a:ext cx="2692513" cy="1253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Scene+ account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Partner affiliation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Communication preferences for members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LE transformed events. All partner earn and redemptions transactions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partners earn and redemption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order redemptions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account and portfolio point balances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SFMC Files daily load from WTD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file for Empire</a:t>
            </a:r>
          </a:p>
        </p:txBody>
      </p:sp>
      <p:pic>
        <p:nvPicPr>
          <p:cNvPr id="280" name="Picture 279">
            <a:extLst>
              <a:ext uri="{FF2B5EF4-FFF2-40B4-BE49-F238E27FC236}">
                <a16:creationId xmlns:a16="http://schemas.microsoft.com/office/drawing/2014/main" id="{61307A39-3A7E-C9B1-E134-D1A24E707A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50737" y="4313079"/>
            <a:ext cx="552450" cy="628650"/>
          </a:xfrm>
          <a:prstGeom prst="rect">
            <a:avLst/>
          </a:prstGeom>
        </p:spPr>
      </p:pic>
      <p:sp>
        <p:nvSpPr>
          <p:cNvPr id="283" name="Rectangle 282">
            <a:extLst>
              <a:ext uri="{FF2B5EF4-FFF2-40B4-BE49-F238E27FC236}">
                <a16:creationId xmlns:a16="http://schemas.microsoft.com/office/drawing/2014/main" id="{B452F0B4-7000-0F19-8B98-747B72A306B5}"/>
              </a:ext>
            </a:extLst>
          </p:cNvPr>
          <p:cNvSpPr/>
          <p:nvPr/>
        </p:nvSpPr>
        <p:spPr>
          <a:xfrm>
            <a:off x="9203188" y="3463267"/>
            <a:ext cx="2588200" cy="382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Members demographic data and profile updates</a:t>
            </a:r>
          </a:p>
        </p:txBody>
      </p: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06096DEC-355C-E458-9960-BB89BA19A933}"/>
              </a:ext>
            </a:extLst>
          </p:cNvPr>
          <p:cNvCxnSpPr>
            <a:cxnSpLocks/>
          </p:cNvCxnSpPr>
          <p:nvPr/>
        </p:nvCxnSpPr>
        <p:spPr>
          <a:xfrm>
            <a:off x="8650737" y="5465423"/>
            <a:ext cx="0" cy="2128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" name="Picture 295">
            <a:extLst>
              <a:ext uri="{FF2B5EF4-FFF2-40B4-BE49-F238E27FC236}">
                <a16:creationId xmlns:a16="http://schemas.microsoft.com/office/drawing/2014/main" id="{BB824E38-7F6D-C1E2-68BA-A49AC6CB2E1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85612" y="1444426"/>
            <a:ext cx="157881" cy="210510"/>
          </a:xfrm>
          <a:prstGeom prst="rect">
            <a:avLst/>
          </a:prstGeom>
        </p:spPr>
      </p:pic>
      <p:pic>
        <p:nvPicPr>
          <p:cNvPr id="297" name="Picture 296">
            <a:extLst>
              <a:ext uri="{FF2B5EF4-FFF2-40B4-BE49-F238E27FC236}">
                <a16:creationId xmlns:a16="http://schemas.microsoft.com/office/drawing/2014/main" id="{765A0A8E-B177-0F37-5652-82DC9A7BE2E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75575" y="2262864"/>
            <a:ext cx="157881" cy="210510"/>
          </a:xfrm>
          <a:prstGeom prst="rect">
            <a:avLst/>
          </a:prstGeom>
        </p:spPr>
      </p:pic>
      <p:pic>
        <p:nvPicPr>
          <p:cNvPr id="298" name="Picture 297">
            <a:extLst>
              <a:ext uri="{FF2B5EF4-FFF2-40B4-BE49-F238E27FC236}">
                <a16:creationId xmlns:a16="http://schemas.microsoft.com/office/drawing/2014/main" id="{15E1F995-28AF-71A8-AAF9-0C5722FE7BC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65235" y="3223555"/>
            <a:ext cx="157881" cy="210510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1AC1420A-E0AE-57A7-B5AA-B1F2B0C45A0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36262" y="4071407"/>
            <a:ext cx="157881" cy="2105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7C262E-5738-AED9-1558-0C365EA994A9}"/>
              </a:ext>
            </a:extLst>
          </p:cNvPr>
          <p:cNvSpPr/>
          <p:nvPr/>
        </p:nvSpPr>
        <p:spPr>
          <a:xfrm>
            <a:off x="1077148" y="6307276"/>
            <a:ext cx="6925168" cy="3714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>
                <a:solidFill>
                  <a:schemeClr val="accent6"/>
                </a:solidFill>
              </a:rPr>
              <a:t>Notes: </a:t>
            </a:r>
            <a:endParaRPr lang="en-US" sz="900">
              <a:solidFill>
                <a:schemeClr val="accent6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6"/>
                </a:solidFill>
              </a:rPr>
              <a:t>While not all data is available in the silver layer, Scene+ Analytics has access to Data Lake raw layer,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6"/>
                </a:solidFill>
              </a:rPr>
              <a:t>Offer/campaign reporting not in MVP scope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6"/>
                </a:solidFill>
              </a:rPr>
              <a:t>Information available in a certain layer indicates all pre-requisite layers would hold that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6"/>
                </a:solidFill>
              </a:rPr>
              <a:t>Any information available in Gold will have a corresponding Power BI Report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900">
              <a:solidFill>
                <a:schemeClr val="accent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9AB16-B424-C508-04A1-2166FA7EA21F}"/>
              </a:ext>
            </a:extLst>
          </p:cNvPr>
          <p:cNvSpPr/>
          <p:nvPr/>
        </p:nvSpPr>
        <p:spPr>
          <a:xfrm>
            <a:off x="9463910" y="488444"/>
            <a:ext cx="2556639" cy="4214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700" b="1">
                <a:solidFill>
                  <a:schemeClr val="accent3"/>
                </a:solidFill>
                <a:latin typeface="+mj-lt"/>
              </a:rPr>
              <a:t>Scheduling Details:</a:t>
            </a:r>
            <a:r>
              <a:rPr lang="en-US" sz="700">
                <a:solidFill>
                  <a:schemeClr val="accent3"/>
                </a:solidFill>
                <a:latin typeface="+mj-lt"/>
              </a:rPr>
              <a:t> daily refresh. Exceptions: customer, points, and transaction tables are refreshed every 3 hours.</a:t>
            </a:r>
            <a:endParaRPr lang="en-CA" sz="70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94E834-81F7-5DB0-6516-EEDDF98DBEA1}"/>
              </a:ext>
            </a:extLst>
          </p:cNvPr>
          <p:cNvSpPr/>
          <p:nvPr/>
        </p:nvSpPr>
        <p:spPr>
          <a:xfrm>
            <a:off x="2721027" y="4860490"/>
            <a:ext cx="5404679" cy="1058965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00" b="1">
                <a:solidFill>
                  <a:schemeClr val="accent6"/>
                </a:solidFill>
              </a:rPr>
              <a:t>2. Exclusions Raw to Silver:</a:t>
            </a: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1000" b="0" i="0" u="none" strike="noStrike" kern="1200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audit_bns_plastichistory,core_bns_customer,</a:t>
            </a:r>
            <a:r>
              <a:rPr lang="en-CA" sz="1000">
                <a:solidFill>
                  <a:schemeClr val="accent6"/>
                </a:solidFill>
                <a:latin typeface="Arial" panose="020B0604020202020204" pitchFamily="34" charset="0"/>
              </a:rPr>
              <a:t>,</a:t>
            </a:r>
            <a:r>
              <a:rPr lang="en-CA" sz="1000" b="0" i="0" u="none" strike="noStrike" kern="1200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core_bns_customeraccount,core_customercontact (in </a:t>
            </a:r>
            <a:r>
              <a:rPr lang="en-CA" sz="1000" b="0" i="0" u="none" strike="noStrike" kern="1200" err="1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pii</a:t>
            </a:r>
            <a:r>
              <a:rPr lang="en-CA" sz="1000" b="0" i="0" u="none" strike="noStrike" kern="1200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)</a:t>
            </a:r>
            <a:r>
              <a:rPr lang="en-CA" sz="1000">
                <a:solidFill>
                  <a:schemeClr val="accent6"/>
                </a:solidFill>
                <a:latin typeface="Arial" panose="020B0604020202020204" pitchFamily="34" charset="0"/>
              </a:rPr>
              <a:t>, </a:t>
            </a:r>
            <a:r>
              <a:rPr lang="en-CA" sz="1000" b="0" i="0" u="none" strike="noStrike" kern="1200" err="1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core_customerprimaryaddress</a:t>
            </a:r>
            <a:r>
              <a:rPr lang="en-CA" sz="1000" b="0" i="0" u="none" strike="noStrike" kern="1200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 (in </a:t>
            </a:r>
            <a:r>
              <a:rPr lang="en-CA" sz="1000" b="0" i="0" u="none" strike="noStrike" kern="1200" err="1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pii</a:t>
            </a:r>
            <a:r>
              <a:rPr lang="en-CA" sz="1000" b="0" i="0" u="none" strike="noStrike" kern="1200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) </a:t>
            </a:r>
            <a:r>
              <a:rPr lang="en-CA" sz="1000" b="0" i="0" u="none" strike="noStrike" kern="1200" err="1">
                <a:solidFill>
                  <a:schemeClr val="accent6"/>
                </a:solidFill>
                <a:effectLst/>
                <a:latin typeface="Palatino Linotype" panose="02040502050505030304" pitchFamily="18" charset="0"/>
                <a:cs typeface="Calibri" panose="020F0502020204030204" pitchFamily="34" charset="0"/>
              </a:rPr>
              <a:t>core_loyaltycardrequest</a:t>
            </a:r>
            <a:endParaRPr lang="en-CA" sz="1000" b="0" i="0" u="none" strike="noStrike" kern="1200">
              <a:solidFill>
                <a:schemeClr val="accent6"/>
              </a:solidFill>
              <a:effectLst/>
              <a:latin typeface="Palatino Linotype" panose="02040502050505030304" pitchFamily="18" charset="0"/>
              <a:cs typeface="Calibri" panose="020F050202020403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1000">
                <a:solidFill>
                  <a:schemeClr val="accent6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+ </a:t>
            </a:r>
            <a:r>
              <a:rPr lang="en-CA" sz="1000" err="1">
                <a:solidFill>
                  <a:schemeClr val="accent6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Tlogs</a:t>
            </a:r>
            <a:r>
              <a:rPr lang="en-CA" sz="1000">
                <a:solidFill>
                  <a:schemeClr val="accent6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: Includes SKU level data for empire transactions and additional details related to Empire Stores (There are 15 tables in total which are included as a part of the </a:t>
            </a:r>
            <a:r>
              <a:rPr lang="en-CA" sz="1000" err="1">
                <a:solidFill>
                  <a:schemeClr val="accent6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Tlog</a:t>
            </a:r>
            <a:r>
              <a:rPr lang="en-CA" sz="1000">
                <a:solidFill>
                  <a:schemeClr val="accent6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) </a:t>
            </a: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1000">
                <a:solidFill>
                  <a:schemeClr val="accent6"/>
                </a:solidFill>
                <a:latin typeface="Palatino Linotype" panose="02040502050505030304" pitchFamily="18" charset="0"/>
                <a:cs typeface="Calibri" panose="020F0502020204030204" pitchFamily="34" charset="0"/>
              </a:rPr>
              <a:t>*Additional details available in appendix.</a:t>
            </a:r>
            <a:endParaRPr lang="en-CA" sz="1000" b="0" i="0" u="none" strike="noStrike">
              <a:solidFill>
                <a:schemeClr val="accent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22055C-DC7A-B38A-B975-1D24D37826A4}"/>
              </a:ext>
            </a:extLst>
          </p:cNvPr>
          <p:cNvSpPr/>
          <p:nvPr/>
        </p:nvSpPr>
        <p:spPr>
          <a:xfrm>
            <a:off x="9195038" y="4071407"/>
            <a:ext cx="2765609" cy="965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Members demographic data and profile updates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scene cards, their status and GK cards with attributes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Location data for partners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partner earn and redemptions transactions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All order redemptions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SFMC Files daily load from WTD</a:t>
            </a:r>
          </a:p>
        </p:txBody>
      </p:sp>
    </p:spTree>
    <p:extLst>
      <p:ext uri="{BB962C8B-B14F-4D97-AF65-F5344CB8AC3E}">
        <p14:creationId xmlns:p14="http://schemas.microsoft.com/office/powerpoint/2010/main" val="128394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F339B6-4172-2F06-FFC7-FA13BD32F9E8}"/>
              </a:ext>
            </a:extLst>
          </p:cNvPr>
          <p:cNvSpPr txBox="1"/>
          <p:nvPr/>
        </p:nvSpPr>
        <p:spPr>
          <a:xfrm>
            <a:off x="0" y="-2248"/>
            <a:ext cx="12192000" cy="31575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Data Flow #4: </a:t>
            </a:r>
            <a:r>
              <a:rPr kumimoji="0" lang="en-CA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Data Lake to Loyalty Engine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E2E1F3-B65E-2437-20D3-C6B24969DA41}"/>
              </a:ext>
            </a:extLst>
          </p:cNvPr>
          <p:cNvSpPr/>
          <p:nvPr/>
        </p:nvSpPr>
        <p:spPr>
          <a:xfrm>
            <a:off x="8977087" y="1834446"/>
            <a:ext cx="2266979" cy="2103274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1F4145-CDCC-D8AD-FC11-1B7134A1DCD8}"/>
              </a:ext>
            </a:extLst>
          </p:cNvPr>
          <p:cNvSpPr/>
          <p:nvPr/>
        </p:nvSpPr>
        <p:spPr>
          <a:xfrm>
            <a:off x="9084893" y="1930573"/>
            <a:ext cx="2087924" cy="1898848"/>
          </a:xfrm>
          <a:prstGeom prst="rect">
            <a:avLst/>
          </a:prstGeom>
          <a:solidFill>
            <a:schemeClr val="bg1"/>
          </a:solidFill>
          <a:ln w="127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EB908A-9826-19D0-58DF-691B40B764F3}"/>
              </a:ext>
            </a:extLst>
          </p:cNvPr>
          <p:cNvGrpSpPr/>
          <p:nvPr/>
        </p:nvGrpSpPr>
        <p:grpSpPr>
          <a:xfrm>
            <a:off x="9163209" y="2074659"/>
            <a:ext cx="1931291" cy="372099"/>
            <a:chOff x="4695666" y="3700702"/>
            <a:chExt cx="1946607" cy="520590"/>
          </a:xfrm>
        </p:grpSpPr>
        <p:pic>
          <p:nvPicPr>
            <p:cNvPr id="9" name="Picture 2" descr="Bond Synapze LX Platform">
              <a:extLst>
                <a:ext uri="{FF2B5EF4-FFF2-40B4-BE49-F238E27FC236}">
                  <a16:creationId xmlns:a16="http://schemas.microsoft.com/office/drawing/2014/main" id="{2FE03D38-8EE3-96C9-B319-FC0F6FE6A1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59" t="31695" r="-371" b="36659"/>
            <a:stretch/>
          </p:blipFill>
          <p:spPr bwMode="auto">
            <a:xfrm>
              <a:off x="6253104" y="3700702"/>
              <a:ext cx="389169" cy="5205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AAE5A5-571B-5626-22C7-70BE58DB973C}"/>
                </a:ext>
              </a:extLst>
            </p:cNvPr>
            <p:cNvSpPr txBox="1"/>
            <p:nvPr/>
          </p:nvSpPr>
          <p:spPr>
            <a:xfrm>
              <a:off x="4695666" y="3730235"/>
              <a:ext cx="1701710" cy="430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Black" panose="020B0A04020102020204" pitchFamily="34" charset="0"/>
                  <a:ea typeface="+mn-ea"/>
                  <a:cs typeface="+mn-cs"/>
                </a:rPr>
                <a:t>Loyalty Engine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7800B34-FF54-0CB1-865C-726516238B70}"/>
              </a:ext>
            </a:extLst>
          </p:cNvPr>
          <p:cNvSpPr txBox="1"/>
          <p:nvPr/>
        </p:nvSpPr>
        <p:spPr>
          <a:xfrm>
            <a:off x="9319026" y="2433831"/>
            <a:ext cx="19015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Campaign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Base, Accelerated </a:t>
            </a:r>
            <a:r>
              <a:rPr lang="en-CA" sz="1200">
                <a:solidFill>
                  <a:prstClr val="black"/>
                </a:solidFill>
                <a:latin typeface="+mj-lt"/>
              </a:rPr>
              <a:t>&amp; </a:t>
            </a: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Bonus Point Issuance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Manual Offer Prioritization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3F6ED1-18AE-D9DC-944C-A6350E17AFE0}"/>
              </a:ext>
            </a:extLst>
          </p:cNvPr>
          <p:cNvSpPr/>
          <p:nvPr/>
        </p:nvSpPr>
        <p:spPr>
          <a:xfrm>
            <a:off x="890636" y="1523886"/>
            <a:ext cx="3885538" cy="2719631"/>
          </a:xfrm>
          <a:prstGeom prst="rect">
            <a:avLst/>
          </a:prstGeom>
          <a:solidFill>
            <a:schemeClr val="bg1"/>
          </a:solidFill>
          <a:ln w="25400">
            <a:solidFill>
              <a:srgbClr val="0089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12C31D-6CE2-B35B-7B6B-73CCA1388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841" y="2423694"/>
            <a:ext cx="497280" cy="5487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927964-B7AD-009F-CBBB-052602F4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531" y="2428918"/>
            <a:ext cx="497280" cy="5487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82411E-0BA5-040C-C1B4-CE4CF3819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614" y="2462090"/>
            <a:ext cx="497280" cy="5487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D27569-4215-F508-717E-4CA818ABF6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9523" y="3229457"/>
            <a:ext cx="495742" cy="56412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57D59C-B56C-3350-571F-CF678838F6D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311235" y="2685524"/>
            <a:ext cx="379606" cy="1253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F218F0-F7FA-D946-CBEA-7A3719C16BB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2188121" y="2698056"/>
            <a:ext cx="277410" cy="522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91CE6C-CE79-F502-A974-4B98C004B85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962811" y="2733286"/>
            <a:ext cx="272803" cy="316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FE128CA-0321-6A9E-CBA4-7147BB0EF2B2}"/>
              </a:ext>
            </a:extLst>
          </p:cNvPr>
          <p:cNvCxnSpPr>
            <a:cxnSpLocks/>
          </p:cNvCxnSpPr>
          <p:nvPr/>
        </p:nvCxnSpPr>
        <p:spPr>
          <a:xfrm flipV="1">
            <a:off x="3732894" y="2751406"/>
            <a:ext cx="282614" cy="316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476A80-950E-494C-B4C1-48DACD63DBC3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3484254" y="3010813"/>
            <a:ext cx="3140" cy="21864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97A3D32-60DC-9A39-82E3-C4935D8F4A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297" y="3810882"/>
            <a:ext cx="3575888" cy="3706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11417D3-1FD8-5F8E-A98C-2CA686736D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5508" y="2465352"/>
            <a:ext cx="535869" cy="53586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008E737-A22D-8789-317F-85FFB23266DA}"/>
              </a:ext>
            </a:extLst>
          </p:cNvPr>
          <p:cNvSpPr txBox="1"/>
          <p:nvPr/>
        </p:nvSpPr>
        <p:spPr>
          <a:xfrm>
            <a:off x="2238441" y="1653660"/>
            <a:ext cx="1448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CA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Data Lake</a:t>
            </a:r>
          </a:p>
        </p:txBody>
      </p:sp>
      <p:pic>
        <p:nvPicPr>
          <p:cNvPr id="225" name="Picture 224">
            <a:extLst>
              <a:ext uri="{FF2B5EF4-FFF2-40B4-BE49-F238E27FC236}">
                <a16:creationId xmlns:a16="http://schemas.microsoft.com/office/drawing/2014/main" id="{C00FC305-2CBE-2B2B-39CD-02B34FC2FD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26" y="2474230"/>
            <a:ext cx="552450" cy="600075"/>
          </a:xfrm>
          <a:prstGeom prst="rect">
            <a:avLst/>
          </a:prstGeom>
        </p:spPr>
      </p:pic>
      <p:pic>
        <p:nvPicPr>
          <p:cNvPr id="226" name="Picture 225">
            <a:extLst>
              <a:ext uri="{FF2B5EF4-FFF2-40B4-BE49-F238E27FC236}">
                <a16:creationId xmlns:a16="http://schemas.microsoft.com/office/drawing/2014/main" id="{25D74837-9E9D-7839-32DC-847A90985E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8327" y="3222785"/>
            <a:ext cx="552450" cy="628650"/>
          </a:xfrm>
          <a:prstGeom prst="rect">
            <a:avLst/>
          </a:prstGeom>
        </p:spPr>
      </p:pic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25B0E7C8-AC91-94CE-17F6-7D02CB125331}"/>
              </a:ext>
            </a:extLst>
          </p:cNvPr>
          <p:cNvCxnSpPr>
            <a:cxnSpLocks/>
          </p:cNvCxnSpPr>
          <p:nvPr/>
        </p:nvCxnSpPr>
        <p:spPr>
          <a:xfrm>
            <a:off x="4776174" y="2134710"/>
            <a:ext cx="4200913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>
            <a:extLst>
              <a:ext uri="{FF2B5EF4-FFF2-40B4-BE49-F238E27FC236}">
                <a16:creationId xmlns:a16="http://schemas.microsoft.com/office/drawing/2014/main" id="{9DB8E7C2-77DD-17B2-347C-CFF4C31892DB}"/>
              </a:ext>
            </a:extLst>
          </p:cNvPr>
          <p:cNvSpPr/>
          <p:nvPr/>
        </p:nvSpPr>
        <p:spPr>
          <a:xfrm>
            <a:off x="5215850" y="1527327"/>
            <a:ext cx="3221065" cy="1342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endParaRPr lang="en-CA" sz="800" b="0" i="0" u="none" strike="noStrike">
              <a:effectLst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1" i="0" u="none" strike="noStrike" kern="1200" err="1">
                <a:solidFill>
                  <a:srgbClr val="595959"/>
                </a:solidFill>
                <a:effectLst/>
              </a:rPr>
              <a:t>SyncMemberRequest</a:t>
            </a:r>
            <a:endParaRPr lang="en-CA" sz="800" b="0" i="0" u="none" strike="noStrike">
              <a:effectLst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kern="1200">
                <a:solidFill>
                  <a:srgbClr val="595959"/>
                </a:solidFill>
                <a:effectLst/>
              </a:rPr>
              <a:t>Event contains near real-time metadata regarding one of the 3 sections:</a:t>
            </a:r>
            <a:endParaRPr lang="en-CA" sz="800" b="0" i="0" u="none" strike="noStrike">
              <a:effectLst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b="0" i="0" u="none" strike="noStrike" kern="1200">
                <a:solidFill>
                  <a:srgbClr val="595959"/>
                </a:solidFill>
                <a:effectLst/>
              </a:rPr>
              <a:t>Member data (date of birth, postal code, status, </a:t>
            </a:r>
            <a:r>
              <a:rPr lang="en-US" sz="800" b="0" i="0" u="none" strike="noStrike" kern="1200" err="1">
                <a:solidFill>
                  <a:srgbClr val="595959"/>
                </a:solidFill>
                <a:effectLst/>
              </a:rPr>
              <a:t>etc</a:t>
            </a:r>
            <a:r>
              <a:rPr lang="en-US" sz="800" b="0" i="0" u="none" strike="noStrike" kern="1200">
                <a:solidFill>
                  <a:srgbClr val="595959"/>
                </a:solidFill>
                <a:effectLst/>
              </a:rPr>
              <a:t>)</a:t>
            </a:r>
            <a:endParaRPr lang="en-CA" sz="800" b="0" i="0" u="none" strike="noStrike">
              <a:effectLst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b="0" i="0" u="none" strike="noStrike" kern="1200">
                <a:solidFill>
                  <a:srgbClr val="595959"/>
                </a:solidFill>
                <a:effectLst/>
              </a:rPr>
              <a:t>Target level group data (sometimes called “product”. Account information such as Enrollment date, Type of the account, Code, Sub Code)</a:t>
            </a:r>
            <a:endParaRPr lang="en-CA" sz="800" b="0" i="0" u="none" strike="noStrike">
              <a:effectLst/>
            </a:endParaRPr>
          </a:p>
          <a:p>
            <a:pPr marL="283464" indent="-283464" algn="l" rtl="0" eaLnBrk="1" fontAlgn="t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 b="0" i="0" u="none" strike="noStrike" kern="1200">
                <a:solidFill>
                  <a:srgbClr val="595959"/>
                </a:solidFill>
                <a:effectLst/>
              </a:rPr>
              <a:t>Loyalty Instrument data - binding between Member data and Target Level Group data as well as information about Ownership role, Primary account id, Enrollment date</a:t>
            </a:r>
            <a:endParaRPr lang="en-CA" sz="800" b="0" i="0" u="none" strike="noStrike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accent6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65B9168E-6DCA-DC10-BA8A-D153E3AE5644}"/>
              </a:ext>
            </a:extLst>
          </p:cNvPr>
          <p:cNvCxnSpPr>
            <a:cxnSpLocks/>
          </p:cNvCxnSpPr>
          <p:nvPr/>
        </p:nvCxnSpPr>
        <p:spPr>
          <a:xfrm>
            <a:off x="4776174" y="3629291"/>
            <a:ext cx="4200913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30E8FC04-A6AC-F459-5F2A-869AFDCE8240}"/>
              </a:ext>
            </a:extLst>
          </p:cNvPr>
          <p:cNvSpPr/>
          <p:nvPr/>
        </p:nvSpPr>
        <p:spPr>
          <a:xfrm>
            <a:off x="5215850" y="3021908"/>
            <a:ext cx="3221065" cy="15849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r>
              <a:rPr lang="en-CA" sz="800" b="1" u="sng">
                <a:solidFill>
                  <a:schemeClr val="accent6">
                    <a:lumMod val="65000"/>
                    <a:lumOff val="35000"/>
                  </a:schemeClr>
                </a:solidFill>
              </a:rPr>
              <a:t>Members demographic data and profile updates</a:t>
            </a: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member-profile:</a:t>
            </a:r>
            <a:b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</a:br>
            <a: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F</a:t>
            </a:r>
            <a:r>
              <a:rPr lang="en-CA" sz="800" b="0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ile contains extract of information about members data and computed aggregates</a:t>
            </a: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1" i="0" u="none" strike="noStrike" kern="1200" err="1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Targetlevelgroup</a:t>
            </a:r>
            <a: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:</a:t>
            </a:r>
            <a:b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</a:br>
            <a:r>
              <a:rPr lang="en-CA" sz="800" b="0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File contains extract of all information about target level groups and computed aggregates</a:t>
            </a: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1" i="0" u="none" strike="noStrike" kern="1200" err="1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Loyaltyinstrument</a:t>
            </a:r>
            <a: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:</a:t>
            </a: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0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File contains extract of all information about relationship between members and target level groups</a:t>
            </a: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1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control-load</a:t>
            </a:r>
            <a:r>
              <a:rPr lang="en-CA" sz="800">
                <a:solidFill>
                  <a:schemeClr val="accent6">
                    <a:lumMod val="65000"/>
                    <a:lumOff val="35000"/>
                  </a:schemeClr>
                </a:solidFill>
              </a:rPr>
              <a:t>:</a:t>
            </a: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CA" sz="800" b="0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Metadata used to validate specific file ingestion run. Has references to member-profile, </a:t>
            </a:r>
            <a:r>
              <a:rPr lang="en-CA" sz="800" b="0" i="0" u="none" strike="noStrike" kern="1200" err="1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targetlevelgroup</a:t>
            </a:r>
            <a:r>
              <a:rPr lang="en-CA" sz="800" b="0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 and </a:t>
            </a:r>
            <a:r>
              <a:rPr lang="en-CA" sz="800" b="0" i="0" u="none" strike="noStrike" kern="1200" err="1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loyaltyinstrument</a:t>
            </a:r>
            <a:r>
              <a:rPr lang="en-CA" sz="800" b="0" i="0" u="none" strike="noStrike" kern="1200">
                <a:solidFill>
                  <a:schemeClr val="accent6">
                    <a:lumMod val="65000"/>
                    <a:lumOff val="35000"/>
                  </a:schemeClr>
                </a:solidFill>
                <a:effectLst/>
              </a:rPr>
              <a:t> files</a:t>
            </a:r>
            <a:endParaRPr lang="en-CA" sz="800" b="0" i="0" u="none" strike="noStrike">
              <a:solidFill>
                <a:schemeClr val="accent6">
                  <a:lumMod val="65000"/>
                  <a:lumOff val="35000"/>
                </a:schemeClr>
              </a:solidFill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800">
              <a:solidFill>
                <a:schemeClr val="accent6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52" name="Picture 251">
            <a:extLst>
              <a:ext uri="{FF2B5EF4-FFF2-40B4-BE49-F238E27FC236}">
                <a16:creationId xmlns:a16="http://schemas.microsoft.com/office/drawing/2014/main" id="{C3AF684B-5E02-6557-0307-5ADC4AA094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8432" y="2061121"/>
            <a:ext cx="246799" cy="170861"/>
          </a:xfrm>
          <a:prstGeom prst="rect">
            <a:avLst/>
          </a:prstGeom>
        </p:spPr>
      </p:pic>
      <p:pic>
        <p:nvPicPr>
          <p:cNvPr id="254" name="Picture 253">
            <a:extLst>
              <a:ext uri="{FF2B5EF4-FFF2-40B4-BE49-F238E27FC236}">
                <a16:creationId xmlns:a16="http://schemas.microsoft.com/office/drawing/2014/main" id="{4365E3A1-4CAB-4A2D-D439-8B3C235C27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8902" y="3537496"/>
            <a:ext cx="185857" cy="247811"/>
          </a:xfrm>
          <a:prstGeom prst="rect">
            <a:avLst/>
          </a:prstGeom>
        </p:spPr>
      </p:pic>
      <p:pic>
        <p:nvPicPr>
          <p:cNvPr id="255" name="Picture 254" descr="A close up of a logo&#10;&#10;Description automatically generated">
            <a:extLst>
              <a:ext uri="{FF2B5EF4-FFF2-40B4-BE49-F238E27FC236}">
                <a16:creationId xmlns:a16="http://schemas.microsoft.com/office/drawing/2014/main" id="{29986A47-02A0-8351-A259-5501702E8E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7704" y="4506135"/>
            <a:ext cx="987974" cy="421896"/>
          </a:xfrm>
          <a:prstGeom prst="rect">
            <a:avLst/>
          </a:prstGeom>
        </p:spPr>
      </p:pic>
      <p:pic>
        <p:nvPicPr>
          <p:cNvPr id="256" name="Picture 255">
            <a:extLst>
              <a:ext uri="{FF2B5EF4-FFF2-40B4-BE49-F238E27FC236}">
                <a16:creationId xmlns:a16="http://schemas.microsoft.com/office/drawing/2014/main" id="{00CEE2F8-423C-B8CF-BB95-9528C7917B0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9285" y="4452066"/>
            <a:ext cx="497103" cy="571382"/>
          </a:xfrm>
          <a:prstGeom prst="rect">
            <a:avLst/>
          </a:prstGeom>
        </p:spPr>
      </p:pic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5137AB24-8C78-EE27-B498-53F94BE03A5A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3036388" y="4737757"/>
            <a:ext cx="584494" cy="1032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E5C7C6A1-56E8-FC78-C792-E3FCF39662A3}"/>
              </a:ext>
            </a:extLst>
          </p:cNvPr>
          <p:cNvCxnSpPr>
            <a:cxnSpLocks/>
            <a:endCxn id="256" idx="0"/>
          </p:cNvCxnSpPr>
          <p:nvPr/>
        </p:nvCxnSpPr>
        <p:spPr>
          <a:xfrm>
            <a:off x="2787837" y="4239182"/>
            <a:ext cx="0" cy="212884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6E5920-7C81-85F0-01D3-9858914ABAB5}"/>
              </a:ext>
            </a:extLst>
          </p:cNvPr>
          <p:cNvSpPr/>
          <p:nvPr/>
        </p:nvSpPr>
        <p:spPr>
          <a:xfrm>
            <a:off x="343648" y="5780183"/>
            <a:ext cx="11305427" cy="421896"/>
          </a:xfrm>
          <a:prstGeom prst="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sz="1000" b="1">
              <a:solidFill>
                <a:schemeClr val="accent6"/>
              </a:solidFill>
            </a:endParaRPr>
          </a:p>
          <a:p>
            <a:r>
              <a:rPr lang="en-CA" sz="1000" b="1">
                <a:solidFill>
                  <a:schemeClr val="accent6"/>
                </a:solidFill>
              </a:rPr>
              <a:t>Data </a:t>
            </a:r>
            <a:r>
              <a:rPr lang="en-CA" sz="1000" b="1" u="sng">
                <a:solidFill>
                  <a:schemeClr val="accent6"/>
                </a:solidFill>
              </a:rPr>
              <a:t>Recommendations</a:t>
            </a:r>
            <a:r>
              <a:rPr lang="en-CA" sz="1000" b="1">
                <a:solidFill>
                  <a:schemeClr val="accent6"/>
                </a:solidFill>
              </a:rPr>
              <a:t> for Targeting: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accent6"/>
                </a:solidFill>
              </a:rPr>
              <a:t>Empire issuance, Rakuten issuance and all order redemptions (BYOT, PFC, Gift Cards, Expedia, Apple and Best Buy)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10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7085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BL LITE">
  <a:themeElements>
    <a:clrScheme name="Bond2020WINE">
      <a:dk1>
        <a:srgbClr val="32112C"/>
      </a:dk1>
      <a:lt1>
        <a:srgbClr val="FFFFFF"/>
      </a:lt1>
      <a:dk2>
        <a:srgbClr val="E1E9E2"/>
      </a:dk2>
      <a:lt2>
        <a:srgbClr val="0E331D"/>
      </a:lt2>
      <a:accent1>
        <a:srgbClr val="ECE8D4"/>
      </a:accent1>
      <a:accent2>
        <a:srgbClr val="6DC8B8"/>
      </a:accent2>
      <a:accent3>
        <a:srgbClr val="CE009F"/>
      </a:accent3>
      <a:accent4>
        <a:srgbClr val="2E786A"/>
      </a:accent4>
      <a:accent5>
        <a:srgbClr val="3B1535"/>
      </a:accent5>
      <a:accent6>
        <a:srgbClr val="000000"/>
      </a:accent6>
      <a:hlink>
        <a:srgbClr val="CE009F"/>
      </a:hlink>
      <a:folHlink>
        <a:srgbClr val="C6C6C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ond PPT Template LITE v4 (4)" id="{DC782F4B-9611-40ED-B7AA-87D3D369690C}" vid="{5C2CD5D1-DD68-494B-9CAA-9E5695B78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699FC4D3A68D4FBD886AB8195351D7" ma:contentTypeVersion="17" ma:contentTypeDescription="Create a new document." ma:contentTypeScope="" ma:versionID="970d90021e6fee8f63a8b173b72c5733">
  <xsd:schema xmlns:xsd="http://www.w3.org/2001/XMLSchema" xmlns:xs="http://www.w3.org/2001/XMLSchema" xmlns:p="http://schemas.microsoft.com/office/2006/metadata/properties" xmlns:ns2="cd285ebc-efad-4d8e-a87a-b87e475b1a52" xmlns:ns3="e87518d1-1953-4cf5-b112-e2f587b60cef" targetNamespace="http://schemas.microsoft.com/office/2006/metadata/properties" ma:root="true" ma:fieldsID="d7c623846809d8a45513e1a44b62b487" ns2:_="" ns3:_="">
    <xsd:import namespace="cd285ebc-efad-4d8e-a87a-b87e475b1a52"/>
    <xsd:import namespace="e87518d1-1953-4cf5-b112-e2f587b60c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285ebc-efad-4d8e-a87a-b87e475b1a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daec2e8-450b-4fda-94cf-903df2711e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518d1-1953-4cf5-b112-e2f587b60ce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1c70913-d8a6-4ef2-9805-a922599d38e1}" ma:internalName="TaxCatchAll" ma:showField="CatchAllData" ma:web="e87518d1-1953-4cf5-b112-e2f587b60c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d285ebc-efad-4d8e-a87a-b87e475b1a52">
      <Terms xmlns="http://schemas.microsoft.com/office/infopath/2007/PartnerControls"/>
    </lcf76f155ced4ddcb4097134ff3c332f>
    <TaxCatchAll xmlns="e87518d1-1953-4cf5-b112-e2f587b60cef" xsi:nil="true"/>
    <SharedWithUsers xmlns="e87518d1-1953-4cf5-b112-e2f587b60cef">
      <UserInfo>
        <DisplayName>Makonnen, Rhema</DisplayName>
        <AccountId>146</AccountId>
        <AccountType/>
      </UserInfo>
      <UserInfo>
        <DisplayName>Gupta, Shreya</DisplayName>
        <AccountId>184</AccountId>
        <AccountType/>
      </UserInfo>
      <UserInfo>
        <DisplayName>Therrien, Marilyn</DisplayName>
        <AccountId>107</AccountId>
        <AccountType/>
      </UserInfo>
      <UserInfo>
        <DisplayName>West, Kyle</DisplayName>
        <AccountId>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DC95467-3041-42C3-A62C-591576DC84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285ebc-efad-4d8e-a87a-b87e475b1a52"/>
    <ds:schemaRef ds:uri="e87518d1-1953-4cf5-b112-e2f587b60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84B6F6-25A7-4FFB-BEBE-E7B4D27B24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66F21D-F5F5-4B3B-882B-EA15CDC5DC90}">
  <ds:schemaRefs>
    <ds:schemaRef ds:uri="http://www.w3.org/XML/1998/namespace"/>
    <ds:schemaRef ds:uri="http://purl.org/dc/elements/1.1/"/>
    <ds:schemaRef ds:uri="http://schemas.microsoft.com/office/2006/documentManagement/types"/>
    <ds:schemaRef ds:uri="e87518d1-1953-4cf5-b112-e2f587b60cef"/>
    <ds:schemaRef ds:uri="cd285ebc-efad-4d8e-a87a-b87e475b1a52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1289</Words>
  <Application>Microsoft Office PowerPoint</Application>
  <PresentationFormat>Widescreen</PresentationFormat>
  <Paragraphs>205</Paragraphs>
  <Slides>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Black</vt:lpstr>
      <vt:lpstr>Calibri</vt:lpstr>
      <vt:lpstr>Century Gothic</vt:lpstr>
      <vt:lpstr>Constantia</vt:lpstr>
      <vt:lpstr>Palatino Linotype</vt:lpstr>
      <vt:lpstr>BBL LITE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Scene+ Ecosystem ARCHITECTURE &amp; DATA FLOW</dc:title>
  <dc:creator>Vandale, Jane</dc:creator>
  <cp:lastModifiedBy>Adhaduk, Nik</cp:lastModifiedBy>
  <cp:revision>2</cp:revision>
  <dcterms:created xsi:type="dcterms:W3CDTF">2023-01-11T19:04:08Z</dcterms:created>
  <dcterms:modified xsi:type="dcterms:W3CDTF">2023-10-17T18:46:40Z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0x01010061699FC4D3A68D4FBD886AB8195351D7</vt:lpwstr>
  </property>
  <property fmtid="{D5CDD505-2E9C-101B-9397-08002B2CF9AE}" pid="3" name="MediaServiceImageTags">
    <vt:lpwstr/>
  </property>
</Properties>
</file>